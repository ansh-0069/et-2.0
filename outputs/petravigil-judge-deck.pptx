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f1a75885844651" /><Relationship Type="http://schemas.openxmlformats.org/officeDocument/2006/relationships/extended-properties" Target="/docProps/app.xml" Id="Rf3abd028e8d845aa" /><Relationship Type="http://schemas.openxmlformats.org/officeDocument/2006/relationships/officeDocument" Target="/ppt/presentation.xml" Id="R26721ce8e0df4f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fb777c6c184710"/>
  </p:sldMasterIdLst>
  <p:notesMasterIdLst>
    <p:notesMasterId xmlns:r="http://schemas.openxmlformats.org/officeDocument/2006/relationships" r:id="R73a3a8b7639f4433"/>
  </p:notesMasterIdLst>
  <p:sldIdLst>
    <p:sldId xmlns:r="http://schemas.openxmlformats.org/officeDocument/2006/relationships" id="256" r:id="R86d51ec35b6548a9"/>
    <p:sldId xmlns:r="http://schemas.openxmlformats.org/officeDocument/2006/relationships" id="257" r:id="R467861acbc6f43ba"/>
    <p:sldId xmlns:r="http://schemas.openxmlformats.org/officeDocument/2006/relationships" id="258" r:id="Rb464bdb0235b4ca8"/>
    <p:sldId xmlns:r="http://schemas.openxmlformats.org/officeDocument/2006/relationships" id="259" r:id="Rbacadc037992482e"/>
    <p:sldId xmlns:r="http://schemas.openxmlformats.org/officeDocument/2006/relationships" id="260" r:id="R09be824cfd274616"/>
    <p:sldId xmlns:r="http://schemas.openxmlformats.org/officeDocument/2006/relationships" id="261" r:id="Raeb902386c99421f"/>
    <p:sldId xmlns:r="http://schemas.openxmlformats.org/officeDocument/2006/relationships" id="262" r:id="R4898633042284c7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d0d553da85452d" /><Relationship Type="http://schemas.openxmlformats.org/officeDocument/2006/relationships/slideMaster" Target="/ppt/slideMasters/slideMaster1.xml" Id="R8efb777c6c184710" /><Relationship Type="http://schemas.openxmlformats.org/officeDocument/2006/relationships/notesMaster" Target="/ppt/notesMasters/notesMaster1.xml" Id="R73a3a8b7639f4433" /><Relationship Type="http://schemas.openxmlformats.org/officeDocument/2006/relationships/presProps" Target="/ppt/presProps.xml" Id="R9c600d1989194481" /><Relationship Type="http://schemas.openxmlformats.org/officeDocument/2006/relationships/tableStyles" Target="/ppt/tableStyles.xml" Id="R7e683189da2547e3" /><Relationship Type="http://schemas.openxmlformats.org/officeDocument/2006/relationships/slide" Target="/ppt/slides/slide1.xml" Id="R86d51ec35b6548a9" /><Relationship Type="http://schemas.openxmlformats.org/officeDocument/2006/relationships/slide" Target="/ppt/slides/slide2.xml" Id="R467861acbc6f43ba" /><Relationship Type="http://schemas.openxmlformats.org/officeDocument/2006/relationships/slide" Target="/ppt/slides/slide3.xml" Id="Rb464bdb0235b4ca8" /><Relationship Type="http://schemas.openxmlformats.org/officeDocument/2006/relationships/slide" Target="/ppt/slides/slide4.xml" Id="Rbacadc037992482e" /><Relationship Type="http://schemas.openxmlformats.org/officeDocument/2006/relationships/slide" Target="/ppt/slides/slide5.xml" Id="R09be824cfd274616" /><Relationship Type="http://schemas.openxmlformats.org/officeDocument/2006/relationships/slide" Target="/ppt/slides/slide6.xml" Id="Raeb902386c99421f" /><Relationship Type="http://schemas.openxmlformats.org/officeDocument/2006/relationships/slide" Target="/ppt/slides/slide7.xml" Id="R4898633042284c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0d34a07f3b47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d9a0b6c1ad4e9e" /><Relationship Type="http://schemas.openxmlformats.org/officeDocument/2006/relationships/notesMaster" Target="/ppt/notesMasters/notesMaster1.xml" Id="R49c6f22b985147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2534418c944411" /><Relationship Type="http://schemas.openxmlformats.org/officeDocument/2006/relationships/notesMaster" Target="/ppt/notesMasters/notesMaster1.xml" Id="R67a984308da848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9edc8ada5a4d32" /><Relationship Type="http://schemas.openxmlformats.org/officeDocument/2006/relationships/notesMaster" Target="/ppt/notesMasters/notesMaster1.xml" Id="R186214114d1e44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e607ed6a4649e0" /><Relationship Type="http://schemas.openxmlformats.org/officeDocument/2006/relationships/notesMaster" Target="/ppt/notesMasters/notesMaster1.xml" Id="R5d6ef099c9e04d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3037cb2f6d4ffe" /><Relationship Type="http://schemas.openxmlformats.org/officeDocument/2006/relationships/notesMaster" Target="/ppt/notesMasters/notesMaster1.xml" Id="Raa434983b61f4e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a55fcf3d9a4ddc" /><Relationship Type="http://schemas.openxmlformats.org/officeDocument/2006/relationships/notesMaster" Target="/ppt/notesMasters/notesMaster1.xml" Id="Rfeb82f1c1f494b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bf389d5fa4474e" /><Relationship Type="http://schemas.openxmlformats.org/officeDocument/2006/relationships/notesMaster" Target="/ppt/notesMasters/notesMaster1.xml" Id="R2b58775e749a45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38627aa48c42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c33234b2bb411c" /><Relationship Type="http://schemas.openxmlformats.org/officeDocument/2006/relationships/slideLayout" Target="/ppt/slideLayouts/slideLayout1.xml" Id="R6ce6b6c30db648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e6b6c30db648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bcc25f37e419f" /><Relationship Type="http://schemas.openxmlformats.org/officeDocument/2006/relationships/notesSlide" Target="/ppt/notesSlides/notesSlide1.xml" Id="Rfe5ff3c1f97244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55d4cdf8a4128" /><Relationship Type="http://schemas.openxmlformats.org/officeDocument/2006/relationships/notesSlide" Target="/ppt/notesSlides/notesSlide2.xml" Id="Reb548ba9907d45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ac6b0d010400a" /><Relationship Type="http://schemas.openxmlformats.org/officeDocument/2006/relationships/notesSlide" Target="/ppt/notesSlides/notesSlide3.xml" Id="Rb3de1ad3da624d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194ba32f042d8" /><Relationship Type="http://schemas.openxmlformats.org/officeDocument/2006/relationships/notesSlide" Target="/ppt/notesSlides/notesSlide4.xml" Id="Rd0685ad8c6574c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6cdbf8a80438a" /><Relationship Type="http://schemas.openxmlformats.org/officeDocument/2006/relationships/notesSlide" Target="/ppt/notesSlides/notesSlide5.xml" Id="R57021f447b6443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aee80904b4526" /><Relationship Type="http://schemas.openxmlformats.org/officeDocument/2006/relationships/notesSlide" Target="/ppt/notesSlides/notesSlide6.xml" Id="R1ec02c482e5545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d310fd8e946e1" /><Relationship Type="http://schemas.openxmlformats.org/officeDocument/2006/relationships/notesSlide" Target="/ppt/notesSlides/notesSlide7.xml" Id="Rab980ed12ccc46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4F77F-0ABC-49AE-90F6-3DE0E823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AAFF"/>
                </a:solidFill>
              </a:defRPr>
            </a:pPr>
            <a:r>
              <a:rPr sz="975" b="1">
                <a:solidFill>
                  <a:srgbClr val="78AAFF"/>
                </a:solidFill>
              </a:rPr>
              <a:t>PETRAVIGIL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E2ABD-4F4E-436E-9D53-6D9B4710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048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7F9FC"/>
                </a:solidFill>
              </a:defRPr>
            </a:pPr>
            <a:r>
              <a:rPr sz="4200" b="1">
                <a:solidFill>
                  <a:srgbClr val="F7F9FC"/>
                </a:solidFill>
              </a:rPr>
              <a:t>Energy supply resilience,</a:t>
            </a:r>
          </a:p>
          <a:p xmlns:a="http://schemas.openxmlformats.org/drawingml/2006/main">
            <a:pPr algn="l">
              <a:defRPr sz="4200" b="1">
                <a:solidFill>
                  <a:srgbClr val="F7F9FC"/>
                </a:solidFill>
              </a:defRPr>
            </a:pPr>
            <a:r>
              <a:rPr sz="4200" b="1">
                <a:solidFill>
                  <a:srgbClr val="F7F9FC"/>
                </a:solidFill>
              </a:rPr>
              <a:t>engineered for the moment</a:t>
            </a:r>
          </a:p>
          <a:p xmlns:a="http://schemas.openxmlformats.org/drawingml/2006/main">
            <a:pPr algn="l">
              <a:defRPr sz="4200" b="1">
                <a:solidFill>
                  <a:srgbClr val="F7F9FC"/>
                </a:solidFill>
              </a:defRPr>
            </a:pPr>
            <a:r>
              <a:rPr sz="4200" b="1">
                <a:solidFill>
                  <a:srgbClr val="F7F9FC"/>
                </a:solidFill>
              </a:rPr>
              <a:t>it matters.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7824A-AA8B-45F0-825F-20C497F9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BA5B5"/>
                </a:solidFill>
              </a:defRPr>
            </a:pPr>
            <a:r>
              <a:rPr sz="1575" b="0">
                <a:solidFill>
                  <a:srgbClr val="9BA5B5"/>
                </a:solidFill>
              </a:rPr>
              <a:t>An evidence-first decision workspace for India’s crude-oil supply chain.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4F384-B6B9-4F89-B65D-1F472704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409700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1217"/>
          </a:solidFill>
          <a:ln xmlns:a="http://schemas.openxmlformats.org/drawingml/2006/main" w="9525">
            <a:solidFill>
              <a:srgbClr val="2A303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7A31F-7285-4E46-B60D-E2B9D841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28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AAFF"/>
                </a:solidFill>
              </a:defRPr>
            </a:pPr>
            <a:r>
              <a:rPr sz="900" b="1">
                <a:solidFill>
                  <a:srgbClr val="78AAFF"/>
                </a:solidFill>
              </a:rPr>
              <a:t>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8FD09-979E-42FD-ABF5-34C02BFF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907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D8DFF"/>
                </a:solidFill>
              </a:defRPr>
            </a:pPr>
            <a:r>
              <a:rPr sz="2850" b="1">
                <a:solidFill>
                  <a:srgbClr val="4D8D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E7EDB-B943-4C1B-B322-3D518A57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766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F9FC"/>
                </a:solidFill>
              </a:defRPr>
            </a:pPr>
            <a:r>
              <a:rPr sz="1350" b="1">
                <a:solidFill>
                  <a:srgbClr val="F7F9FC"/>
                </a:solidFill>
              </a:rPr>
              <a:t>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79D4D-CB6F-4509-A346-A790C9F3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BA5B5"/>
                </a:solidFill>
              </a:defRPr>
            </a:pPr>
            <a:r>
              <a:rPr sz="1200" b="0">
                <a:solidFill>
                  <a:srgbClr val="9BA5B5"/>
                </a:solidFill>
              </a:rPr>
              <a:t>Validated evidence</a:t>
            </a:r>
          </a:p>
          <a:p xmlns:a="http://schemas.openxmlformats.org/drawingml/2006/main">
            <a:pPr algn="ctr">
              <a:defRPr sz="1200" b="0">
                <a:solidFill>
                  <a:srgbClr val="9BA5B5"/>
                </a:solidFill>
              </a:defRPr>
            </a:pPr>
            <a:r>
              <a:rPr sz="1200" b="0">
                <a:solidFill>
                  <a:srgbClr val="9BA5B5"/>
                </a:solidFill>
              </a:rPr>
              <a:t>Simulation</a:t>
            </a:r>
          </a:p>
          <a:p xmlns:a="http://schemas.openxmlformats.org/drawingml/2006/main">
            <a:pPr algn="ctr">
              <a:defRPr sz="1200" b="0">
                <a:solidFill>
                  <a:srgbClr val="9BA5B5"/>
                </a:solidFill>
              </a:defRPr>
            </a:pPr>
            <a:r>
              <a:rPr sz="1200" b="0">
                <a:solidFill>
                  <a:srgbClr val="9BA5B5"/>
                </a:solidFill>
              </a:rPr>
              <a:t>Constrained portfolios</a:t>
            </a:r>
          </a:p>
          <a:p xmlns:a="http://schemas.openxmlformats.org/drawingml/2006/main">
            <a:pPr algn="ctr">
              <a:defRPr sz="1200" b="0">
                <a:solidFill>
                  <a:srgbClr val="9BA5B5"/>
                </a:solidFill>
              </a:defRPr>
            </a:pPr>
            <a:r>
              <a:rPr sz="1200" b="0">
                <a:solidFill>
                  <a:srgbClr val="9BA5B5"/>
                </a:solidFill>
              </a:rPr>
              <a:t>Human approval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0F037-89D2-4869-A1C8-16B85C78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390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5B5"/>
                </a:solidFill>
              </a:defRPr>
            </a:pPr>
            <a:r>
              <a:rPr sz="975" b="0">
                <a:solidFill>
                  <a:srgbClr val="9BA5B5"/>
                </a:solidFill>
              </a:rPr>
              <a:t>Hackathon judge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6917101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2B60B-2823-4350-82CF-9D75C944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AAFF"/>
                </a:solidFill>
              </a:defRPr>
            </a:pPr>
            <a:r>
              <a:rPr sz="900" b="1">
                <a:solidFill>
                  <a:srgbClr val="78AAFF"/>
                </a:solidFill>
              </a:rPr>
              <a:t>PETRAVIGIL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AA7C1-A5A2-4FC8-9F44-53F526ED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BA5B5"/>
                </a:solidFill>
              </a:defRPr>
            </a:pPr>
            <a:r>
              <a:rPr sz="825" b="1">
                <a:solidFill>
                  <a:srgbClr val="9BA5B5"/>
                </a:solidFill>
              </a:rPr>
              <a:t>THE DECISION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2A8D4-066C-4AAD-879E-B508BAFA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66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E692A-1CE3-42F9-A3C9-E7BED1BB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BA5B5"/>
                </a:solidFill>
              </a:defRPr>
            </a:pPr>
            <a:r>
              <a:rPr sz="825" b="1">
                <a:solidFill>
                  <a:srgbClr val="9BA5B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0F5AB-3E57-4820-99F9-887C5DD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334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9FC"/>
                </a:solidFill>
              </a:defRPr>
            </a:pPr>
            <a:r>
              <a:rPr sz="3225" b="1">
                <a:solidFill>
                  <a:srgbClr val="F7F9FC"/>
                </a:solidFill>
              </a:rPr>
              <a:t>A disruption at sea becomes</a:t>
            </a:r>
          </a:p>
          <a:p xmlns:a="http://schemas.openxmlformats.org/drawingml/2006/main">
            <a:pPr algn="l">
              <a:defRPr sz="3225" b="1">
                <a:solidFill>
                  <a:srgbClr val="F7F9FC"/>
                </a:solidFill>
              </a:defRPr>
            </a:pPr>
            <a:r>
              <a:rPr sz="3225" b="1">
                <a:solidFill>
                  <a:srgbClr val="F7F9FC"/>
                </a:solidFill>
              </a:rPr>
              <a:t>an expensive decision on land.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F7FDE-FE25-4DA8-ABB5-A05638BC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BA5B5"/>
                </a:solidFill>
              </a:defRPr>
            </a:pPr>
            <a:r>
              <a:rPr sz="1425" b="0">
                <a:solidFill>
                  <a:srgbClr val="9BA5B5"/>
                </a:solidFill>
              </a:rPr>
              <a:t>The challenge brief highlights a structural vulnerability: India relies on imported crude while supply shocks compound across shipping, markets, and refinery constraints.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C6C0CB-470A-4312-9068-C0E6EAD6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952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01217"/>
          </a:solidFill>
          <a:ln xmlns:a="http://schemas.openxmlformats.org/drawingml/2006/main" w="9525">
            <a:solidFill>
              <a:srgbClr val="2A30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2EF00-C464-4208-A01B-AF71F3E1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</a:defRPr>
            </a:pPr>
            <a:r>
              <a:rPr sz="2550" b="1">
                <a:solidFill>
                  <a:srgbClr val="F7F9FC"/>
                </a:solidFill>
              </a:rPr>
              <a:t>88%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3FC90-0A0B-43C2-B437-063C190D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5B5"/>
                </a:solidFill>
              </a:defRPr>
            </a:pPr>
            <a:r>
              <a:rPr sz="1125" b="0">
                <a:solidFill>
                  <a:srgbClr val="9BA5B5"/>
                </a:solidFill>
              </a:rPr>
              <a:t>of crude oil sourced through imports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F5576-01F7-4BA8-82D1-32E672A0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2952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01217"/>
          </a:solidFill>
          <a:ln xmlns:a="http://schemas.openxmlformats.org/drawingml/2006/main" w="9525">
            <a:solidFill>
              <a:srgbClr val="2A30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C407D-61F7-42A6-A095-BBF9F1E1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338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</a:defRPr>
            </a:pPr>
            <a:r>
              <a:rPr sz="2550" b="1">
                <a:solidFill>
                  <a:srgbClr val="F7F9FC"/>
                </a:solidFill>
              </a:rPr>
              <a:t>9.5 days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0ECC8-342F-404A-859A-8339B580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530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5B5"/>
                </a:solidFill>
              </a:defRPr>
            </a:pPr>
            <a:r>
              <a:rPr sz="1125" b="0">
                <a:solidFill>
                  <a:srgbClr val="9BA5B5"/>
                </a:solidFill>
              </a:rPr>
              <a:t>indicative national SPR cover in the brief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7AD22F-9173-4F9B-B3F3-EAFCE5EA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95750"/>
            <a:ext cx="29527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01217"/>
          </a:solidFill>
          <a:ln xmlns:a="http://schemas.openxmlformats.org/drawingml/2006/main" w="9525">
            <a:solidFill>
              <a:srgbClr val="2A30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C680E4-F473-44B5-9524-89ABA1F0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33875"/>
            <a:ext cx="2533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9FC"/>
                </a:solidFill>
              </a:defRPr>
            </a:pPr>
            <a:r>
              <a:rPr sz="2550" b="1">
                <a:solidFill>
                  <a:srgbClr val="F7F9FC"/>
                </a:solidFill>
              </a:rPr>
              <a:t>47 days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96036-CC8A-47BC-972D-F7FB1872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530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5B5"/>
                </a:solidFill>
              </a:defRPr>
            </a:pPr>
            <a:r>
              <a:rPr sz="1125" b="0">
                <a:solidFill>
                  <a:srgbClr val="9BA5B5"/>
                </a:solidFill>
              </a:rPr>
              <a:t>manual response cycle under stress</a:t>
            </a:r>
          </a:p>
        </p:txBody>
      </p:sp>
    </p:spTree>
    <p:extLst>
      <p:ext uri="{BB962C8B-B14F-4D97-AF65-F5344CB8AC3E}">
        <p14:creationId xmlns:p14="http://schemas.microsoft.com/office/powerpoint/2010/main" val="4262471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74BC3E-7F15-43B9-8A4E-B8FCA127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AAFF"/>
                </a:solidFill>
              </a:defRPr>
            </a:pPr>
            <a:r>
              <a:rPr sz="900" b="1">
                <a:solidFill>
                  <a:srgbClr val="78AAFF"/>
                </a:solidFill>
              </a:rPr>
              <a:t>PETRAVIGIL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55379-3C14-4F5A-B1C3-EDBEC46A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BA5B5"/>
                </a:solidFill>
              </a:defRPr>
            </a:pPr>
            <a:r>
              <a:rPr sz="825" b="1">
                <a:solidFill>
                  <a:srgbClr val="9BA5B5"/>
                </a:solidFill>
              </a:rPr>
              <a:t>WHAT PETRAVIGIL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95B68F-C71A-452F-8140-8C595E05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66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67392-150E-40F1-8A85-23229168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BA5B5"/>
                </a:solidFill>
              </a:defRPr>
            </a:pPr>
            <a:r>
              <a:rPr sz="825" b="1">
                <a:solidFill>
                  <a:srgbClr val="9BA5B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7F735-6019-4BD1-9364-ABE9A8CD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9FC"/>
                </a:solidFill>
              </a:defRPr>
            </a:pPr>
            <a:r>
              <a:rPr sz="3225" b="1">
                <a:solidFill>
                  <a:srgbClr val="F7F9FC"/>
                </a:solidFill>
              </a:rPr>
              <a:t>It turns uncertain signals into</a:t>
            </a:r>
          </a:p>
          <a:p xmlns:a="http://schemas.openxmlformats.org/drawingml/2006/main">
            <a:pPr algn="l">
              <a:defRPr sz="3225" b="1">
                <a:solidFill>
                  <a:srgbClr val="F7F9FC"/>
                </a:solidFill>
              </a:defRPr>
            </a:pPr>
            <a:r>
              <a:rPr sz="3225" b="1">
                <a:solidFill>
                  <a:srgbClr val="F7F9FC"/>
                </a:solidFill>
              </a:rPr>
              <a:t>a reviewable decision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761DA-5725-4376-A834-ACD2BFFE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3241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101217"/>
          </a:solidFill>
          <a:ln xmlns:a="http://schemas.openxmlformats.org/drawingml/2006/main" w="9525">
            <a:solidFill>
              <a:srgbClr val="2A30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9697C-61B1-4A1A-8FA3-84ABF1A5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AAFF"/>
                </a:solidFill>
              </a:defRPr>
            </a:pPr>
            <a:r>
              <a:rPr sz="1050" b="1">
                <a:solidFill>
                  <a:srgbClr val="78AA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38ACB-1C2C-45A5-BD19-0E8C42D5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9FC"/>
                </a:solidFill>
              </a:defRPr>
            </a:pPr>
            <a:r>
              <a:rPr sz="1725" b="1">
                <a:solidFill>
                  <a:srgbClr val="F7F9FC"/>
                </a:solidFill>
              </a:rPr>
              <a:t>Signal Mesh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68387-F380-4145-9198-BDBBB300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5B5"/>
                </a:solidFill>
              </a:defRPr>
            </a:pPr>
            <a:r>
              <a:rPr sz="1125" b="0">
                <a:solidFill>
                  <a:srgbClr val="9BA5B5"/>
                </a:solidFill>
              </a:rPr>
              <a:t>Gemini structures untrusted text. Validation labels its provenance.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8BA1C-088C-4628-A4E8-2F7DE6F8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38500"/>
            <a:ext cx="23241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101217"/>
          </a:solidFill>
          <a:ln xmlns:a="http://schemas.openxmlformats.org/drawingml/2006/main" w="9525">
            <a:solidFill>
              <a:srgbClr val="2A30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E8BE2-8DA0-4893-87CD-B02F3770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09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AAFF"/>
                </a:solidFill>
              </a:defRPr>
            </a:pPr>
            <a:r>
              <a:rPr sz="1050" b="1">
                <a:solidFill>
                  <a:srgbClr val="78AA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0569C-56B6-478A-816B-6A6E54F1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290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9FC"/>
                </a:solidFill>
              </a:defRPr>
            </a:pPr>
            <a:r>
              <a:rPr sz="1725" b="1">
                <a:solidFill>
                  <a:srgbClr val="F7F9FC"/>
                </a:solidFill>
              </a:rPr>
              <a:t>Risk Engine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26852-6C7F-4CE3-AC6B-DFB40D14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148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5B5"/>
                </a:solidFill>
              </a:defRPr>
            </a:pPr>
            <a:r>
              <a:rPr sz="1125" b="0">
                <a:solidFill>
                  <a:srgbClr val="9BA5B5"/>
                </a:solidFill>
              </a:rPr>
              <a:t>Deterministic corridor scoring exposes the assumptions behind risk.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3058DE-DD63-4A7F-B6C5-9FD4971A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38500"/>
            <a:ext cx="23241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101217"/>
          </a:solidFill>
          <a:ln xmlns:a="http://schemas.openxmlformats.org/drawingml/2006/main" w="9525">
            <a:solidFill>
              <a:srgbClr val="2A30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7DA23-7B34-44E2-B889-76F7FFD2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09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AAFF"/>
                </a:solidFill>
              </a:defRPr>
            </a:pPr>
            <a:r>
              <a:rPr sz="1050" b="1">
                <a:solidFill>
                  <a:srgbClr val="78AA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8E707-B20C-4877-B55C-5DF37877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290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9FC"/>
                </a:solidFill>
              </a:defRPr>
            </a:pPr>
            <a:r>
              <a:rPr sz="1725" b="1">
                <a:solidFill>
                  <a:srgbClr val="F7F9FC"/>
                </a:solidFill>
              </a:rPr>
              <a:t>Scenario Lab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0D91E3-1E62-4C13-8902-AE49595D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5148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5B5"/>
                </a:solidFill>
              </a:defRPr>
            </a:pPr>
            <a:r>
              <a:rPr sz="1125" b="0">
                <a:solidFill>
                  <a:srgbClr val="9BA5B5"/>
                </a:solidFill>
              </a:rPr>
              <a:t>1,000 reproducible Monte Carlo runs make uncertainty inspectable.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999EE8-6EF1-460A-B05A-CB429FF2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38500"/>
            <a:ext cx="23241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101217"/>
          </a:solidFill>
          <a:ln xmlns:a="http://schemas.openxmlformats.org/drawingml/2006/main" w="9525">
            <a:solidFill>
              <a:srgbClr val="2A30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5FDDA3-8849-4887-BAAB-12659482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AAFF"/>
                </a:solidFill>
              </a:defRPr>
            </a:pPr>
            <a:r>
              <a:rPr sz="1050" b="1">
                <a:solidFill>
                  <a:srgbClr val="78AA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46194D-D43E-43FD-A44D-618BB549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290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9FC"/>
                </a:solidFill>
              </a:defRPr>
            </a:pPr>
            <a:r>
              <a:rPr sz="1725" b="1">
                <a:solidFill>
                  <a:srgbClr val="F7F9FC"/>
                </a:solidFill>
              </a:rPr>
              <a:t>Procurement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F14C9C-8721-4C38-913A-DDDAC7E3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148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A5B5"/>
                </a:solidFill>
              </a:defRPr>
            </a:pPr>
            <a:r>
              <a:rPr sz="1125" b="0">
                <a:solidFill>
                  <a:srgbClr val="9BA5B5"/>
                </a:solidFill>
              </a:rPr>
              <a:t>OR-Tools compares actionable portfolios before human approval.</a:t>
            </a:r>
          </a:p>
        </p:txBody>
      </p:sp>
    </p:spTree>
    <p:extLst>
      <p:ext uri="{BB962C8B-B14F-4D97-AF65-F5344CB8AC3E}">
        <p14:creationId xmlns:p14="http://schemas.microsoft.com/office/powerpoint/2010/main" val="18975362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940975-761A-4F43-8EF1-E164138F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AAFF"/>
                </a:solidFill>
              </a:defRPr>
            </a:pPr>
            <a:r>
              <a:rPr sz="900" b="1">
                <a:solidFill>
                  <a:srgbClr val="78AAFF"/>
                </a:solidFill>
              </a:rPr>
              <a:t>PETRAVIGIL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25FD4-9F6C-4911-AA4C-93621E9A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BA5B5"/>
                </a:solidFill>
              </a:defRPr>
            </a:pPr>
            <a:r>
              <a:rPr sz="825" b="1">
                <a:solidFill>
                  <a:srgbClr val="9BA5B5"/>
                </a:solidFill>
              </a:rPr>
              <a:t>WHY THIS IS CREDIBLE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22D57-2FD1-4D78-9C16-3C2A9F44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66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66E34-6B6F-4AF1-BDDE-8D0E629A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BA5B5"/>
                </a:solidFill>
              </a:defRPr>
            </a:pPr>
            <a:r>
              <a:rPr sz="825" b="1">
                <a:solidFill>
                  <a:srgbClr val="9BA5B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0DED5-82EB-4E83-B9B0-2AC4CC78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525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7F9FC"/>
                </a:solidFill>
              </a:defRPr>
            </a:pPr>
            <a:r>
              <a:rPr sz="3075" b="1">
                <a:solidFill>
                  <a:srgbClr val="F7F9FC"/>
                </a:solidFill>
              </a:rPr>
              <a:t>AI helps interpret the world.</a:t>
            </a:r>
          </a:p>
          <a:p xmlns:a="http://schemas.openxmlformats.org/drawingml/2006/main">
            <a:pPr algn="l">
              <a:defRPr sz="3075" b="1">
                <a:solidFill>
                  <a:srgbClr val="F7F9FC"/>
                </a:solidFill>
              </a:defRPr>
            </a:pPr>
            <a:r>
              <a:rPr sz="3075" b="1">
                <a:solidFill>
                  <a:srgbClr val="F7F9FC"/>
                </a:solidFill>
              </a:rPr>
              <a:t>Deterministic systems decide what is feasible.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3689A-FDED-4692-AFE4-06486AD8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98679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1217"/>
          </a:solidFill>
          <a:ln xmlns:a="http://schemas.openxmlformats.org/drawingml/2006/main" w="9525">
            <a:solidFill>
              <a:srgbClr val="2A30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276B5-18CB-4B98-9DFA-7B442695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9FC"/>
                </a:solidFill>
              </a:defRPr>
            </a:pPr>
            <a:r>
              <a:rPr sz="1200" b="1">
                <a:solidFill>
                  <a:srgbClr val="F7F9FC"/>
                </a:solidFill>
              </a:rPr>
              <a:t>Gemini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52501-DDBF-4524-A80E-D6DFF484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337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5B5"/>
                </a:solidFill>
              </a:defRPr>
            </a:pPr>
            <a:r>
              <a:rPr sz="1050" b="0">
                <a:solidFill>
                  <a:srgbClr val="9BA5B5"/>
                </a:solidFill>
              </a:rPr>
              <a:t>Structured extraction and executive explanation; explicit cached fallback.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DE430-91D5-418A-9F35-CC32073F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98679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1217"/>
          </a:solidFill>
          <a:ln xmlns:a="http://schemas.openxmlformats.org/drawingml/2006/main" w="9525">
            <a:solidFill>
              <a:srgbClr val="2A30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77D04-18AF-40AB-A106-0455EE55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9FC"/>
                </a:solidFill>
              </a:defRPr>
            </a:pPr>
            <a:r>
              <a:rPr sz="1200" b="1">
                <a:solidFill>
                  <a:srgbClr val="F7F9FC"/>
                </a:solidFill>
              </a:rPr>
              <a:t>Pydantic + entity resolution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3F3AA-3DF2-4F27-8D6C-10E8659E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8617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5B5"/>
                </a:solidFill>
              </a:defRPr>
            </a:pPr>
            <a:r>
              <a:rPr sz="1050" b="0">
                <a:solidFill>
                  <a:srgbClr val="9BA5B5"/>
                </a:solidFill>
              </a:rPr>
              <a:t>Malformed or unknown claims are flagged for review, not invented.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CE7E2-BCA2-4953-9307-3C7AD590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98679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1217"/>
          </a:solidFill>
          <a:ln xmlns:a="http://schemas.openxmlformats.org/drawingml/2006/main" w="9525">
            <a:solidFill>
              <a:srgbClr val="2A30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113D81-FA48-4F39-9D11-13D3ED7F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9FC"/>
                </a:solidFill>
              </a:defRPr>
            </a:pPr>
            <a:r>
              <a:rPr sz="1200" b="1">
                <a:solidFill>
                  <a:srgbClr val="F7F9FC"/>
                </a:solidFill>
              </a:rPr>
              <a:t>Monte Carlo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7BE3D-BBFE-4322-B8AB-8B770382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386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5B5"/>
                </a:solidFill>
              </a:defRPr>
            </a:pPr>
            <a:r>
              <a:rPr sz="1050" b="0">
                <a:solidFill>
                  <a:srgbClr val="9BA5B5"/>
                </a:solidFill>
              </a:rPr>
              <a:t>Reproducible supply and Brent-impact distributions with stored assumptions.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537C31-F908-47B9-A316-7D2092D8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98679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1217"/>
          </a:solidFill>
          <a:ln xmlns:a="http://schemas.openxmlformats.org/drawingml/2006/main" w="9525">
            <a:solidFill>
              <a:srgbClr val="2A30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CCCE3C-59BC-4976-9077-969AD59B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910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9FC"/>
                </a:solidFill>
              </a:defRPr>
            </a:pPr>
            <a:r>
              <a:rPr sz="1200" b="1">
                <a:solidFill>
                  <a:srgbClr val="F7F9FC"/>
                </a:solidFill>
              </a:rPr>
              <a:t>OR-Tools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2E1D0C-1FFD-43F4-A9CE-D4BAF685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9107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5B5"/>
                </a:solidFill>
              </a:defRPr>
            </a:pPr>
            <a:r>
              <a:rPr sz="1050" b="0">
                <a:solidFill>
                  <a:srgbClr val="9BA5B5"/>
                </a:solidFill>
              </a:rPr>
              <a:t>Supplier, crude-grade, route-capacity and refinery constraints stay executable.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AC5E9-E04A-4EF5-928C-331CAE32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98679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A30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EADABC-4433-4CC8-9F05-0BEE8850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435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AAFF"/>
                </a:solidFill>
              </a:defRPr>
            </a:pPr>
            <a:r>
              <a:rPr sz="1200" b="1">
                <a:solidFill>
                  <a:srgbClr val="78AAFF"/>
                </a:solidFill>
              </a:rPr>
              <a:t>Append-only approvals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2A423E-5D24-4B60-9B58-85C3807E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343525"/>
            <a:ext cx="685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A5B5"/>
                </a:solidFill>
              </a:defRPr>
            </a:pPr>
            <a:r>
              <a:rPr sz="1050" b="0">
                <a:solidFill>
                  <a:srgbClr val="9BA5B5"/>
                </a:solidFill>
              </a:rPr>
              <a:t>A human decision is recorded locally. No purchase order is ever created.</a:t>
            </a:r>
          </a:p>
        </p:txBody>
      </p:sp>
    </p:spTree>
    <p:extLst>
      <p:ext uri="{BB962C8B-B14F-4D97-AF65-F5344CB8AC3E}">
        <p14:creationId xmlns:p14="http://schemas.microsoft.com/office/powerpoint/2010/main" val="12942569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A19491-AE50-4451-A716-A5D57E72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AAFF"/>
                </a:solidFill>
              </a:defRPr>
            </a:pPr>
            <a:r>
              <a:rPr sz="900" b="1">
                <a:solidFill>
                  <a:srgbClr val="78AAFF"/>
                </a:solidFill>
              </a:rPr>
              <a:t>PETRAVIGIL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317D4-7DFD-4539-91A9-AA0A81DE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BA5B5"/>
                </a:solidFill>
              </a:defRPr>
            </a:pPr>
            <a:r>
              <a:rPr sz="825" b="1">
                <a:solidFill>
                  <a:srgbClr val="9BA5B5"/>
                </a:solidFill>
              </a:rPr>
              <a:t>THE LIVE JUDGE MOMENT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76F4B5-29FD-4C05-82D6-9ED7F91D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66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EAAE5-D004-453B-883A-0BB5C311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BA5B5"/>
                </a:solidFill>
              </a:defRPr>
            </a:pPr>
            <a:r>
              <a:rPr sz="825" b="1">
                <a:solidFill>
                  <a:srgbClr val="9BA5B5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9DB56-1AD9-48EA-A142-A54EC607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33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7F9FC"/>
                </a:solidFill>
              </a:defRPr>
            </a:pPr>
            <a:r>
              <a:rPr sz="2925" b="1">
                <a:solidFill>
                  <a:srgbClr val="F7F9FC"/>
                </a:solidFill>
              </a:rPr>
              <a:t>One disruption. One visible chain of reasoning.</a:t>
            </a:r>
          </a:p>
          <a:p xmlns:a="http://schemas.openxmlformats.org/drawingml/2006/main">
            <a:pPr algn="l">
              <a:defRPr sz="2925" b="1">
                <a:solidFill>
                  <a:srgbClr val="F7F9FC"/>
                </a:solidFill>
              </a:defRPr>
            </a:pPr>
            <a:r>
              <a:rPr sz="2925" b="1">
                <a:solidFill>
                  <a:srgbClr val="F7F9FC"/>
                </a:solidFill>
              </a:rPr>
              <a:t>One accountable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3F18D-072A-4CF5-8495-ED824BE2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428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1217"/>
          </a:solidFill>
          <a:ln xmlns:a="http://schemas.openxmlformats.org/drawingml/2006/main" w="9525">
            <a:solidFill>
              <a:srgbClr val="2A30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4F8FC-3D6E-4E7F-A114-9C296ADB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AAFF"/>
                </a:solidFill>
              </a:defRPr>
            </a:pPr>
            <a:r>
              <a:rPr sz="900" b="1">
                <a:solidFill>
                  <a:srgbClr val="78AA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F02542-1496-4A5B-A162-4C4F00D1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9FC"/>
                </a:solidFill>
              </a:defRPr>
            </a:pPr>
            <a:r>
              <a:rPr sz="1200" b="1">
                <a:solidFill>
                  <a:srgbClr val="F7F9FC"/>
                </a:solidFill>
              </a:rPr>
              <a:t>Shipping alert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DF617-DFE6-417F-AD65-3B6EB6E9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8481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8DFF"/>
                </a:solidFill>
              </a:defRPr>
            </a:pPr>
            <a:r>
              <a:rPr sz="1500" b="1">
                <a:solidFill>
                  <a:srgbClr val="4D8DF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65F8A-B412-4D2E-B78D-59416E48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24250"/>
            <a:ext cx="1428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1217"/>
          </a:solidFill>
          <a:ln xmlns:a="http://schemas.openxmlformats.org/drawingml/2006/main" w="9525">
            <a:solidFill>
              <a:srgbClr val="2A30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AA3B3-24BC-40B5-AFFA-64C8C546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95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AAFF"/>
                </a:solidFill>
              </a:defRPr>
            </a:pPr>
            <a:r>
              <a:rPr sz="900" b="1">
                <a:solidFill>
                  <a:srgbClr val="78AA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04D96-58B9-44A8-94E4-24F1D99A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0050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9FC"/>
                </a:solidFill>
              </a:defRPr>
            </a:pPr>
            <a:r>
              <a:rPr sz="1200" b="1">
                <a:solidFill>
                  <a:srgbClr val="F7F9FC"/>
                </a:solidFill>
              </a:rPr>
              <a:t>Entity + DPS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FEEEE-DF93-433B-9141-D83E8418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8481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8DFF"/>
                </a:solidFill>
              </a:defRPr>
            </a:pPr>
            <a:r>
              <a:rPr sz="1500" b="1">
                <a:solidFill>
                  <a:srgbClr val="4D8DF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7FE9E-83FC-41EA-806F-8ED64458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24250"/>
            <a:ext cx="1428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1217"/>
          </a:solidFill>
          <a:ln xmlns:a="http://schemas.openxmlformats.org/drawingml/2006/main" w="9525">
            <a:solidFill>
              <a:srgbClr val="2A30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07A88-2280-4085-81E2-671E4F27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95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AAFF"/>
                </a:solidFill>
              </a:defRPr>
            </a:pPr>
            <a:r>
              <a:rPr sz="900" b="1">
                <a:solidFill>
                  <a:srgbClr val="78AA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3A772E-3DBB-411D-A0B8-501415E3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0050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9FC"/>
                </a:solidFill>
              </a:defRPr>
            </a:pPr>
            <a:r>
              <a:rPr sz="1200" b="1">
                <a:solidFill>
                  <a:srgbClr val="F7F9FC"/>
                </a:solidFill>
              </a:rPr>
              <a:t>Monte Carlo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2FD216-3DEA-4764-A9B6-3FE87F09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8481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8DFF"/>
                </a:solidFill>
              </a:defRPr>
            </a:pPr>
            <a:r>
              <a:rPr sz="1500" b="1">
                <a:solidFill>
                  <a:srgbClr val="4D8DF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0C7FD-071E-4AD8-919C-C598DFC8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24250"/>
            <a:ext cx="1428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1217"/>
          </a:solidFill>
          <a:ln xmlns:a="http://schemas.openxmlformats.org/drawingml/2006/main" w="9525">
            <a:solidFill>
              <a:srgbClr val="2A30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56C9FC-4D1A-4F6A-AD50-94D9BE0C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95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AAFF"/>
                </a:solidFill>
              </a:defRPr>
            </a:pPr>
            <a:r>
              <a:rPr sz="900" b="1">
                <a:solidFill>
                  <a:srgbClr val="78AA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FBA8FA-539E-4F0E-9B1F-318318DE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0050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9FC"/>
                </a:solidFill>
              </a:defRPr>
            </a:pPr>
            <a:r>
              <a:rPr sz="1200" b="1">
                <a:solidFill>
                  <a:srgbClr val="F7F9FC"/>
                </a:solidFill>
              </a:rPr>
              <a:t>4 portfolios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D2B137-F4B4-4F4E-8A0E-DC5F9B4C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481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8DFF"/>
                </a:solidFill>
              </a:defRPr>
            </a:pPr>
            <a:r>
              <a:rPr sz="1500" b="1">
                <a:solidFill>
                  <a:srgbClr val="4D8DFF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E412BF-807C-47E8-840D-A32E0166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24250"/>
            <a:ext cx="1428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1217"/>
          </a:solidFill>
          <a:ln xmlns:a="http://schemas.openxmlformats.org/drawingml/2006/main" w="9525">
            <a:solidFill>
              <a:srgbClr val="2A30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09690D-DA08-490F-BC9F-0F72DB0E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95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AAFF"/>
                </a:solidFill>
              </a:defRPr>
            </a:pPr>
            <a:r>
              <a:rPr sz="900" b="1">
                <a:solidFill>
                  <a:srgbClr val="78AAFF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FBA4E7-C2EC-4278-8DA8-47D7A97A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0050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9FC"/>
                </a:solidFill>
              </a:defRPr>
            </a:pPr>
            <a:r>
              <a:rPr sz="1200" b="1">
                <a:solidFill>
                  <a:srgbClr val="F7F9FC"/>
                </a:solidFill>
              </a:rPr>
              <a:t>Decision brief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C85D04-73C0-4704-AA06-4A4AD710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8481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4D8DFF"/>
                </a:solidFill>
              </a:defRPr>
            </a:pPr>
            <a:r>
              <a:rPr sz="1500" b="1">
                <a:solidFill>
                  <a:srgbClr val="4D8DFF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6C748B-1571-4C83-8E17-C1AEB28D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24250"/>
            <a:ext cx="14287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6E99DE-6101-4E0A-8AD7-A67F0D0C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95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AAFF"/>
                </a:solidFill>
              </a:defRPr>
            </a:pPr>
            <a:r>
              <a:rPr sz="900" b="1">
                <a:solidFill>
                  <a:srgbClr val="78AAFF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AD3949-0AF9-474D-A4E5-402BCE62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7F9FC"/>
                </a:solidFill>
              </a:defRPr>
            </a:pPr>
            <a:r>
              <a:rPr sz="1200" b="1">
                <a:solidFill>
                  <a:srgbClr val="F7F9FC"/>
                </a:solidFill>
              </a:rPr>
              <a:t>Human approval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1DD29C-5CB1-40AF-A0DC-3FF63AFD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A5B5"/>
                </a:solidFill>
              </a:defRPr>
            </a:pPr>
            <a:r>
              <a:rPr sz="1275" b="0">
                <a:solidFill>
                  <a:srgbClr val="9BA5B5"/>
                </a:solidFill>
              </a:rPr>
              <a:t>The replay uses the actual API workflow and runs with labelled fallbacks when Gemini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18102977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BCFF0D-CA38-42C8-A35B-B33755DD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AAFF"/>
                </a:solidFill>
              </a:defRPr>
            </a:pPr>
            <a:r>
              <a:rPr sz="900" b="1">
                <a:solidFill>
                  <a:srgbClr val="78AAFF"/>
                </a:solidFill>
              </a:rPr>
              <a:t>PETRAVIGIL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79CF8-876E-45F3-A437-AD0AD45C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BA5B5"/>
                </a:solidFill>
              </a:defRPr>
            </a:pPr>
            <a:r>
              <a:rPr sz="825" b="1">
                <a:solidFill>
                  <a:srgbClr val="9BA5B5"/>
                </a:solidFill>
              </a:rPr>
              <a:t>A RECOMMENDATION IS A CHOICE, NOT A BLACK BOX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DC1D19-3018-4B6F-9009-7B0D29E6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66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839DE-A848-48A1-A912-5608F8C7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BA5B5"/>
                </a:solidFill>
              </a:defRPr>
            </a:pPr>
            <a:r>
              <a:rPr sz="825" b="1">
                <a:solidFill>
                  <a:srgbClr val="9BA5B5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8B8BC-E11A-4B52-A69D-10968392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9FC"/>
                </a:solidFill>
              </a:defRPr>
            </a:pPr>
            <a:r>
              <a:rPr sz="2850" b="1">
                <a:solidFill>
                  <a:srgbClr val="F7F9FC"/>
                </a:solidFill>
              </a:rPr>
              <a:t>The optimizer shows trade-offs before it calls anything “best.”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6C959-61FF-4B1E-800A-180079D8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4762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1217"/>
          </a:solidFill>
          <a:ln xmlns:a="http://schemas.openxmlformats.org/drawingml/2006/main" w="9525">
            <a:solidFill>
              <a:srgbClr val="2A30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3C93A-5BE5-47D6-97A6-7487F6D9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9FC"/>
                </a:solidFill>
              </a:defRPr>
            </a:pPr>
            <a:r>
              <a:rPr sz="1125" b="1">
                <a:solidFill>
                  <a:srgbClr val="F7F9FC"/>
                </a:solidFill>
              </a:rPr>
              <a:t>DO NOTHING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B05225-5362-4CC2-A680-00F8D580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A5B5"/>
                </a:solidFill>
              </a:defRPr>
            </a:pPr>
            <a:r>
              <a:rPr sz="1275" b="0">
                <a:solidFill>
                  <a:srgbClr val="9BA5B5"/>
                </a:solidFill>
              </a:rPr>
              <a:t>Expose the business to the disruption window.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7BB99-1A07-4598-8A75-51DE9A1D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05100"/>
            <a:ext cx="4762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1217"/>
          </a:solidFill>
          <a:ln xmlns:a="http://schemas.openxmlformats.org/drawingml/2006/main" w="9525">
            <a:solidFill>
              <a:srgbClr val="2A30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24147-A7D9-4EC2-85C1-D864204D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9560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9FC"/>
                </a:solidFill>
              </a:defRPr>
            </a:pPr>
            <a:r>
              <a:rPr sz="1125" b="1">
                <a:solidFill>
                  <a:srgbClr val="F7F9FC"/>
                </a:solidFill>
              </a:rPr>
              <a:t>LOWEST COST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A4A748-3EE5-43C6-9C7D-E1C028F9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385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A5B5"/>
                </a:solidFill>
              </a:defRPr>
            </a:pPr>
            <a:r>
              <a:rPr sz="1275" b="0">
                <a:solidFill>
                  <a:srgbClr val="9BA5B5"/>
                </a:solidFill>
              </a:rPr>
              <a:t>Prioritize cost within safe seeded route options.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4591C7-62F6-4E3D-A14D-8D4FB364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4762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90CCFE-029F-475B-8F8F-B781AFC5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8AAFF"/>
                </a:solidFill>
              </a:defRPr>
            </a:pPr>
            <a:r>
              <a:rPr sz="1125" b="1">
                <a:solidFill>
                  <a:srgbClr val="78AAFF"/>
                </a:solidFill>
              </a:rPr>
              <a:t>BALANCED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62964-DCC8-4B44-B4C5-672296A1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672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A5B5"/>
                </a:solidFill>
              </a:defRPr>
            </a:pPr>
            <a:r>
              <a:rPr sz="1275" b="0">
                <a:solidFill>
                  <a:srgbClr val="9BA5B5"/>
                </a:solidFill>
              </a:rPr>
              <a:t>Trade modest premium for diversified supply resilience.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863186-8337-4330-B048-48D239FC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133850"/>
            <a:ext cx="4762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01217"/>
          </a:solidFill>
          <a:ln xmlns:a="http://schemas.openxmlformats.org/drawingml/2006/main" w="9525">
            <a:solidFill>
              <a:srgbClr val="2A30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82FB4-3B2D-4A68-A5DD-7487159D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9FC"/>
                </a:solidFill>
              </a:defRPr>
            </a:pPr>
            <a:r>
              <a:rPr sz="1125" b="1">
                <a:solidFill>
                  <a:srgbClr val="F7F9FC"/>
                </a:solidFill>
              </a:rPr>
              <a:t>MAX RESILIENCE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5CA11-3343-425B-AAFF-1B3D7E6D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672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A5B5"/>
                </a:solidFill>
              </a:defRPr>
            </a:pPr>
            <a:r>
              <a:rPr sz="1275" b="0">
                <a:solidFill>
                  <a:srgbClr val="9BA5B5"/>
                </a:solidFill>
              </a:rPr>
              <a:t>Minimize route risk with the strongest viable buffer.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E21B51-6BA9-417A-B9FD-98A04AC8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A5B5"/>
                </a:solidFill>
              </a:defRPr>
            </a:pPr>
            <a:r>
              <a:rPr sz="1275" b="0">
                <a:solidFill>
                  <a:srgbClr val="9BA5B5"/>
                </a:solidFill>
              </a:rPr>
              <a:t>Judges can inspect routes, volumes, refinery compatibility, and the explanation for any option.</a:t>
            </a:r>
          </a:p>
        </p:txBody>
      </p:sp>
    </p:spTree>
    <p:extLst>
      <p:ext uri="{BB962C8B-B14F-4D97-AF65-F5344CB8AC3E}">
        <p14:creationId xmlns:p14="http://schemas.microsoft.com/office/powerpoint/2010/main" val="10777107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A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66EA4-ABA3-474B-AD7C-83E24A2E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8AAFF"/>
                </a:solidFill>
              </a:defRPr>
            </a:pPr>
            <a:r>
              <a:rPr sz="900" b="1">
                <a:solidFill>
                  <a:srgbClr val="78AAFF"/>
                </a:solidFill>
              </a:rPr>
              <a:t>PETRAVIGIL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01DD3-D1DA-4100-A048-4BCFD59B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BA5B5"/>
                </a:solidFill>
              </a:defRPr>
            </a:pPr>
            <a:r>
              <a:rPr sz="825" b="1">
                <a:solidFill>
                  <a:srgbClr val="9BA5B5"/>
                </a:solidFill>
              </a:rPr>
              <a:t>THE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4A8D3-EB1E-4020-8304-68103561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666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7D351-E58B-4751-8321-E386AF22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BA5B5"/>
                </a:solidFill>
              </a:defRPr>
            </a:pPr>
            <a:r>
              <a:rPr sz="825" b="1">
                <a:solidFill>
                  <a:srgbClr val="9BA5B5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170AF-92E5-46EF-96CB-A9F72B9A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23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7F9FC"/>
                </a:solidFill>
              </a:defRPr>
            </a:pPr>
            <a:r>
              <a:rPr sz="3525" b="1">
                <a:solidFill>
                  <a:srgbClr val="F7F9FC"/>
                </a:solidFill>
              </a:rPr>
              <a:t>Make energy resilience</a:t>
            </a:r>
          </a:p>
          <a:p xmlns:a="http://schemas.openxmlformats.org/drawingml/2006/main">
            <a:pPr algn="l">
              <a:defRPr sz="3525" b="1">
                <a:solidFill>
                  <a:srgbClr val="F7F9FC"/>
                </a:solidFill>
              </a:defRPr>
            </a:pPr>
            <a:r>
              <a:rPr sz="3525" b="1">
                <a:solidFill>
                  <a:srgbClr val="F7F9FC"/>
                </a:solidFill>
              </a:rPr>
              <a:t>anticipatory—not reactive.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C76C7A-9BC4-454F-A363-FA5FB66D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9BA5B5"/>
                </a:solidFill>
              </a:defRPr>
            </a:pPr>
            <a:r>
              <a:rPr sz="1575" b="0">
                <a:solidFill>
                  <a:srgbClr val="9BA5B5"/>
                </a:solidFill>
              </a:rPr>
              <a:t>PetraVigil compresses the path from disruption signal to a constrained, evidence-backed, human-approved recommendation.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911EC-CA34-43FE-BD91-6F3AEC91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8572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E9FB7-1B65-4611-899A-A7E715F1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800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8AAFF"/>
                </a:solidFill>
              </a:defRPr>
            </a:pPr>
            <a:r>
              <a:rPr sz="1425" b="1">
                <a:solidFill>
                  <a:srgbClr val="78AAFF"/>
                </a:solidFill>
              </a:rPr>
              <a:t>Every recommendation stays transparent, testable, and under human control.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A06AE-A451-409A-A84A-797A6BFD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AAFF"/>
                </a:solidFill>
              </a:defRPr>
            </a:pPr>
            <a:r>
              <a:rPr sz="1200" b="1">
                <a:solidFill>
                  <a:srgbClr val="78AAFF"/>
                </a:solidFill>
              </a:rPr>
              <a:t>PetraVigil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4CA2A-A87B-4D4A-9A04-7DAFFACF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A5B5"/>
                </a:solidFill>
              </a:defRPr>
            </a:pPr>
            <a:r>
              <a:rPr sz="975" b="0">
                <a:solidFill>
                  <a:srgbClr val="9BA5B5"/>
                </a:solidFill>
              </a:rPr>
              <a:t>Evidence-first energy supply resilience</a:t>
            </a:r>
          </a:p>
        </p:txBody>
      </p:sp>
    </p:spTree>
    <p:extLst>
      <p:ext uri="{BB962C8B-B14F-4D97-AF65-F5344CB8AC3E}">
        <p14:creationId xmlns:p14="http://schemas.microsoft.com/office/powerpoint/2010/main" val="668853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2026-07-20T05:27:37.1620000Z</dcterms:created>
  <dcterms:modified xsi:type="dcterms:W3CDTF">2026-07-20T05:27:37.1630000Z</dcterms:modified>
</coreProperties>
</file>