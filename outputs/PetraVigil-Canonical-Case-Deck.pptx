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773d8d59b1494f" /><Relationship Type="http://schemas.openxmlformats.org/officeDocument/2006/relationships/extended-properties" Target="/docProps/app.xml" Id="R7db2cefe7f5844b1" /><Relationship Type="http://schemas.openxmlformats.org/officeDocument/2006/relationships/officeDocument" Target="/ppt/presentation.xml" Id="R5aacfbbff00045f0" /></Relationships>
</file>

<file path=ppt/presentation.xml><?xml version="1.0" encoding="utf-8"?>
<p:presentation xmlns:p="http://schemas.openxmlformats.org/presentationml/2006/main">
  <p:sldMasterIdLst>
    <p:sldMasterId xmlns:r="http://schemas.openxmlformats.org/officeDocument/2006/relationships" id="2147483648" r:id="Rfdf0573026c144ca"/>
  </p:sldMasterIdLst>
  <p:notesMasterIdLst>
    <p:notesMasterId xmlns:r="http://schemas.openxmlformats.org/officeDocument/2006/relationships" r:id="Re2a3ebb650c1490c"/>
  </p:notesMasterIdLst>
  <p:sldIdLst>
    <p:sldId xmlns:r="http://schemas.openxmlformats.org/officeDocument/2006/relationships" id="256" r:id="Rfc394a519ac049fb"/>
    <p:sldId xmlns:r="http://schemas.openxmlformats.org/officeDocument/2006/relationships" id="257" r:id="R9aa8018bd8c045c6"/>
    <p:sldId xmlns:r="http://schemas.openxmlformats.org/officeDocument/2006/relationships" id="258" r:id="R2f44d6d9e77d407e"/>
    <p:sldId xmlns:r="http://schemas.openxmlformats.org/officeDocument/2006/relationships" id="259" r:id="Rf0782a76d6d3471e"/>
    <p:sldId xmlns:r="http://schemas.openxmlformats.org/officeDocument/2006/relationships" id="260" r:id="Rd7c886202a114660"/>
    <p:sldId xmlns:r="http://schemas.openxmlformats.org/officeDocument/2006/relationships" id="261" r:id="Rd48428fe78c04eb8"/>
    <p:sldId xmlns:r="http://schemas.openxmlformats.org/officeDocument/2006/relationships" id="262" r:id="R265774ec3e4044b6"/>
    <p:sldId xmlns:r="http://schemas.openxmlformats.org/officeDocument/2006/relationships" id="263" r:id="Rf0a8e5c948704a6c"/>
    <p:sldId xmlns:r="http://schemas.openxmlformats.org/officeDocument/2006/relationships" id="264" r:id="R06b83f84fbde4028"/>
    <p:sldId xmlns:r="http://schemas.openxmlformats.org/officeDocument/2006/relationships" id="265" r:id="R697c84a2251c4ac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5e5f5702fc42c2" /><Relationship Type="http://schemas.openxmlformats.org/officeDocument/2006/relationships/slideMaster" Target="/ppt/slideMasters/slideMaster1.xml" Id="Rfdf0573026c144ca" /><Relationship Type="http://schemas.openxmlformats.org/officeDocument/2006/relationships/notesMaster" Target="/ppt/notesMasters/notesMaster1.xml" Id="Re2a3ebb650c1490c" /><Relationship Type="http://schemas.openxmlformats.org/officeDocument/2006/relationships/presProps" Target="/ppt/presProps.xml" Id="Rcf57c51e80a84da2" /><Relationship Type="http://schemas.openxmlformats.org/officeDocument/2006/relationships/tableStyles" Target="/ppt/tableStyles.xml" Id="Rb2ae744b5e7042d9" /><Relationship Type="http://schemas.openxmlformats.org/officeDocument/2006/relationships/slide" Target="/ppt/slides/slide1.xml" Id="Rfc394a519ac049fb" /><Relationship Type="http://schemas.openxmlformats.org/officeDocument/2006/relationships/slide" Target="/ppt/slides/slide2.xml" Id="R9aa8018bd8c045c6" /><Relationship Type="http://schemas.openxmlformats.org/officeDocument/2006/relationships/slide" Target="/ppt/slides/slide3.xml" Id="R2f44d6d9e77d407e" /><Relationship Type="http://schemas.openxmlformats.org/officeDocument/2006/relationships/slide" Target="/ppt/slides/slide4.xml" Id="Rf0782a76d6d3471e" /><Relationship Type="http://schemas.openxmlformats.org/officeDocument/2006/relationships/slide" Target="/ppt/slides/slide5.xml" Id="Rd7c886202a114660" /><Relationship Type="http://schemas.openxmlformats.org/officeDocument/2006/relationships/slide" Target="/ppt/slides/slide6.xml" Id="Rd48428fe78c04eb8" /><Relationship Type="http://schemas.openxmlformats.org/officeDocument/2006/relationships/slide" Target="/ppt/slides/slide7.xml" Id="R265774ec3e4044b6" /><Relationship Type="http://schemas.openxmlformats.org/officeDocument/2006/relationships/slide" Target="/ppt/slides/slide8.xml" Id="Rf0a8e5c948704a6c" /><Relationship Type="http://schemas.openxmlformats.org/officeDocument/2006/relationships/slide" Target="/ppt/slides/slide9.xml" Id="R06b83f84fbde4028" /><Relationship Type="http://schemas.openxmlformats.org/officeDocument/2006/relationships/slide" Target="/ppt/slides/slide10.xml" Id="R697c84a2251c4a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59d84fd1214a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1c80f395264b99" /><Relationship Type="http://schemas.openxmlformats.org/officeDocument/2006/relationships/notesMaster" Target="/ppt/notesMasters/notesMaster1.xml" Id="R9d16d3a282714b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eaea2df0d14ca8" /><Relationship Type="http://schemas.openxmlformats.org/officeDocument/2006/relationships/notesMaster" Target="/ppt/notesMasters/notesMaster1.xml" Id="R98fca5fb25504e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f7361d927b41e2" /><Relationship Type="http://schemas.openxmlformats.org/officeDocument/2006/relationships/notesMaster" Target="/ppt/notesMasters/notesMaster1.xml" Id="R7604bf07d40b46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e2d3bbb604411d" /><Relationship Type="http://schemas.openxmlformats.org/officeDocument/2006/relationships/notesMaster" Target="/ppt/notesMasters/notesMaster1.xml" Id="R436cd058c9d947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1be9963b174011" /><Relationship Type="http://schemas.openxmlformats.org/officeDocument/2006/relationships/notesMaster" Target="/ppt/notesMasters/notesMaster1.xml" Id="Re2e386d4807344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2da50f4b9d4c65" /><Relationship Type="http://schemas.openxmlformats.org/officeDocument/2006/relationships/notesMaster" Target="/ppt/notesMasters/notesMaster1.xml" Id="Rd1590db45d214a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42205dcee54e3c" /><Relationship Type="http://schemas.openxmlformats.org/officeDocument/2006/relationships/notesMaster" Target="/ppt/notesMasters/notesMaster1.xml" Id="Rcc58a0f58b3346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adb46189b843ef" /><Relationship Type="http://schemas.openxmlformats.org/officeDocument/2006/relationships/notesMaster" Target="/ppt/notesMasters/notesMaster1.xml" Id="R5da3a2591c2e48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ca4ec337674747" /><Relationship Type="http://schemas.openxmlformats.org/officeDocument/2006/relationships/notesMaster" Target="/ppt/notesMasters/notesMaster1.xml" Id="Rb7dfaf2f280549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f6c958a8a34eb5" /><Relationship Type="http://schemas.openxmlformats.org/officeDocument/2006/relationships/notesMaster" Target="/ppt/notesMasters/notesMaster1.xml" Id="R566990e2b8ab49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PetraVigil turns a source-labelled disruption signal into a safe, nationally feasible, executive-ready action before the response window closes. The product does not replace the human decision; it makes that decision reviewable.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one concrete case: a disruption signal around Hormuz. India’s import exposure makes delay consequential, but the replay remains local context and is not claimed as live shipping intelligence.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Gemini can propose a structured reading of unstructured text, but source evidence, confidence, unresolved entities, and unknowns must remain available for analyst review. This is the first control point in the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product’s backbone. No standalone replay, clock, map, or allocation is shown without a causal role: every artifact lives in the same persistent decision case and becomes a later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earns its place by converting unstructured signals into a schema the analyst can inspect. It does not invent operating facts, approve a purchase, or override constrained optimisation.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not a live market forecast. It makes decision assumptions explicit, shows a local reproducible consequence of delay, and passes national-capacity implications to the safety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safety gate sits before any recommendation. If evidence is unresolved or national allocation cannot reconcile demand with finite capacity, the correct output is NO_RECOMMENDATION_YET with the reason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national check: the allocator prevents multiple refineries from claiming the same scarce route capacity. It exposes unserved volume and only carries a feasible, bounded bridge into the executive action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working prototype proves the decision mechanics. It does not claim live AIS, prices, sanctions, contractual availability, or production governance. Those are the next validation stages, not hidden in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correct promise. PetraVigil is not an autonomous procurement engine. It creates accountable speed by making evidence, constraints, safety checks, alternatives, and the final human approval part of one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542bc5a3d047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d6d8090e8949e6" /><Relationship Type="http://schemas.openxmlformats.org/officeDocument/2006/relationships/slideLayout" Target="/ppt/slideLayouts/slideLayout1.xml" Id="R4d8b39cb579b4f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8b39cb579b4f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25cbc235b0412b" /><Relationship Type="http://schemas.openxmlformats.org/officeDocument/2006/relationships/notesSlide" Target="/ppt/notesSlides/notesSlide1.xml" Id="Rd17b9893011f46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40932033d9405e" /><Relationship Type="http://schemas.openxmlformats.org/officeDocument/2006/relationships/notesSlide" Target="/ppt/notesSlides/notesSlide2.xml" Id="Rfda80c25ac0243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258ea9c7e44b0c" /><Relationship Type="http://schemas.openxmlformats.org/officeDocument/2006/relationships/notesSlide" Target="/ppt/notesSlides/notesSlide3.xml" Id="R02b7546fc8584c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afe990b41a4084" /><Relationship Type="http://schemas.openxmlformats.org/officeDocument/2006/relationships/notesSlide" Target="/ppt/notesSlides/notesSlide4.xml" Id="R43a83e91ffca4e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a093c1e91d47d9" /><Relationship Type="http://schemas.openxmlformats.org/officeDocument/2006/relationships/notesSlide" Target="/ppt/notesSlides/notesSlide5.xml" Id="Rc34da4be24274b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ded9494c414bfa" /><Relationship Type="http://schemas.openxmlformats.org/officeDocument/2006/relationships/notesSlide" Target="/ppt/notesSlides/notesSlide6.xml" Id="R5843b2c1895542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cedcca910e40c1" /><Relationship Type="http://schemas.openxmlformats.org/officeDocument/2006/relationships/notesSlide" Target="/ppt/notesSlides/notesSlide7.xml" Id="Rde7550f9157f43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a4b0d65e144b8d" /><Relationship Type="http://schemas.openxmlformats.org/officeDocument/2006/relationships/notesSlide" Target="/ppt/notesSlides/notesSlide8.xml" Id="Rf445348b0b6440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5cd10ee3bc4b7a" /><Relationship Type="http://schemas.openxmlformats.org/officeDocument/2006/relationships/notesSlide" Target="/ppt/notesSlides/notesSlide9.xml" Id="R783a0aea67254a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319cdec0464b4b" /><Relationship Type="http://schemas.openxmlformats.org/officeDocument/2006/relationships/notesSlide" Target="/ppt/notesSlides/notesSlide10.xml" Id="R72e8cc1b27794618" /></Relationships>
</file>

<file path=ppt/slides/slide1.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0" name="brand">
            <a:extLst xmlns:a="http://schemas.openxmlformats.org/drawingml/2006/main">
              <a:ext uri="{FF2B5EF4-FFF2-40B4-BE49-F238E27FC236}">
                <a16:creationId xmlns:a16="http://schemas.microsoft.com/office/drawing/2014/main" id="{A8BA1C7B-0F85-4CA8-84E9-0841AA48222D}"/>
              </a:ext>
            </a:extLst>
          </p:cNvPr>
          <p:cNvSpPr>
            <a:spLocks xmlns:a="http://schemas.openxmlformats.org/drawingml/2006/main" noGrp="1"/>
          </p:cNvSpPr>
          <p:nvPr/>
        </p:nvSpPr>
        <p:spPr>
          <a:xfrm xmlns:a="http://schemas.openxmlformats.org/drawingml/2006/main">
            <a:off x="685800" y="6096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51E5D6"/>
                </a:solidFill>
              </a:defRPr>
            </a:pPr>
            <a:r>
              <a:rPr sz="1200" b="1">
                <a:solidFill>
                  <a:srgbClr val="51E5D6"/>
                </a:solidFill>
              </a:rPr>
              <a:t>PETRAVIGIL</a:t>
            </a:r>
          </a:p>
        </p:txBody>
      </p:sp>
      <p:sp>
        <p:nvSpPr>
          <p:cNvPr id="2" name="hero-title">
            <a:extLst xmlns:a="http://schemas.openxmlformats.org/drawingml/2006/main">
              <a:ext uri="{FF2B5EF4-FFF2-40B4-BE49-F238E27FC236}">
                <a16:creationId xmlns:a16="http://schemas.microsoft.com/office/drawing/2014/main" id="{37877797-086F-4F08-A63C-CCAC71E5835D}"/>
              </a:ext>
            </a:extLst>
          </p:cNvPr>
          <p:cNvSpPr>
            <a:spLocks xmlns:a="http://schemas.openxmlformats.org/drawingml/2006/main" noGrp="1"/>
          </p:cNvSpPr>
          <p:nvPr/>
        </p:nvSpPr>
        <p:spPr>
          <a:xfrm xmlns:a="http://schemas.openxmlformats.org/drawingml/2006/main">
            <a:off x="685800" y="1409700"/>
            <a:ext cx="6858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050" b="1">
                <a:solidFill>
                  <a:srgbClr val="F5F8FC"/>
                </a:solidFill>
              </a:defRPr>
            </a:pPr>
            <a:r>
              <a:rPr sz="4050" b="1">
                <a:solidFill>
                  <a:srgbClr val="F5F8FC"/>
                </a:solidFill>
              </a:rPr>
              <a:t>When a disruption moves,</a:t>
            </a:r>
          </a:p>
          <a:p xmlns:a="http://schemas.openxmlformats.org/drawingml/2006/main">
            <a:pPr>
              <a:buNone/>
              <a:defRPr sz="4050" b="1">
                <a:solidFill>
                  <a:srgbClr val="F5F8FC"/>
                </a:solidFill>
              </a:defRPr>
            </a:pPr>
            <a:r>
              <a:rPr sz="4050" b="1">
                <a:solidFill>
                  <a:srgbClr val="F5F8FC"/>
                </a:solidFill>
              </a:rPr>
              <a:t>India needs a safe decision—</a:t>
            </a:r>
          </a:p>
          <a:p xmlns:a="http://schemas.openxmlformats.org/drawingml/2006/main">
            <a:pPr>
              <a:buNone/>
              <a:defRPr sz="4050" b="1">
                <a:solidFill>
                  <a:srgbClr val="F5F8FC"/>
                </a:solidFill>
              </a:defRPr>
            </a:pPr>
            <a:r>
              <a:rPr sz="4050" b="1">
                <a:solidFill>
                  <a:srgbClr val="F5F8FC"/>
                </a:solidFill>
              </a:rPr>
              <a:t>not another dashboard.</a:t>
            </a:r>
          </a:p>
        </p:txBody>
      </p:sp>
      <p:sp>
        <p:nvSpPr>
          <p:cNvPr id="3" name="tagline">
            <a:extLst xmlns:a="http://schemas.openxmlformats.org/drawingml/2006/main">
              <a:ext uri="{FF2B5EF4-FFF2-40B4-BE49-F238E27FC236}">
                <a16:creationId xmlns:a16="http://schemas.microsoft.com/office/drawing/2014/main" id="{3C0C7564-E7D0-403E-BDC0-D0EF055BD633}"/>
              </a:ext>
            </a:extLst>
          </p:cNvPr>
          <p:cNvSpPr>
            <a:spLocks xmlns:a="http://schemas.openxmlformats.org/drawingml/2006/main" noGrp="1"/>
          </p:cNvSpPr>
          <p:nvPr/>
        </p:nvSpPr>
        <p:spPr>
          <a:xfrm xmlns:a="http://schemas.openxmlformats.org/drawingml/2006/main">
            <a:off x="723900" y="39052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0">
                <a:solidFill>
                  <a:srgbClr val="AABFD2"/>
                </a:solidFill>
              </a:defRPr>
            </a:pPr>
            <a:r>
              <a:rPr sz="1650" b="0">
                <a:solidFill>
                  <a:srgbClr val="AABFD2"/>
                </a:solidFill>
              </a:rPr>
              <a:t>Evidence-first crude-supply resilience</a:t>
            </a:r>
          </a:p>
        </p:txBody>
      </p:sp>
      <p:sp>
        <p:nvSpPr>
          <p:cNvPr id="4" name="chip">
            <a:extLst xmlns:a="http://schemas.openxmlformats.org/drawingml/2006/main">
              <a:ext uri="{FF2B5EF4-FFF2-40B4-BE49-F238E27FC236}">
                <a16:creationId xmlns:a16="http://schemas.microsoft.com/office/drawing/2014/main" id="{8235279B-43BD-4507-B395-B6A5877AA795}"/>
              </a:ext>
            </a:extLst>
          </p:cNvPr>
          <p:cNvSpPr>
            <a:spLocks xmlns:a="http://schemas.openxmlformats.org/drawingml/2006/main" noGrp="1"/>
          </p:cNvSpPr>
          <p:nvPr/>
        </p:nvSpPr>
        <p:spPr>
          <a:xfrm xmlns:a="http://schemas.openxmlformats.org/drawingml/2006/main">
            <a:off x="723900" y="4476750"/>
            <a:ext cx="173355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51E5D6"/>
            </a:solidFill>
            <a:prstDash val="solid"/>
          </a:ln>
        </p:spPr>
        <p:txBody>
          <a:bodyPr xmlns:a="http://schemas.openxmlformats.org/drawingml/2006/main"/>
          <a:lstStyle xmlns:a="http://schemas.openxmlformats.org/drawingml/2006/main"/>
          <a:p xmlns:a="http://schemas.openxmlformats.org/drawingml/2006/main">
            <a:pPr>
              <a:buNone/>
              <a:defRPr sz="900" b="1">
                <a:solidFill>
                  <a:srgbClr val="51E5D6"/>
                </a:solidFill>
              </a:defRPr>
            </a:pPr>
            <a:r>
              <a:rPr sz="900" b="1">
                <a:solidFill>
                  <a:srgbClr val="51E5D6"/>
                </a:solidFill>
              </a:rPr>
              <a:t>ANALYST-CONFIRMED</a:t>
            </a:r>
          </a:p>
        </p:txBody>
      </p:sp>
      <p:sp>
        <p:nvSpPr>
          <p:cNvPr id="5" name="hero-orbit">
            <a:extLst xmlns:a="http://schemas.openxmlformats.org/drawingml/2006/main">
              <a:ext uri="{FF2B5EF4-FFF2-40B4-BE49-F238E27FC236}">
                <a16:creationId xmlns:a16="http://schemas.microsoft.com/office/drawing/2014/main" id="{794D4750-246F-43A5-B3A9-D8274864082E}"/>
              </a:ext>
            </a:extLst>
          </p:cNvPr>
          <p:cNvSpPr>
            <a:spLocks xmlns:a="http://schemas.openxmlformats.org/drawingml/2006/main" noGrp="1"/>
          </p:cNvSpPr>
          <p:nvPr/>
        </p:nvSpPr>
        <p:spPr>
          <a:xfrm xmlns:a="http://schemas.openxmlformats.org/drawingml/2006/main">
            <a:off x="8096250" y="1362075"/>
            <a:ext cx="2381250" cy="2381250"/>
          </a:xfrm>
          <a:prstGeom xmlns:a="http://schemas.openxmlformats.org/drawingml/2006/main" prst="ellipse">
            <a:avLst/>
          </a:prstGeom>
          <a:solidFill xmlns:a="http://schemas.openxmlformats.org/drawingml/2006/main">
            <a:srgbClr val="0E3154"/>
          </a:solidFill>
          <a:ln xmlns:a="http://schemas.openxmlformats.org/drawingml/2006/main" w="9525">
            <a:solidFill>
              <a:srgbClr val="2A78B7"/>
            </a:solidFill>
            <a:prstDash val="solid"/>
          </a:ln>
        </p:spPr>
      </p:sp>
      <p:sp>
        <p:nvSpPr>
          <p:cNvPr id="6" name="hero-core">
            <a:extLst xmlns:a="http://schemas.openxmlformats.org/drawingml/2006/main">
              <a:ext uri="{FF2B5EF4-FFF2-40B4-BE49-F238E27FC236}">
                <a16:creationId xmlns:a16="http://schemas.microsoft.com/office/drawing/2014/main" id="{E87E3923-F5C9-4ADE-9681-02AD3DC93E57}"/>
              </a:ext>
            </a:extLst>
          </p:cNvPr>
          <p:cNvSpPr>
            <a:spLocks xmlns:a="http://schemas.openxmlformats.org/drawingml/2006/main" noGrp="1"/>
          </p:cNvSpPr>
          <p:nvPr/>
        </p:nvSpPr>
        <p:spPr>
          <a:xfrm xmlns:a="http://schemas.openxmlformats.org/drawingml/2006/main">
            <a:off x="8572500" y="1838325"/>
            <a:ext cx="1428750" cy="1428750"/>
          </a:xfrm>
          <a:prstGeom xmlns:a="http://schemas.openxmlformats.org/drawingml/2006/main" prst="ellipse">
            <a:avLst/>
          </a:prstGeom>
          <a:solidFill xmlns:a="http://schemas.openxmlformats.org/drawingml/2006/main">
            <a:srgbClr val="123E66"/>
          </a:solidFill>
          <a:ln xmlns:a="http://schemas.openxmlformats.org/drawingml/2006/main" w="9525">
            <a:solidFill>
              <a:srgbClr val="51E5D6"/>
            </a:solidFill>
            <a:prstDash val="solid"/>
          </a:ln>
        </p:spPr>
      </p:sp>
      <p:sp>
        <p:nvSpPr>
          <p:cNvPr id="7" name="decision">
            <a:extLst xmlns:a="http://schemas.openxmlformats.org/drawingml/2006/main">
              <a:ext uri="{FF2B5EF4-FFF2-40B4-BE49-F238E27FC236}">
                <a16:creationId xmlns:a16="http://schemas.microsoft.com/office/drawing/2014/main" id="{4E59A2CB-0331-48DC-BF5C-84E6CB1837A6}"/>
              </a:ext>
            </a:extLst>
          </p:cNvPr>
          <p:cNvSpPr>
            <a:spLocks xmlns:a="http://schemas.openxmlformats.org/drawingml/2006/main" noGrp="1"/>
          </p:cNvSpPr>
          <p:nvPr/>
        </p:nvSpPr>
        <p:spPr>
          <a:xfrm xmlns:a="http://schemas.openxmlformats.org/drawingml/2006/main">
            <a:off x="8743950" y="2333625"/>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5F8FC"/>
                </a:solidFill>
              </a:defRPr>
            </a:pPr>
            <a:r>
              <a:rPr sz="1350" b="1">
                <a:solidFill>
                  <a:srgbClr val="F5F8FC"/>
                </a:solidFill>
              </a:rPr>
              <a:t>DECISION</a:t>
            </a:r>
          </a:p>
        </p:txBody>
      </p:sp>
      <p:sp>
        <p:nvSpPr>
          <p:cNvPr id="8" name="decision-sub">
            <a:extLst xmlns:a="http://schemas.openxmlformats.org/drawingml/2006/main">
              <a:ext uri="{FF2B5EF4-FFF2-40B4-BE49-F238E27FC236}">
                <a16:creationId xmlns:a16="http://schemas.microsoft.com/office/drawing/2014/main" id="{6A793B60-E66E-4855-8C13-7E994E260D7E}"/>
              </a:ext>
            </a:extLst>
          </p:cNvPr>
          <p:cNvSpPr>
            <a:spLocks xmlns:a="http://schemas.openxmlformats.org/drawingml/2006/main" noGrp="1"/>
          </p:cNvSpPr>
          <p:nvPr/>
        </p:nvSpPr>
        <p:spPr>
          <a:xfrm xmlns:a="http://schemas.openxmlformats.org/drawingml/2006/main">
            <a:off x="8439150" y="2781300"/>
            <a:ext cx="1733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evidence → constraint</a:t>
            </a:r>
          </a:p>
          <a:p xmlns:a="http://schemas.openxmlformats.org/drawingml/2006/main">
            <a:pPr>
              <a:buNone/>
              <a:defRPr sz="1050" b="0">
                <a:solidFill>
                  <a:srgbClr val="AABFD2"/>
                </a:solidFill>
              </a:defRPr>
            </a:pPr>
            <a:r>
              <a:rPr sz="1050" b="0">
                <a:solidFill>
                  <a:srgbClr val="AABFD2"/>
                </a:solidFill>
              </a:rPr>
              <a:t>→ accountable action</a:t>
            </a:r>
          </a:p>
        </p:txBody>
      </p:sp>
      <p:sp>
        <p:nvSpPr>
          <p:cNvPr id="9" name="hero-step">
            <a:extLst xmlns:a="http://schemas.openxmlformats.org/drawingml/2006/main">
              <a:ext uri="{FF2B5EF4-FFF2-40B4-BE49-F238E27FC236}">
                <a16:creationId xmlns:a16="http://schemas.microsoft.com/office/drawing/2014/main" id="{5B516C2D-EC3B-4865-99ED-1360E88C9788}"/>
              </a:ext>
            </a:extLst>
          </p:cNvPr>
          <p:cNvSpPr>
            <a:spLocks xmlns:a="http://schemas.openxmlformats.org/drawingml/2006/main" noGrp="1"/>
          </p:cNvSpPr>
          <p:nvPr/>
        </p:nvSpPr>
        <p:spPr>
          <a:xfrm xmlns:a="http://schemas.openxmlformats.org/drawingml/2006/main">
            <a:off x="7143750" y="4333875"/>
            <a:ext cx="857250" cy="857250"/>
          </a:xfrm>
          <a:prstGeom xmlns:a="http://schemas.openxmlformats.org/drawingml/2006/main" prst="ellipse">
            <a:avLst/>
          </a:prstGeom>
          <a:solidFill xmlns:a="http://schemas.openxmlformats.org/drawingml/2006/main">
            <a:srgbClr val="0D1D31"/>
          </a:solidFill>
          <a:ln xmlns:a="http://schemas.openxmlformats.org/drawingml/2006/main" w="9525">
            <a:solidFill>
              <a:srgbClr val="F58D95"/>
            </a:solidFill>
            <a:prstDash val="solid"/>
          </a:ln>
        </p:spPr>
      </p:sp>
      <p:sp>
        <p:nvSpPr>
          <p:cNvPr id="10" name="hero-step-label">
            <a:extLst xmlns:a="http://schemas.openxmlformats.org/drawingml/2006/main">
              <a:ext uri="{FF2B5EF4-FFF2-40B4-BE49-F238E27FC236}">
                <a16:creationId xmlns:a16="http://schemas.microsoft.com/office/drawing/2014/main" id="{7427E75C-BE91-416F-B3BE-E9B4593E5008}"/>
              </a:ext>
            </a:extLst>
          </p:cNvPr>
          <p:cNvSpPr>
            <a:spLocks xmlns:a="http://schemas.openxmlformats.org/drawingml/2006/main" noGrp="1"/>
          </p:cNvSpPr>
          <p:nvPr/>
        </p:nvSpPr>
        <p:spPr>
          <a:xfrm xmlns:a="http://schemas.openxmlformats.org/drawingml/2006/main">
            <a:off x="7258050" y="46767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F58D95"/>
                </a:solidFill>
              </a:defRPr>
            </a:pPr>
            <a:r>
              <a:rPr sz="900" b="1">
                <a:solidFill>
                  <a:srgbClr val="F58D95"/>
                </a:solidFill>
              </a:rPr>
              <a:t>SOURCE</a:t>
            </a:r>
          </a:p>
        </p:txBody>
      </p:sp>
      <p:sp>
        <p:nvSpPr>
          <p:cNvPr id="11" name="hero-step">
            <a:extLst xmlns:a="http://schemas.openxmlformats.org/drawingml/2006/main">
              <a:ext uri="{FF2B5EF4-FFF2-40B4-BE49-F238E27FC236}">
                <a16:creationId xmlns:a16="http://schemas.microsoft.com/office/drawing/2014/main" id="{0799361A-7A99-4F13-97A6-F61CCAC4CCB4}"/>
              </a:ext>
            </a:extLst>
          </p:cNvPr>
          <p:cNvSpPr>
            <a:spLocks xmlns:a="http://schemas.openxmlformats.org/drawingml/2006/main" noGrp="1"/>
          </p:cNvSpPr>
          <p:nvPr/>
        </p:nvSpPr>
        <p:spPr>
          <a:xfrm xmlns:a="http://schemas.openxmlformats.org/drawingml/2006/main">
            <a:off x="8515350" y="4333875"/>
            <a:ext cx="857250" cy="857250"/>
          </a:xfrm>
          <a:prstGeom xmlns:a="http://schemas.openxmlformats.org/drawingml/2006/main" prst="ellipse">
            <a:avLst/>
          </a:prstGeom>
          <a:solidFill xmlns:a="http://schemas.openxmlformats.org/drawingml/2006/main">
            <a:srgbClr val="0D1D31"/>
          </a:solidFill>
          <a:ln xmlns:a="http://schemas.openxmlformats.org/drawingml/2006/main" w="9525">
            <a:solidFill>
              <a:srgbClr val="FFC56E"/>
            </a:solidFill>
            <a:prstDash val="solid"/>
          </a:ln>
        </p:spPr>
      </p:sp>
      <p:sp>
        <p:nvSpPr>
          <p:cNvPr id="12" name="hero-step-label">
            <a:extLst xmlns:a="http://schemas.openxmlformats.org/drawingml/2006/main">
              <a:ext uri="{FF2B5EF4-FFF2-40B4-BE49-F238E27FC236}">
                <a16:creationId xmlns:a16="http://schemas.microsoft.com/office/drawing/2014/main" id="{917D760C-02F0-41D6-82A6-E6065552C057}"/>
              </a:ext>
            </a:extLst>
          </p:cNvPr>
          <p:cNvSpPr>
            <a:spLocks xmlns:a="http://schemas.openxmlformats.org/drawingml/2006/main" noGrp="1"/>
          </p:cNvSpPr>
          <p:nvPr/>
        </p:nvSpPr>
        <p:spPr>
          <a:xfrm xmlns:a="http://schemas.openxmlformats.org/drawingml/2006/main">
            <a:off x="8629650" y="46767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FFC56E"/>
                </a:solidFill>
              </a:defRPr>
            </a:pPr>
            <a:r>
              <a:rPr sz="900" b="1">
                <a:solidFill>
                  <a:srgbClr val="FFC56E"/>
                </a:solidFill>
              </a:rPr>
              <a:t>IMPACT</a:t>
            </a:r>
          </a:p>
        </p:txBody>
      </p:sp>
      <p:sp>
        <p:nvSpPr>
          <p:cNvPr id="13" name="hero-step">
            <a:extLst xmlns:a="http://schemas.openxmlformats.org/drawingml/2006/main">
              <a:ext uri="{FF2B5EF4-FFF2-40B4-BE49-F238E27FC236}">
                <a16:creationId xmlns:a16="http://schemas.microsoft.com/office/drawing/2014/main" id="{603B95A2-18A6-4CE8-BE93-25DC0F749850}"/>
              </a:ext>
            </a:extLst>
          </p:cNvPr>
          <p:cNvSpPr>
            <a:spLocks xmlns:a="http://schemas.openxmlformats.org/drawingml/2006/main" noGrp="1"/>
          </p:cNvSpPr>
          <p:nvPr/>
        </p:nvSpPr>
        <p:spPr>
          <a:xfrm xmlns:a="http://schemas.openxmlformats.org/drawingml/2006/main">
            <a:off x="9886950" y="4333875"/>
            <a:ext cx="857250" cy="857250"/>
          </a:xfrm>
          <a:prstGeom xmlns:a="http://schemas.openxmlformats.org/drawingml/2006/main" prst="ellipse">
            <a:avLst/>
          </a:prstGeom>
          <a:solidFill xmlns:a="http://schemas.openxmlformats.org/drawingml/2006/main">
            <a:srgbClr val="0D1D31"/>
          </a:solidFill>
          <a:ln xmlns:a="http://schemas.openxmlformats.org/drawingml/2006/main" w="9525">
            <a:solidFill>
              <a:srgbClr val="86E5B6"/>
            </a:solidFill>
            <a:prstDash val="solid"/>
          </a:ln>
        </p:spPr>
      </p:sp>
      <p:sp>
        <p:nvSpPr>
          <p:cNvPr id="14" name="hero-step-label">
            <a:extLst xmlns:a="http://schemas.openxmlformats.org/drawingml/2006/main">
              <a:ext uri="{FF2B5EF4-FFF2-40B4-BE49-F238E27FC236}">
                <a16:creationId xmlns:a16="http://schemas.microsoft.com/office/drawing/2014/main" id="{5E1D4CAD-DEDF-4442-9A48-B2F59400400F}"/>
              </a:ext>
            </a:extLst>
          </p:cNvPr>
          <p:cNvSpPr>
            <a:spLocks xmlns:a="http://schemas.openxmlformats.org/drawingml/2006/main" noGrp="1"/>
          </p:cNvSpPr>
          <p:nvPr/>
        </p:nvSpPr>
        <p:spPr>
          <a:xfrm xmlns:a="http://schemas.openxmlformats.org/drawingml/2006/main">
            <a:off x="10001250" y="46767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86E5B6"/>
                </a:solidFill>
              </a:defRPr>
            </a:pPr>
            <a:r>
              <a:rPr sz="900" b="1">
                <a:solidFill>
                  <a:srgbClr val="86E5B6"/>
                </a:solidFill>
              </a:rPr>
              <a:t>ACTION</a:t>
            </a:r>
          </a:p>
        </p:txBody>
      </p:sp>
      <p:sp>
        <p:nvSpPr>
          <p:cNvPr id="15" name="">
            <a:extLst xmlns:a="http://schemas.openxmlformats.org/drawingml/2006/main">
              <a:ext uri="{FF2B5EF4-FFF2-40B4-BE49-F238E27FC236}">
                <a16:creationId xmlns:a16="http://schemas.microsoft.com/office/drawing/2014/main" id="{C37ADD36-610B-42D5-8D24-9FF1388C3BCF}"/>
              </a:ext>
            </a:extLst>
          </p:cNvPr>
          <p:cNvSpPr>
            <a:spLocks xmlns:a="http://schemas.openxmlformats.org/drawingml/2006/main" noGrp="1"/>
          </p:cNvSpPr>
          <p:nvPr/>
        </p:nvSpPr>
        <p:spPr>
          <a:xfrm xmlns:a="http://schemas.openxmlformats.org/drawingml/2006/main">
            <a:off x="7572375" y="4762500"/>
            <a:ext cx="9048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6" name="">
            <a:extLst xmlns:a="http://schemas.openxmlformats.org/drawingml/2006/main">
              <a:ext uri="{FF2B5EF4-FFF2-40B4-BE49-F238E27FC236}">
                <a16:creationId xmlns:a16="http://schemas.microsoft.com/office/drawing/2014/main" id="{3C47CDF8-58B7-4F2C-AEA1-030686134249}"/>
              </a:ext>
            </a:extLst>
          </p:cNvPr>
          <p:cNvSpPr>
            <a:spLocks xmlns:a="http://schemas.openxmlformats.org/drawingml/2006/main" noGrp="1"/>
          </p:cNvSpPr>
          <p:nvPr/>
        </p:nvSpPr>
        <p:spPr>
          <a:xfrm xmlns:a="http://schemas.openxmlformats.org/drawingml/2006/main">
            <a:off x="8943975" y="4762500"/>
            <a:ext cx="9048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7" name="memorable-line">
            <a:extLst xmlns:a="http://schemas.openxmlformats.org/drawingml/2006/main">
              <a:ext uri="{FF2B5EF4-FFF2-40B4-BE49-F238E27FC236}">
                <a16:creationId xmlns:a16="http://schemas.microsoft.com/office/drawing/2014/main" id="{7CC33C55-211A-46E6-9A75-ABE4B847109B}"/>
              </a:ext>
            </a:extLst>
          </p:cNvPr>
          <p:cNvSpPr>
            <a:spLocks xmlns:a="http://schemas.openxmlformats.org/drawingml/2006/main" noGrp="1"/>
          </p:cNvSpPr>
          <p:nvPr/>
        </p:nvSpPr>
        <p:spPr>
          <a:xfrm xmlns:a="http://schemas.openxmlformats.org/drawingml/2006/main">
            <a:off x="723900" y="535305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66B3FF"/>
                </a:solidFill>
              </a:defRPr>
            </a:pPr>
            <a:r>
              <a:rPr sz="1650" b="1">
                <a:solidFill>
                  <a:srgbClr val="66B3FF"/>
                </a:solidFill>
              </a:rPr>
              <a:t>One case. One safe decision path.</a:t>
            </a:r>
          </a:p>
        </p:txBody>
      </p:sp>
      <p:sp>
        <p:nvSpPr>
          <p:cNvPr id="18" name="">
            <a:extLst xmlns:a="http://schemas.openxmlformats.org/drawingml/2006/main">
              <a:ext uri="{FF2B5EF4-FFF2-40B4-BE49-F238E27FC236}">
                <a16:creationId xmlns:a16="http://schemas.microsoft.com/office/drawing/2014/main" id="{253EC9C0-6D4D-4443-84AA-FB07EED36C5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9" name="footer">
            <a:extLst xmlns:a="http://schemas.openxmlformats.org/drawingml/2006/main">
              <a:ext uri="{FF2B5EF4-FFF2-40B4-BE49-F238E27FC236}">
                <a16:creationId xmlns:a16="http://schemas.microsoft.com/office/drawing/2014/main" id="{207BBEDC-780A-41C9-A044-4DDCF5CE4D4D}"/>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224789139"/>
      </p:ext>
    </p:extLst>
  </p:cSld>
</p:sld>
</file>

<file path=ppt/slides/slide2.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A89BEAD0-87D3-4C46-BE86-88D66BF737C2}"/>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THE CASE</a:t>
            </a:r>
          </a:p>
        </p:txBody>
      </p:sp>
      <p:sp>
        <p:nvSpPr>
          <p:cNvPr id="2" name="slide-number">
            <a:extLst xmlns:a="http://schemas.openxmlformats.org/drawingml/2006/main">
              <a:ext uri="{FF2B5EF4-FFF2-40B4-BE49-F238E27FC236}">
                <a16:creationId xmlns:a16="http://schemas.microsoft.com/office/drawing/2014/main" id="{40C3C442-3D68-4B57-BB38-6546CAF6DDB0}"/>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02</a:t>
            </a:r>
          </a:p>
        </p:txBody>
      </p:sp>
      <p:sp>
        <p:nvSpPr>
          <p:cNvPr id="3" name="title">
            <a:extLst xmlns:a="http://schemas.openxmlformats.org/drawingml/2006/main">
              <a:ext uri="{FF2B5EF4-FFF2-40B4-BE49-F238E27FC236}">
                <a16:creationId xmlns:a16="http://schemas.microsoft.com/office/drawing/2014/main" id="{845AA67C-0944-42F7-A626-B0E718481B3B}"/>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A Hormuz signal opens one decision case.</a:t>
            </a:r>
          </a:p>
        </p:txBody>
      </p:sp>
      <p:sp>
        <p:nvSpPr>
          <p:cNvPr id="4" name="subtitle">
            <a:extLst xmlns:a="http://schemas.openxmlformats.org/drawingml/2006/main">
              <a:ext uri="{FF2B5EF4-FFF2-40B4-BE49-F238E27FC236}">
                <a16:creationId xmlns:a16="http://schemas.microsoft.com/office/drawing/2014/main" id="{F7402E69-75FF-475B-9FE2-B0387DEEBC82}"/>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The replay is source-labelled local context—not live AIS or a current route instruction.</a:t>
            </a:r>
          </a:p>
        </p:txBody>
      </p:sp>
      <p:sp>
        <p:nvSpPr>
          <p:cNvPr id="5" name="metric">
            <a:extLst xmlns:a="http://schemas.openxmlformats.org/drawingml/2006/main">
              <a:ext uri="{FF2B5EF4-FFF2-40B4-BE49-F238E27FC236}">
                <a16:creationId xmlns:a16="http://schemas.microsoft.com/office/drawing/2014/main" id="{7B1DB93F-7450-41A2-9FA4-86DCB5CC94A3}"/>
              </a:ext>
            </a:extLst>
          </p:cNvPr>
          <p:cNvSpPr>
            <a:spLocks xmlns:a="http://schemas.openxmlformats.org/drawingml/2006/main" noGrp="1"/>
          </p:cNvSpPr>
          <p:nvPr/>
        </p:nvSpPr>
        <p:spPr>
          <a:xfrm xmlns:a="http://schemas.openxmlformats.org/drawingml/2006/main">
            <a:off x="685800" y="2809875"/>
            <a:ext cx="3048000" cy="1123950"/>
          </a:xfrm>
          <a:prstGeom xmlns:a="http://schemas.openxmlformats.org/drawingml/2006/main" prst="roundRect">
            <a:avLst>
              <a:gd name="adj" fmla="val 10169"/>
            </a:avLst>
          </a:prstGeom>
          <a:solidFill xmlns:a="http://schemas.openxmlformats.org/drawingml/2006/main">
            <a:srgbClr val="0D1D31"/>
          </a:solidFill>
          <a:ln xmlns:a="http://schemas.openxmlformats.org/drawingml/2006/main" w="9525">
            <a:solidFill>
              <a:srgbClr val="244563"/>
            </a:solidFill>
            <a:prstDash val="solid"/>
          </a:ln>
        </p:spPr>
      </p:sp>
      <p:sp>
        <p:nvSpPr>
          <p:cNvPr id="6" name="metric-value">
            <a:extLst xmlns:a="http://schemas.openxmlformats.org/drawingml/2006/main">
              <a:ext uri="{FF2B5EF4-FFF2-40B4-BE49-F238E27FC236}">
                <a16:creationId xmlns:a16="http://schemas.microsoft.com/office/drawing/2014/main" id="{D296579F-65E9-48D5-A83E-DDEA194EAAB3}"/>
              </a:ext>
            </a:extLst>
          </p:cNvPr>
          <p:cNvSpPr>
            <a:spLocks xmlns:a="http://schemas.openxmlformats.org/drawingml/2006/main" noGrp="1"/>
          </p:cNvSpPr>
          <p:nvPr/>
        </p:nvSpPr>
        <p:spPr>
          <a:xfrm xmlns:a="http://schemas.openxmlformats.org/drawingml/2006/main">
            <a:off x="857250" y="2981325"/>
            <a:ext cx="2705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400" b="1">
                <a:solidFill>
                  <a:srgbClr val="51E5D6"/>
                </a:solidFill>
              </a:defRPr>
            </a:pPr>
            <a:r>
              <a:rPr sz="2400" b="1">
                <a:solidFill>
                  <a:srgbClr val="51E5D6"/>
                </a:solidFill>
              </a:rPr>
              <a:t>88%</a:t>
            </a:r>
          </a:p>
        </p:txBody>
      </p:sp>
      <p:sp>
        <p:nvSpPr>
          <p:cNvPr id="7" name="metric-label">
            <a:extLst xmlns:a="http://schemas.openxmlformats.org/drawingml/2006/main">
              <a:ext uri="{FF2B5EF4-FFF2-40B4-BE49-F238E27FC236}">
                <a16:creationId xmlns:a16="http://schemas.microsoft.com/office/drawing/2014/main" id="{E21C5FF5-450D-4B52-B3FA-0C3A20854C29}"/>
              </a:ext>
            </a:extLst>
          </p:cNvPr>
          <p:cNvSpPr>
            <a:spLocks xmlns:a="http://schemas.openxmlformats.org/drawingml/2006/main" noGrp="1"/>
          </p:cNvSpPr>
          <p:nvPr/>
        </p:nvSpPr>
        <p:spPr>
          <a:xfrm xmlns:a="http://schemas.openxmlformats.org/drawingml/2006/main">
            <a:off x="857250" y="3533775"/>
            <a:ext cx="270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0">
                <a:solidFill>
                  <a:srgbClr val="AABFD2"/>
                </a:solidFill>
              </a:defRPr>
            </a:pPr>
            <a:r>
              <a:rPr sz="1125" b="0">
                <a:solidFill>
                  <a:srgbClr val="AABFD2"/>
                </a:solidFill>
              </a:rPr>
              <a:t>of India’s crude needs are met through imports</a:t>
            </a:r>
          </a:p>
        </p:txBody>
      </p:sp>
      <p:sp>
        <p:nvSpPr>
          <p:cNvPr id="8" name="gap-label">
            <a:extLst xmlns:a="http://schemas.openxmlformats.org/drawingml/2006/main">
              <a:ext uri="{FF2B5EF4-FFF2-40B4-BE49-F238E27FC236}">
                <a16:creationId xmlns:a16="http://schemas.microsoft.com/office/drawing/2014/main" id="{0A1497FF-C14F-46F5-8A25-3090CB18442A}"/>
              </a:ext>
            </a:extLst>
          </p:cNvPr>
          <p:cNvSpPr>
            <a:spLocks xmlns:a="http://schemas.openxmlformats.org/drawingml/2006/main" noGrp="1"/>
          </p:cNvSpPr>
          <p:nvPr/>
        </p:nvSpPr>
        <p:spPr>
          <a:xfrm xmlns:a="http://schemas.openxmlformats.org/drawingml/2006/main">
            <a:off x="4381500" y="27622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AABFD2"/>
                </a:solidFill>
              </a:defRPr>
            </a:pPr>
            <a:r>
              <a:rPr sz="1350" b="1">
                <a:solidFill>
                  <a:srgbClr val="AABFD2"/>
                </a:solidFill>
              </a:rPr>
              <a:t>What the case must resolve</a:t>
            </a:r>
          </a:p>
        </p:txBody>
      </p:sp>
      <p:sp>
        <p:nvSpPr>
          <p:cNvPr id="9" name="problem-step">
            <a:extLst xmlns:a="http://schemas.openxmlformats.org/drawingml/2006/main">
              <a:ext uri="{FF2B5EF4-FFF2-40B4-BE49-F238E27FC236}">
                <a16:creationId xmlns:a16="http://schemas.microsoft.com/office/drawing/2014/main" id="{06E81991-079D-47B5-9B00-54731323D76C}"/>
              </a:ext>
            </a:extLst>
          </p:cNvPr>
          <p:cNvSpPr>
            <a:spLocks xmlns:a="http://schemas.openxmlformats.org/drawingml/2006/main" noGrp="1"/>
          </p:cNvSpPr>
          <p:nvPr/>
        </p:nvSpPr>
        <p:spPr>
          <a:xfrm xmlns:a="http://schemas.openxmlformats.org/drawingml/2006/main">
            <a:off x="4381500" y="3190875"/>
            <a:ext cx="190500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10" name="problem-head">
            <a:extLst xmlns:a="http://schemas.openxmlformats.org/drawingml/2006/main">
              <a:ext uri="{FF2B5EF4-FFF2-40B4-BE49-F238E27FC236}">
                <a16:creationId xmlns:a16="http://schemas.microsoft.com/office/drawing/2014/main" id="{C336A36B-F453-4183-8087-74E1D52BF472}"/>
              </a:ext>
            </a:extLst>
          </p:cNvPr>
          <p:cNvSpPr>
            <a:spLocks xmlns:a="http://schemas.openxmlformats.org/drawingml/2006/main" noGrp="1"/>
          </p:cNvSpPr>
          <p:nvPr/>
        </p:nvSpPr>
        <p:spPr>
          <a:xfrm xmlns:a="http://schemas.openxmlformats.org/drawingml/2006/main">
            <a:off x="4533900" y="3409950"/>
            <a:ext cx="1600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F5F8FC"/>
                </a:solidFill>
              </a:defRPr>
            </a:pPr>
            <a:r>
              <a:rPr sz="1425" b="1">
                <a:solidFill>
                  <a:srgbClr val="F5F8FC"/>
                </a:solidFill>
              </a:rPr>
              <a:t>What happened</a:t>
            </a:r>
          </a:p>
        </p:txBody>
      </p:sp>
      <p:sp>
        <p:nvSpPr>
          <p:cNvPr id="11" name="problem-copy">
            <a:extLst xmlns:a="http://schemas.openxmlformats.org/drawingml/2006/main">
              <a:ext uri="{FF2B5EF4-FFF2-40B4-BE49-F238E27FC236}">
                <a16:creationId xmlns:a16="http://schemas.microsoft.com/office/drawing/2014/main" id="{A008ABEA-D36B-4BE0-8E7F-0EA2410A3015}"/>
              </a:ext>
            </a:extLst>
          </p:cNvPr>
          <p:cNvSpPr>
            <a:spLocks xmlns:a="http://schemas.openxmlformats.org/drawingml/2006/main" noGrp="1"/>
          </p:cNvSpPr>
          <p:nvPr/>
        </p:nvSpPr>
        <p:spPr>
          <a:xfrm xmlns:a="http://schemas.openxmlformats.org/drawingml/2006/main">
            <a:off x="4533900" y="395287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User-entered signal</a:t>
            </a:r>
          </a:p>
        </p:txBody>
      </p:sp>
      <p:sp>
        <p:nvSpPr>
          <p:cNvPr id="12" name="problem-dot">
            <a:extLst xmlns:a="http://schemas.openxmlformats.org/drawingml/2006/main">
              <a:ext uri="{FF2B5EF4-FFF2-40B4-BE49-F238E27FC236}">
                <a16:creationId xmlns:a16="http://schemas.microsoft.com/office/drawing/2014/main" id="{330193B0-F637-422A-8B08-FF6980E8861A}"/>
              </a:ext>
            </a:extLst>
          </p:cNvPr>
          <p:cNvSpPr>
            <a:spLocks xmlns:a="http://schemas.openxmlformats.org/drawingml/2006/main" noGrp="1"/>
          </p:cNvSpPr>
          <p:nvPr/>
        </p:nvSpPr>
        <p:spPr>
          <a:xfrm xmlns:a="http://schemas.openxmlformats.org/drawingml/2006/main">
            <a:off x="4533900" y="4572000"/>
            <a:ext cx="95250" cy="95250"/>
          </a:xfrm>
          <a:prstGeom xmlns:a="http://schemas.openxmlformats.org/drawingml/2006/main" prst="ellipse">
            <a:avLst/>
          </a:prstGeom>
          <a:solidFill xmlns:a="http://schemas.openxmlformats.org/drawingml/2006/main">
            <a:srgbClr val="F58D95"/>
          </a:solidFill>
          <a:ln xmlns:a="http://schemas.openxmlformats.org/drawingml/2006/main" w="9525">
            <a:solidFill>
              <a:srgbClr val="F58D95"/>
            </a:solidFill>
            <a:prstDash val="solid"/>
          </a:ln>
        </p:spPr>
      </p:sp>
      <p:sp>
        <p:nvSpPr>
          <p:cNvPr id="13" name="">
            <a:extLst xmlns:a="http://schemas.openxmlformats.org/drawingml/2006/main">
              <a:ext uri="{FF2B5EF4-FFF2-40B4-BE49-F238E27FC236}">
                <a16:creationId xmlns:a16="http://schemas.microsoft.com/office/drawing/2014/main" id="{83DF6706-396B-47A7-A7C7-492A0140673F}"/>
              </a:ext>
            </a:extLst>
          </p:cNvPr>
          <p:cNvSpPr>
            <a:spLocks xmlns:a="http://schemas.openxmlformats.org/drawingml/2006/main" noGrp="1"/>
          </p:cNvSpPr>
          <p:nvPr/>
        </p:nvSpPr>
        <p:spPr>
          <a:xfrm xmlns:a="http://schemas.openxmlformats.org/drawingml/2006/main">
            <a:off x="6286500" y="3867150"/>
            <a:ext cx="28575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4" name="problem-step">
            <a:extLst xmlns:a="http://schemas.openxmlformats.org/drawingml/2006/main">
              <a:ext uri="{FF2B5EF4-FFF2-40B4-BE49-F238E27FC236}">
                <a16:creationId xmlns:a16="http://schemas.microsoft.com/office/drawing/2014/main" id="{417A5A72-5C21-4D28-9C53-A02D290DFCB0}"/>
              </a:ext>
            </a:extLst>
          </p:cNvPr>
          <p:cNvSpPr>
            <a:spLocks xmlns:a="http://schemas.openxmlformats.org/drawingml/2006/main" noGrp="1"/>
          </p:cNvSpPr>
          <p:nvPr/>
        </p:nvSpPr>
        <p:spPr>
          <a:xfrm xmlns:a="http://schemas.openxmlformats.org/drawingml/2006/main">
            <a:off x="6572250" y="3190875"/>
            <a:ext cx="190500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15" name="problem-head">
            <a:extLst xmlns:a="http://schemas.openxmlformats.org/drawingml/2006/main">
              <a:ext uri="{FF2B5EF4-FFF2-40B4-BE49-F238E27FC236}">
                <a16:creationId xmlns:a16="http://schemas.microsoft.com/office/drawing/2014/main" id="{D92A95D8-7634-423A-A636-7795A76D58B5}"/>
              </a:ext>
            </a:extLst>
          </p:cNvPr>
          <p:cNvSpPr>
            <a:spLocks xmlns:a="http://schemas.openxmlformats.org/drawingml/2006/main" noGrp="1"/>
          </p:cNvSpPr>
          <p:nvPr/>
        </p:nvSpPr>
        <p:spPr>
          <a:xfrm xmlns:a="http://schemas.openxmlformats.org/drawingml/2006/main">
            <a:off x="6724650" y="3409950"/>
            <a:ext cx="1600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F5F8FC"/>
                </a:solidFill>
              </a:defRPr>
            </a:pPr>
            <a:r>
              <a:rPr sz="1425" b="1">
                <a:solidFill>
                  <a:srgbClr val="F5F8FC"/>
                </a:solidFill>
              </a:rPr>
              <a:t>What changes</a:t>
            </a:r>
          </a:p>
        </p:txBody>
      </p:sp>
      <p:sp>
        <p:nvSpPr>
          <p:cNvPr id="16" name="problem-copy">
            <a:extLst xmlns:a="http://schemas.openxmlformats.org/drawingml/2006/main">
              <a:ext uri="{FF2B5EF4-FFF2-40B4-BE49-F238E27FC236}">
                <a16:creationId xmlns:a16="http://schemas.microsoft.com/office/drawing/2014/main" id="{ED2BCD88-9F79-47E9-BE4E-8D4637C252C3}"/>
              </a:ext>
            </a:extLst>
          </p:cNvPr>
          <p:cNvSpPr>
            <a:spLocks xmlns:a="http://schemas.openxmlformats.org/drawingml/2006/main" noGrp="1"/>
          </p:cNvSpPr>
          <p:nvPr/>
        </p:nvSpPr>
        <p:spPr>
          <a:xfrm xmlns:a="http://schemas.openxmlformats.org/drawingml/2006/main">
            <a:off x="6724650" y="395287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Route and supply exposure</a:t>
            </a:r>
          </a:p>
        </p:txBody>
      </p:sp>
      <p:sp>
        <p:nvSpPr>
          <p:cNvPr id="17" name="problem-dot">
            <a:extLst xmlns:a="http://schemas.openxmlformats.org/drawingml/2006/main">
              <a:ext uri="{FF2B5EF4-FFF2-40B4-BE49-F238E27FC236}">
                <a16:creationId xmlns:a16="http://schemas.microsoft.com/office/drawing/2014/main" id="{36E749DD-BF3F-43B9-AB45-83EC8FBEB025}"/>
              </a:ext>
            </a:extLst>
          </p:cNvPr>
          <p:cNvSpPr>
            <a:spLocks xmlns:a="http://schemas.openxmlformats.org/drawingml/2006/main" noGrp="1"/>
          </p:cNvSpPr>
          <p:nvPr/>
        </p:nvSpPr>
        <p:spPr>
          <a:xfrm xmlns:a="http://schemas.openxmlformats.org/drawingml/2006/main">
            <a:off x="6724650" y="4572000"/>
            <a:ext cx="95250" cy="95250"/>
          </a:xfrm>
          <a:prstGeom xmlns:a="http://schemas.openxmlformats.org/drawingml/2006/main" prst="ellipse">
            <a:avLst/>
          </a:prstGeom>
          <a:solidFill xmlns:a="http://schemas.openxmlformats.org/drawingml/2006/main">
            <a:srgbClr val="FFC56E"/>
          </a:solidFill>
          <a:ln xmlns:a="http://schemas.openxmlformats.org/drawingml/2006/main" w="9525">
            <a:solidFill>
              <a:srgbClr val="FFC56E"/>
            </a:solidFill>
            <a:prstDash val="solid"/>
          </a:ln>
        </p:spPr>
      </p:sp>
      <p:sp>
        <p:nvSpPr>
          <p:cNvPr id="18" name="">
            <a:extLst xmlns:a="http://schemas.openxmlformats.org/drawingml/2006/main">
              <a:ext uri="{FF2B5EF4-FFF2-40B4-BE49-F238E27FC236}">
                <a16:creationId xmlns:a16="http://schemas.microsoft.com/office/drawing/2014/main" id="{0DDBB5B6-3C64-4816-8646-401E8143991B}"/>
              </a:ext>
            </a:extLst>
          </p:cNvPr>
          <p:cNvSpPr>
            <a:spLocks xmlns:a="http://schemas.openxmlformats.org/drawingml/2006/main" noGrp="1"/>
          </p:cNvSpPr>
          <p:nvPr/>
        </p:nvSpPr>
        <p:spPr>
          <a:xfrm xmlns:a="http://schemas.openxmlformats.org/drawingml/2006/main">
            <a:off x="8477250" y="3867150"/>
            <a:ext cx="28575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9" name="problem-step">
            <a:extLst xmlns:a="http://schemas.openxmlformats.org/drawingml/2006/main">
              <a:ext uri="{FF2B5EF4-FFF2-40B4-BE49-F238E27FC236}">
                <a16:creationId xmlns:a16="http://schemas.microsoft.com/office/drawing/2014/main" id="{262DF57B-9E64-4DD2-9304-3196EA1137E5}"/>
              </a:ext>
            </a:extLst>
          </p:cNvPr>
          <p:cNvSpPr>
            <a:spLocks xmlns:a="http://schemas.openxmlformats.org/drawingml/2006/main" noGrp="1"/>
          </p:cNvSpPr>
          <p:nvPr/>
        </p:nvSpPr>
        <p:spPr>
          <a:xfrm xmlns:a="http://schemas.openxmlformats.org/drawingml/2006/main">
            <a:off x="8763000" y="3190875"/>
            <a:ext cx="190500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20" name="problem-head">
            <a:extLst xmlns:a="http://schemas.openxmlformats.org/drawingml/2006/main">
              <a:ext uri="{FF2B5EF4-FFF2-40B4-BE49-F238E27FC236}">
                <a16:creationId xmlns:a16="http://schemas.microsoft.com/office/drawing/2014/main" id="{39A51BC0-632D-49E9-B7F8-2064D3DA5D9E}"/>
              </a:ext>
            </a:extLst>
          </p:cNvPr>
          <p:cNvSpPr>
            <a:spLocks xmlns:a="http://schemas.openxmlformats.org/drawingml/2006/main" noGrp="1"/>
          </p:cNvSpPr>
          <p:nvPr/>
        </p:nvSpPr>
        <p:spPr>
          <a:xfrm xmlns:a="http://schemas.openxmlformats.org/drawingml/2006/main">
            <a:off x="8915400" y="3409950"/>
            <a:ext cx="1600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F5F8FC"/>
                </a:solidFill>
              </a:defRPr>
            </a:pPr>
            <a:r>
              <a:rPr sz="1425" b="1">
                <a:solidFill>
                  <a:srgbClr val="F5F8FC"/>
                </a:solidFill>
              </a:rPr>
              <a:t>Decision</a:t>
            </a:r>
          </a:p>
        </p:txBody>
      </p:sp>
      <p:sp>
        <p:nvSpPr>
          <p:cNvPr id="21" name="problem-copy">
            <a:extLst xmlns:a="http://schemas.openxmlformats.org/drawingml/2006/main">
              <a:ext uri="{FF2B5EF4-FFF2-40B4-BE49-F238E27FC236}">
                <a16:creationId xmlns:a16="http://schemas.microsoft.com/office/drawing/2014/main" id="{3F6E02FE-5334-4964-AEB8-1039B078A337}"/>
              </a:ext>
            </a:extLst>
          </p:cNvPr>
          <p:cNvSpPr>
            <a:spLocks xmlns:a="http://schemas.openxmlformats.org/drawingml/2006/main" noGrp="1"/>
          </p:cNvSpPr>
          <p:nvPr/>
        </p:nvSpPr>
        <p:spPr>
          <a:xfrm xmlns:a="http://schemas.openxmlformats.org/drawingml/2006/main">
            <a:off x="8915400" y="3952875"/>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Safe contingency action</a:t>
            </a:r>
          </a:p>
        </p:txBody>
      </p:sp>
      <p:sp>
        <p:nvSpPr>
          <p:cNvPr id="22" name="problem-dot">
            <a:extLst xmlns:a="http://schemas.openxmlformats.org/drawingml/2006/main">
              <a:ext uri="{FF2B5EF4-FFF2-40B4-BE49-F238E27FC236}">
                <a16:creationId xmlns:a16="http://schemas.microsoft.com/office/drawing/2014/main" id="{BCBE6340-7794-4E49-AB02-3C4CF6DDC2B2}"/>
              </a:ext>
            </a:extLst>
          </p:cNvPr>
          <p:cNvSpPr>
            <a:spLocks xmlns:a="http://schemas.openxmlformats.org/drawingml/2006/main" noGrp="1"/>
          </p:cNvSpPr>
          <p:nvPr/>
        </p:nvSpPr>
        <p:spPr>
          <a:xfrm xmlns:a="http://schemas.openxmlformats.org/drawingml/2006/main">
            <a:off x="8915400" y="4572000"/>
            <a:ext cx="95250" cy="95250"/>
          </a:xfrm>
          <a:prstGeom xmlns:a="http://schemas.openxmlformats.org/drawingml/2006/main" prst="ellipse">
            <a:avLst/>
          </a:prstGeom>
          <a:solidFill xmlns:a="http://schemas.openxmlformats.org/drawingml/2006/main">
            <a:srgbClr val="F58D95"/>
          </a:solidFill>
          <a:ln xmlns:a="http://schemas.openxmlformats.org/drawingml/2006/main" w="9525">
            <a:solidFill>
              <a:srgbClr val="F58D95"/>
            </a:solidFill>
            <a:prstDash val="solid"/>
          </a:ln>
        </p:spPr>
      </p:sp>
      <p:sp>
        <p:nvSpPr>
          <p:cNvPr id="23" name="problem-statement">
            <a:extLst xmlns:a="http://schemas.openxmlformats.org/drawingml/2006/main">
              <a:ext uri="{FF2B5EF4-FFF2-40B4-BE49-F238E27FC236}">
                <a16:creationId xmlns:a16="http://schemas.microsoft.com/office/drawing/2014/main" id="{8FD44517-FE98-476A-B646-9415AA07131C}"/>
              </a:ext>
            </a:extLst>
          </p:cNvPr>
          <p:cNvSpPr>
            <a:spLocks xmlns:a="http://schemas.openxmlformats.org/drawingml/2006/main" noGrp="1"/>
          </p:cNvSpPr>
          <p:nvPr/>
        </p:nvSpPr>
        <p:spPr>
          <a:xfrm xmlns:a="http://schemas.openxmlformats.org/drawingml/2006/main">
            <a:off x="685800" y="495300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75" b="1">
                <a:solidFill>
                  <a:srgbClr val="F5F8FC"/>
                </a:solidFill>
              </a:defRPr>
            </a:pPr>
            <a:r>
              <a:rPr sz="1875" b="1">
                <a:solidFill>
                  <a:srgbClr val="F5F8FC"/>
                </a:solidFill>
              </a:rPr>
              <a:t>A case only moves forward when evidence, assumptions, and constraints remain visible.</a:t>
            </a:r>
          </a:p>
        </p:txBody>
      </p:sp>
      <p:sp>
        <p:nvSpPr>
          <p:cNvPr id="24" name="source">
            <a:extLst xmlns:a="http://schemas.openxmlformats.org/drawingml/2006/main">
              <a:ext uri="{FF2B5EF4-FFF2-40B4-BE49-F238E27FC236}">
                <a16:creationId xmlns:a16="http://schemas.microsoft.com/office/drawing/2014/main" id="{EB3B0CC1-E00C-4F3E-A1D2-4FF3E76A525B}"/>
              </a:ext>
            </a:extLst>
          </p:cNvPr>
          <p:cNvSpPr>
            <a:spLocks xmlns:a="http://schemas.openxmlformats.org/drawingml/2006/main" noGrp="1"/>
          </p:cNvSpPr>
          <p:nvPr/>
        </p:nvSpPr>
        <p:spPr>
          <a:xfrm xmlns:a="http://schemas.openxmlformats.org/drawingml/2006/main">
            <a:off x="685800" y="5791200"/>
            <a:ext cx="923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0">
                <a:solidFill>
                  <a:srgbClr val="AABFD2"/>
                </a:solidFill>
              </a:defRPr>
            </a:pPr>
            <a:r>
              <a:rPr sz="900" b="0">
                <a:solidFill>
                  <a:srgbClr val="AABFD2"/>
                </a:solidFill>
              </a:rPr>
              <a:t>Source: official challenge brief. Local replay is explicitly simulated / seeded.</a:t>
            </a:r>
          </a:p>
        </p:txBody>
      </p:sp>
      <p:sp>
        <p:nvSpPr>
          <p:cNvPr id="25" name="">
            <a:extLst xmlns:a="http://schemas.openxmlformats.org/drawingml/2006/main">
              <a:ext uri="{FF2B5EF4-FFF2-40B4-BE49-F238E27FC236}">
                <a16:creationId xmlns:a16="http://schemas.microsoft.com/office/drawing/2014/main" id="{43CBCBE0-AEF9-437D-B2E8-2C79826B352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6" name="footer">
            <a:extLst xmlns:a="http://schemas.openxmlformats.org/drawingml/2006/main">
              <a:ext uri="{FF2B5EF4-FFF2-40B4-BE49-F238E27FC236}">
                <a16:creationId xmlns:a16="http://schemas.microsoft.com/office/drawing/2014/main" id="{929D7559-845D-4330-BFAF-EF1FB95A2A27}"/>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507422993"/>
      </p:ext>
    </p:extLst>
  </p:cSld>
</p:sld>
</file>

<file path=ppt/slides/slide3.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5" name="eyebrow">
            <a:extLst xmlns:a="http://schemas.openxmlformats.org/drawingml/2006/main">
              <a:ext uri="{FF2B5EF4-FFF2-40B4-BE49-F238E27FC236}">
                <a16:creationId xmlns:a16="http://schemas.microsoft.com/office/drawing/2014/main" id="{346274D0-9D71-4660-9A0A-58BE0B05B267}"/>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EVIDENCE → REVIEW</a:t>
            </a:r>
          </a:p>
        </p:txBody>
      </p:sp>
      <p:sp>
        <p:nvSpPr>
          <p:cNvPr id="2" name="slide-number">
            <a:extLst xmlns:a="http://schemas.openxmlformats.org/drawingml/2006/main">
              <a:ext uri="{FF2B5EF4-FFF2-40B4-BE49-F238E27FC236}">
                <a16:creationId xmlns:a16="http://schemas.microsoft.com/office/drawing/2014/main" id="{F014EB94-FE76-4BBA-9F6B-BDDEA509AB8C}"/>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03</a:t>
            </a:r>
          </a:p>
        </p:txBody>
      </p:sp>
      <p:sp>
        <p:nvSpPr>
          <p:cNvPr id="3" name="title">
            <a:extLst xmlns:a="http://schemas.openxmlformats.org/drawingml/2006/main">
              <a:ext uri="{FF2B5EF4-FFF2-40B4-BE49-F238E27FC236}">
                <a16:creationId xmlns:a16="http://schemas.microsoft.com/office/drawing/2014/main" id="{3BDC9CE2-0C75-449F-B0C5-94CFD6F5AC0C}"/>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The system structures a signal; it does not promote it to fact.</a:t>
            </a:r>
          </a:p>
        </p:txBody>
      </p:sp>
      <p:sp>
        <p:nvSpPr>
          <p:cNvPr id="4" name="subtitle">
            <a:extLst xmlns:a="http://schemas.openxmlformats.org/drawingml/2006/main">
              <a:ext uri="{FF2B5EF4-FFF2-40B4-BE49-F238E27FC236}">
                <a16:creationId xmlns:a16="http://schemas.microsoft.com/office/drawing/2014/main" id="{EE2E26BA-E0E0-44AC-B3EB-EF2452ED9FFF}"/>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Raw text, source status, confidence, unknowns, and entity matches stay visible before modelling.</a:t>
            </a:r>
          </a:p>
        </p:txBody>
      </p:sp>
      <p:sp>
        <p:nvSpPr>
          <p:cNvPr id="5" name="generic-tools">
            <a:extLst xmlns:a="http://schemas.openxmlformats.org/drawingml/2006/main">
              <a:ext uri="{FF2B5EF4-FFF2-40B4-BE49-F238E27FC236}">
                <a16:creationId xmlns:a16="http://schemas.microsoft.com/office/drawing/2014/main" id="{E1E8FF89-047D-4CEF-BEA5-2CB3B2FD35A7}"/>
              </a:ext>
            </a:extLst>
          </p:cNvPr>
          <p:cNvSpPr>
            <a:spLocks xmlns:a="http://schemas.openxmlformats.org/drawingml/2006/main" noGrp="1"/>
          </p:cNvSpPr>
          <p:nvPr/>
        </p:nvSpPr>
        <p:spPr>
          <a:xfrm xmlns:a="http://schemas.openxmlformats.org/drawingml/2006/main">
            <a:off x="685800" y="2800350"/>
            <a:ext cx="4495800" cy="2571750"/>
          </a:xfrm>
          <a:prstGeom xmlns:a="http://schemas.openxmlformats.org/drawingml/2006/main" prst="roundRect">
            <a:avLst>
              <a:gd name="adj" fmla="val 4444"/>
            </a:avLst>
          </a:prstGeom>
          <a:solidFill xmlns:a="http://schemas.openxmlformats.org/drawingml/2006/main">
            <a:srgbClr val="0D1D31"/>
          </a:solidFill>
          <a:ln xmlns:a="http://schemas.openxmlformats.org/drawingml/2006/main" w="9525">
            <a:solidFill>
              <a:srgbClr val="244563"/>
            </a:solidFill>
            <a:prstDash val="solid"/>
          </a:ln>
        </p:spPr>
      </p:sp>
      <p:sp>
        <p:nvSpPr>
          <p:cNvPr id="6" name="generic-label">
            <a:extLst xmlns:a="http://schemas.openxmlformats.org/drawingml/2006/main">
              <a:ext uri="{FF2B5EF4-FFF2-40B4-BE49-F238E27FC236}">
                <a16:creationId xmlns:a16="http://schemas.microsoft.com/office/drawing/2014/main" id="{BB1E511C-D8C9-4972-A118-593EA3CFFFEF}"/>
              </a:ext>
            </a:extLst>
          </p:cNvPr>
          <p:cNvSpPr>
            <a:spLocks xmlns:a="http://schemas.openxmlformats.org/drawingml/2006/main" noGrp="1"/>
          </p:cNvSpPr>
          <p:nvPr/>
        </p:nvSpPr>
        <p:spPr>
          <a:xfrm xmlns:a="http://schemas.openxmlformats.org/drawingml/2006/main">
            <a:off x="933450" y="30480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RAW INPUT</a:t>
            </a:r>
          </a:p>
        </p:txBody>
      </p:sp>
      <p:sp>
        <p:nvSpPr>
          <p:cNvPr id="7" name="generic-flow">
            <a:extLst xmlns:a="http://schemas.openxmlformats.org/drawingml/2006/main">
              <a:ext uri="{FF2B5EF4-FFF2-40B4-BE49-F238E27FC236}">
                <a16:creationId xmlns:a16="http://schemas.microsoft.com/office/drawing/2014/main" id="{04FD467D-9496-4C46-B609-A61C9421F012}"/>
              </a:ext>
            </a:extLst>
          </p:cNvPr>
          <p:cNvSpPr>
            <a:spLocks xmlns:a="http://schemas.openxmlformats.org/drawingml/2006/main" noGrp="1"/>
          </p:cNvSpPr>
          <p:nvPr/>
        </p:nvSpPr>
        <p:spPr>
          <a:xfrm xmlns:a="http://schemas.openxmlformats.org/drawingml/2006/main">
            <a:off x="933450" y="3476625"/>
            <a:ext cx="2667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025" b="1">
                <a:solidFill>
                  <a:srgbClr val="F5F8FC"/>
                </a:solidFill>
              </a:defRPr>
            </a:pPr>
            <a:r>
              <a:rPr sz="2025" b="1">
                <a:solidFill>
                  <a:srgbClr val="F5F8FC"/>
                </a:solidFill>
              </a:rPr>
              <a:t>User-entered signal</a:t>
            </a:r>
          </a:p>
          <a:p xmlns:a="http://schemas.openxmlformats.org/drawingml/2006/main">
            <a:pPr>
              <a:buNone/>
              <a:defRPr sz="2025" b="1">
                <a:solidFill>
                  <a:srgbClr val="F5F8FC"/>
                </a:solidFill>
              </a:defRPr>
            </a:pPr>
            <a:r>
              <a:rPr sz="2025" b="1">
                <a:solidFill>
                  <a:srgbClr val="F5F8FC"/>
                </a:solidFill>
              </a:rPr>
              <a:t>↓</a:t>
            </a:r>
          </a:p>
          <a:p xmlns:a="http://schemas.openxmlformats.org/drawingml/2006/main">
            <a:pPr>
              <a:buNone/>
              <a:defRPr sz="2025" b="1">
                <a:solidFill>
                  <a:srgbClr val="F5F8FC"/>
                </a:solidFill>
              </a:defRPr>
            </a:pPr>
            <a:r>
              <a:rPr sz="2025" b="1">
                <a:solidFill>
                  <a:srgbClr val="F5F8FC"/>
                </a:solidFill>
              </a:rPr>
              <a:t>Unverified evidence</a:t>
            </a:r>
          </a:p>
        </p:txBody>
      </p:sp>
      <p:sp>
        <p:nvSpPr>
          <p:cNvPr id="8" name="petravigil-insight">
            <a:extLst xmlns:a="http://schemas.openxmlformats.org/drawingml/2006/main">
              <a:ext uri="{FF2B5EF4-FFF2-40B4-BE49-F238E27FC236}">
                <a16:creationId xmlns:a16="http://schemas.microsoft.com/office/drawing/2014/main" id="{70D04B9D-090F-420B-935A-93B901965A89}"/>
              </a:ext>
            </a:extLst>
          </p:cNvPr>
          <p:cNvSpPr>
            <a:spLocks xmlns:a="http://schemas.openxmlformats.org/drawingml/2006/main" noGrp="1"/>
          </p:cNvSpPr>
          <p:nvPr/>
        </p:nvSpPr>
        <p:spPr>
          <a:xfrm xmlns:a="http://schemas.openxmlformats.org/drawingml/2006/main">
            <a:off x="5715000" y="2800350"/>
            <a:ext cx="5791200" cy="2571750"/>
          </a:xfrm>
          <a:prstGeom xmlns:a="http://schemas.openxmlformats.org/drawingml/2006/main" prst="roundRect">
            <a:avLst>
              <a:gd name="adj" fmla="val 4444"/>
            </a:avLst>
          </a:prstGeom>
          <a:solidFill xmlns:a="http://schemas.openxmlformats.org/drawingml/2006/main">
            <a:srgbClr val="102B47"/>
          </a:solidFill>
          <a:ln xmlns:a="http://schemas.openxmlformats.org/drawingml/2006/main" w="9525">
            <a:solidFill>
              <a:srgbClr val="66B3FF"/>
            </a:solidFill>
            <a:prstDash val="solid"/>
          </a:ln>
        </p:spPr>
      </p:sp>
      <p:sp>
        <p:nvSpPr>
          <p:cNvPr id="9" name="pv-label">
            <a:extLst xmlns:a="http://schemas.openxmlformats.org/drawingml/2006/main">
              <a:ext uri="{FF2B5EF4-FFF2-40B4-BE49-F238E27FC236}">
                <a16:creationId xmlns:a16="http://schemas.microsoft.com/office/drawing/2014/main" id="{EE7A1E41-1B2B-422B-972F-B3FABF561A64}"/>
              </a:ext>
            </a:extLst>
          </p:cNvPr>
          <p:cNvSpPr>
            <a:spLocks xmlns:a="http://schemas.openxmlformats.org/drawingml/2006/main" noGrp="1"/>
          </p:cNvSpPr>
          <p:nvPr/>
        </p:nvSpPr>
        <p:spPr>
          <a:xfrm xmlns:a="http://schemas.openxmlformats.org/drawingml/2006/main">
            <a:off x="5981700" y="30480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ANALYST REVIEW</a:t>
            </a:r>
          </a:p>
        </p:txBody>
      </p:sp>
      <p:sp>
        <p:nvSpPr>
          <p:cNvPr id="10" name="check-circle">
            <a:extLst xmlns:a="http://schemas.openxmlformats.org/drawingml/2006/main">
              <a:ext uri="{FF2B5EF4-FFF2-40B4-BE49-F238E27FC236}">
                <a16:creationId xmlns:a16="http://schemas.microsoft.com/office/drawing/2014/main" id="{24183EE5-EB1A-4843-B45E-E7ADB3376081}"/>
              </a:ext>
            </a:extLst>
          </p:cNvPr>
          <p:cNvSpPr>
            <a:spLocks xmlns:a="http://schemas.openxmlformats.org/drawingml/2006/main" noGrp="1"/>
          </p:cNvSpPr>
          <p:nvPr/>
        </p:nvSpPr>
        <p:spPr>
          <a:xfrm xmlns:a="http://schemas.openxmlformats.org/drawingml/2006/main">
            <a:off x="5981700" y="3476625"/>
            <a:ext cx="323850" cy="323850"/>
          </a:xfrm>
          <a:prstGeom xmlns:a="http://schemas.openxmlformats.org/drawingml/2006/main" prst="ellipse">
            <a:avLst/>
          </a:prstGeom>
          <a:solidFill xmlns:a="http://schemas.openxmlformats.org/drawingml/2006/main">
            <a:srgbClr val="F58D95"/>
          </a:solidFill>
          <a:ln xmlns:a="http://schemas.openxmlformats.org/drawingml/2006/main" w="9525">
            <a:solidFill>
              <a:srgbClr val="F58D95"/>
            </a:solidFill>
            <a:prstDash val="solid"/>
          </a:ln>
        </p:spPr>
      </p:sp>
      <p:sp>
        <p:nvSpPr>
          <p:cNvPr id="11" name="check-num">
            <a:extLst xmlns:a="http://schemas.openxmlformats.org/drawingml/2006/main">
              <a:ext uri="{FF2B5EF4-FFF2-40B4-BE49-F238E27FC236}">
                <a16:creationId xmlns:a16="http://schemas.microsoft.com/office/drawing/2014/main" id="{24E28809-39D6-4EFF-8CDA-82F06483274B}"/>
              </a:ext>
            </a:extLst>
          </p:cNvPr>
          <p:cNvSpPr>
            <a:spLocks xmlns:a="http://schemas.openxmlformats.org/drawingml/2006/main" noGrp="1"/>
          </p:cNvSpPr>
          <p:nvPr/>
        </p:nvSpPr>
        <p:spPr>
          <a:xfrm xmlns:a="http://schemas.openxmlformats.org/drawingml/2006/main">
            <a:off x="6086475" y="3552825"/>
            <a:ext cx="123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07111F"/>
                </a:solidFill>
              </a:defRPr>
            </a:pPr>
            <a:r>
              <a:rPr sz="975" b="1">
                <a:solidFill>
                  <a:srgbClr val="07111F"/>
                </a:solidFill>
              </a:rPr>
              <a:t>1</a:t>
            </a:r>
          </a:p>
        </p:txBody>
      </p:sp>
      <p:sp>
        <p:nvSpPr>
          <p:cNvPr id="12" name="check-label">
            <a:extLst xmlns:a="http://schemas.openxmlformats.org/drawingml/2006/main">
              <a:ext uri="{FF2B5EF4-FFF2-40B4-BE49-F238E27FC236}">
                <a16:creationId xmlns:a16="http://schemas.microsoft.com/office/drawing/2014/main" id="{BEF3680D-8AEF-4391-BAAA-DE1F5D72C335}"/>
              </a:ext>
            </a:extLst>
          </p:cNvPr>
          <p:cNvSpPr>
            <a:spLocks xmlns:a="http://schemas.openxmlformats.org/drawingml/2006/main" noGrp="1"/>
          </p:cNvSpPr>
          <p:nvPr/>
        </p:nvSpPr>
        <p:spPr>
          <a:xfrm xmlns:a="http://schemas.openxmlformats.org/drawingml/2006/main">
            <a:off x="6457950" y="35528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Source status</a:t>
            </a:r>
          </a:p>
        </p:txBody>
      </p:sp>
      <p:sp>
        <p:nvSpPr>
          <p:cNvPr id="13" name="check-circle">
            <a:extLst xmlns:a="http://schemas.openxmlformats.org/drawingml/2006/main">
              <a:ext uri="{FF2B5EF4-FFF2-40B4-BE49-F238E27FC236}">
                <a16:creationId xmlns:a16="http://schemas.microsoft.com/office/drawing/2014/main" id="{8CEE2C24-648F-4DC2-A514-845DE0889DD6}"/>
              </a:ext>
            </a:extLst>
          </p:cNvPr>
          <p:cNvSpPr>
            <a:spLocks xmlns:a="http://schemas.openxmlformats.org/drawingml/2006/main" noGrp="1"/>
          </p:cNvSpPr>
          <p:nvPr/>
        </p:nvSpPr>
        <p:spPr>
          <a:xfrm xmlns:a="http://schemas.openxmlformats.org/drawingml/2006/main">
            <a:off x="8553450" y="3476625"/>
            <a:ext cx="323850" cy="323850"/>
          </a:xfrm>
          <a:prstGeom xmlns:a="http://schemas.openxmlformats.org/drawingml/2006/main" prst="ellipse">
            <a:avLst/>
          </a:prstGeom>
          <a:solidFill xmlns:a="http://schemas.openxmlformats.org/drawingml/2006/main">
            <a:srgbClr val="FFC56E"/>
          </a:solidFill>
          <a:ln xmlns:a="http://schemas.openxmlformats.org/drawingml/2006/main" w="9525">
            <a:solidFill>
              <a:srgbClr val="FFC56E"/>
            </a:solidFill>
            <a:prstDash val="solid"/>
          </a:ln>
        </p:spPr>
      </p:sp>
      <p:sp>
        <p:nvSpPr>
          <p:cNvPr id="14" name="check-num">
            <a:extLst xmlns:a="http://schemas.openxmlformats.org/drawingml/2006/main">
              <a:ext uri="{FF2B5EF4-FFF2-40B4-BE49-F238E27FC236}">
                <a16:creationId xmlns:a16="http://schemas.microsoft.com/office/drawing/2014/main" id="{1F767055-1FA3-4585-BB11-CA57C6144497}"/>
              </a:ext>
            </a:extLst>
          </p:cNvPr>
          <p:cNvSpPr>
            <a:spLocks xmlns:a="http://schemas.openxmlformats.org/drawingml/2006/main" noGrp="1"/>
          </p:cNvSpPr>
          <p:nvPr/>
        </p:nvSpPr>
        <p:spPr>
          <a:xfrm xmlns:a="http://schemas.openxmlformats.org/drawingml/2006/main">
            <a:off x="8658225" y="3552825"/>
            <a:ext cx="123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07111F"/>
                </a:solidFill>
              </a:defRPr>
            </a:pPr>
            <a:r>
              <a:rPr sz="975" b="1">
                <a:solidFill>
                  <a:srgbClr val="07111F"/>
                </a:solidFill>
              </a:rPr>
              <a:t>2</a:t>
            </a:r>
          </a:p>
        </p:txBody>
      </p:sp>
      <p:sp>
        <p:nvSpPr>
          <p:cNvPr id="15" name="check-label">
            <a:extLst xmlns:a="http://schemas.openxmlformats.org/drawingml/2006/main">
              <a:ext uri="{FF2B5EF4-FFF2-40B4-BE49-F238E27FC236}">
                <a16:creationId xmlns:a16="http://schemas.microsoft.com/office/drawing/2014/main" id="{6401179A-B47C-43BE-99F4-8063BF02DC7A}"/>
              </a:ext>
            </a:extLst>
          </p:cNvPr>
          <p:cNvSpPr>
            <a:spLocks xmlns:a="http://schemas.openxmlformats.org/drawingml/2006/main" noGrp="1"/>
          </p:cNvSpPr>
          <p:nvPr/>
        </p:nvSpPr>
        <p:spPr>
          <a:xfrm xmlns:a="http://schemas.openxmlformats.org/drawingml/2006/main">
            <a:off x="9029700" y="35528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Entity match</a:t>
            </a:r>
          </a:p>
        </p:txBody>
      </p:sp>
      <p:sp>
        <p:nvSpPr>
          <p:cNvPr id="16" name="check-circle">
            <a:extLst xmlns:a="http://schemas.openxmlformats.org/drawingml/2006/main">
              <a:ext uri="{FF2B5EF4-FFF2-40B4-BE49-F238E27FC236}">
                <a16:creationId xmlns:a16="http://schemas.microsoft.com/office/drawing/2014/main" id="{C875B0CB-68B2-4048-B3B9-EE05853CDB38}"/>
              </a:ext>
            </a:extLst>
          </p:cNvPr>
          <p:cNvSpPr>
            <a:spLocks xmlns:a="http://schemas.openxmlformats.org/drawingml/2006/main" noGrp="1"/>
          </p:cNvSpPr>
          <p:nvPr/>
        </p:nvSpPr>
        <p:spPr>
          <a:xfrm xmlns:a="http://schemas.openxmlformats.org/drawingml/2006/main">
            <a:off x="5981700" y="4295775"/>
            <a:ext cx="323850" cy="323850"/>
          </a:xfrm>
          <a:prstGeom xmlns:a="http://schemas.openxmlformats.org/drawingml/2006/main" prst="ellipse">
            <a:avLst/>
          </a:prstGeom>
          <a:solidFill xmlns:a="http://schemas.openxmlformats.org/drawingml/2006/main">
            <a:srgbClr val="66B3FF"/>
          </a:solidFill>
          <a:ln xmlns:a="http://schemas.openxmlformats.org/drawingml/2006/main" w="9525">
            <a:solidFill>
              <a:srgbClr val="66B3FF"/>
            </a:solidFill>
            <a:prstDash val="solid"/>
          </a:ln>
        </p:spPr>
      </p:sp>
      <p:sp>
        <p:nvSpPr>
          <p:cNvPr id="17" name="check-num">
            <a:extLst xmlns:a="http://schemas.openxmlformats.org/drawingml/2006/main">
              <a:ext uri="{FF2B5EF4-FFF2-40B4-BE49-F238E27FC236}">
                <a16:creationId xmlns:a16="http://schemas.microsoft.com/office/drawing/2014/main" id="{8B12C345-FD67-4010-8EEF-B475E7B91681}"/>
              </a:ext>
            </a:extLst>
          </p:cNvPr>
          <p:cNvSpPr>
            <a:spLocks xmlns:a="http://schemas.openxmlformats.org/drawingml/2006/main" noGrp="1"/>
          </p:cNvSpPr>
          <p:nvPr/>
        </p:nvSpPr>
        <p:spPr>
          <a:xfrm xmlns:a="http://schemas.openxmlformats.org/drawingml/2006/main">
            <a:off x="6086475" y="4371975"/>
            <a:ext cx="123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07111F"/>
                </a:solidFill>
              </a:defRPr>
            </a:pPr>
            <a:r>
              <a:rPr sz="975" b="1">
                <a:solidFill>
                  <a:srgbClr val="07111F"/>
                </a:solidFill>
              </a:rPr>
              <a:t>3</a:t>
            </a:r>
          </a:p>
        </p:txBody>
      </p:sp>
      <p:sp>
        <p:nvSpPr>
          <p:cNvPr id="18" name="check-label">
            <a:extLst xmlns:a="http://schemas.openxmlformats.org/drawingml/2006/main">
              <a:ext uri="{FF2B5EF4-FFF2-40B4-BE49-F238E27FC236}">
                <a16:creationId xmlns:a16="http://schemas.microsoft.com/office/drawing/2014/main" id="{1E5A4E9D-168C-42A3-9156-D8E897348AEE}"/>
              </a:ext>
            </a:extLst>
          </p:cNvPr>
          <p:cNvSpPr>
            <a:spLocks xmlns:a="http://schemas.openxmlformats.org/drawingml/2006/main" noGrp="1"/>
          </p:cNvSpPr>
          <p:nvPr/>
        </p:nvSpPr>
        <p:spPr>
          <a:xfrm xmlns:a="http://schemas.openxmlformats.org/drawingml/2006/main">
            <a:off x="6457950" y="437197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Confidence</a:t>
            </a:r>
          </a:p>
        </p:txBody>
      </p:sp>
      <p:sp>
        <p:nvSpPr>
          <p:cNvPr id="19" name="check-circle">
            <a:extLst xmlns:a="http://schemas.openxmlformats.org/drawingml/2006/main">
              <a:ext uri="{FF2B5EF4-FFF2-40B4-BE49-F238E27FC236}">
                <a16:creationId xmlns:a16="http://schemas.microsoft.com/office/drawing/2014/main" id="{398F1746-7DE4-4447-8647-9CD8B3A3B093}"/>
              </a:ext>
            </a:extLst>
          </p:cNvPr>
          <p:cNvSpPr>
            <a:spLocks xmlns:a="http://schemas.openxmlformats.org/drawingml/2006/main" noGrp="1"/>
          </p:cNvSpPr>
          <p:nvPr/>
        </p:nvSpPr>
        <p:spPr>
          <a:xfrm xmlns:a="http://schemas.openxmlformats.org/drawingml/2006/main">
            <a:off x="8553450" y="4295775"/>
            <a:ext cx="323850" cy="323850"/>
          </a:xfrm>
          <a:prstGeom xmlns:a="http://schemas.openxmlformats.org/drawingml/2006/main" prst="ellipse">
            <a:avLst/>
          </a:prstGeom>
          <a:solidFill xmlns:a="http://schemas.openxmlformats.org/drawingml/2006/main">
            <a:srgbClr val="86E5B6"/>
          </a:solidFill>
          <a:ln xmlns:a="http://schemas.openxmlformats.org/drawingml/2006/main" w="9525">
            <a:solidFill>
              <a:srgbClr val="86E5B6"/>
            </a:solidFill>
            <a:prstDash val="solid"/>
          </a:ln>
        </p:spPr>
      </p:sp>
      <p:sp>
        <p:nvSpPr>
          <p:cNvPr id="20" name="check-num">
            <a:extLst xmlns:a="http://schemas.openxmlformats.org/drawingml/2006/main">
              <a:ext uri="{FF2B5EF4-FFF2-40B4-BE49-F238E27FC236}">
                <a16:creationId xmlns:a16="http://schemas.microsoft.com/office/drawing/2014/main" id="{46854E54-84EC-42E5-B903-D0FB5AA50D5A}"/>
              </a:ext>
            </a:extLst>
          </p:cNvPr>
          <p:cNvSpPr>
            <a:spLocks xmlns:a="http://schemas.openxmlformats.org/drawingml/2006/main" noGrp="1"/>
          </p:cNvSpPr>
          <p:nvPr/>
        </p:nvSpPr>
        <p:spPr>
          <a:xfrm xmlns:a="http://schemas.openxmlformats.org/drawingml/2006/main">
            <a:off x="8658225" y="4371975"/>
            <a:ext cx="123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07111F"/>
                </a:solidFill>
              </a:defRPr>
            </a:pPr>
            <a:r>
              <a:rPr sz="975" b="1">
                <a:solidFill>
                  <a:srgbClr val="07111F"/>
                </a:solidFill>
              </a:rPr>
              <a:t>4</a:t>
            </a:r>
          </a:p>
        </p:txBody>
      </p:sp>
      <p:sp>
        <p:nvSpPr>
          <p:cNvPr id="21" name="check-label">
            <a:extLst xmlns:a="http://schemas.openxmlformats.org/drawingml/2006/main">
              <a:ext uri="{FF2B5EF4-FFF2-40B4-BE49-F238E27FC236}">
                <a16:creationId xmlns:a16="http://schemas.microsoft.com/office/drawing/2014/main" id="{352BA5A1-CC39-4AE5-8ECE-4C30AC37976D}"/>
              </a:ext>
            </a:extLst>
          </p:cNvPr>
          <p:cNvSpPr>
            <a:spLocks xmlns:a="http://schemas.openxmlformats.org/drawingml/2006/main" noGrp="1"/>
          </p:cNvSpPr>
          <p:nvPr/>
        </p:nvSpPr>
        <p:spPr>
          <a:xfrm xmlns:a="http://schemas.openxmlformats.org/drawingml/2006/main">
            <a:off x="9029700" y="437197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Unknowns</a:t>
            </a:r>
          </a:p>
        </p:txBody>
      </p:sp>
      <p:sp>
        <p:nvSpPr>
          <p:cNvPr id="22" name="insight-conclusion">
            <a:extLst xmlns:a="http://schemas.openxmlformats.org/drawingml/2006/main">
              <a:ext uri="{FF2B5EF4-FFF2-40B4-BE49-F238E27FC236}">
                <a16:creationId xmlns:a16="http://schemas.microsoft.com/office/drawing/2014/main" id="{79748169-70EF-48B8-8366-900C6346AFDF}"/>
              </a:ext>
            </a:extLst>
          </p:cNvPr>
          <p:cNvSpPr>
            <a:spLocks xmlns:a="http://schemas.openxmlformats.org/drawingml/2006/main" noGrp="1"/>
          </p:cNvSpPr>
          <p:nvPr/>
        </p:nvSpPr>
        <p:spPr>
          <a:xfrm xmlns:a="http://schemas.openxmlformats.org/drawingml/2006/main">
            <a:off x="685800" y="5715000"/>
            <a:ext cx="962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F5F8FC"/>
                </a:solidFill>
              </a:defRPr>
            </a:pPr>
            <a:r>
              <a:rPr sz="1725" b="1">
                <a:solidFill>
                  <a:srgbClr val="F5F8FC"/>
                </a:solidFill>
              </a:rPr>
              <a:t>A recommendation begins with a reviewable claim—not an AI conclusion.</a:t>
            </a:r>
          </a:p>
        </p:txBody>
      </p:sp>
      <p:sp>
        <p:nvSpPr>
          <p:cNvPr id="23" name="">
            <a:extLst xmlns:a="http://schemas.openxmlformats.org/drawingml/2006/main">
              <a:ext uri="{FF2B5EF4-FFF2-40B4-BE49-F238E27FC236}">
                <a16:creationId xmlns:a16="http://schemas.microsoft.com/office/drawing/2014/main" id="{3733E773-9DE8-4D6A-AE7E-C4B8988B7E3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4" name="footer">
            <a:extLst xmlns:a="http://schemas.openxmlformats.org/drawingml/2006/main">
              <a:ext uri="{FF2B5EF4-FFF2-40B4-BE49-F238E27FC236}">
                <a16:creationId xmlns:a16="http://schemas.microsoft.com/office/drawing/2014/main" id="{3C0D2481-4A28-489D-A8E1-7721ADC9203C}"/>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511773843"/>
      </p:ext>
    </p:extLst>
  </p:cSld>
</p:sld>
</file>

<file path=ppt/slides/slide4.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9" name="eyebrow">
            <a:extLst xmlns:a="http://schemas.openxmlformats.org/drawingml/2006/main">
              <a:ext uri="{FF2B5EF4-FFF2-40B4-BE49-F238E27FC236}">
                <a16:creationId xmlns:a16="http://schemas.microsoft.com/office/drawing/2014/main" id="{5ADAA447-FCA8-480A-A184-3ECA94B2E999}"/>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THE CANONICAL CASE</a:t>
            </a:r>
          </a:p>
        </p:txBody>
      </p:sp>
      <p:sp>
        <p:nvSpPr>
          <p:cNvPr id="2" name="slide-number">
            <a:extLst xmlns:a="http://schemas.openxmlformats.org/drawingml/2006/main">
              <a:ext uri="{FF2B5EF4-FFF2-40B4-BE49-F238E27FC236}">
                <a16:creationId xmlns:a16="http://schemas.microsoft.com/office/drawing/2014/main" id="{778BCA74-E788-4DAC-AF73-7136D0A5F4EE}"/>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04</a:t>
            </a:r>
          </a:p>
        </p:txBody>
      </p:sp>
      <p:sp>
        <p:nvSpPr>
          <p:cNvPr id="3" name="title">
            <a:extLst xmlns:a="http://schemas.openxmlformats.org/drawingml/2006/main">
              <a:ext uri="{FF2B5EF4-FFF2-40B4-BE49-F238E27FC236}">
                <a16:creationId xmlns:a16="http://schemas.microsoft.com/office/drawing/2014/main" id="{AAFFAFE1-C578-41B5-BB26-97FA9A3F4E7D}"/>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Every output becomes the next decision input.</a:t>
            </a:r>
          </a:p>
        </p:txBody>
      </p:sp>
      <p:sp>
        <p:nvSpPr>
          <p:cNvPr id="4" name="subtitle">
            <a:extLst xmlns:a="http://schemas.openxmlformats.org/drawingml/2006/main">
              <a:ext uri="{FF2B5EF4-FFF2-40B4-BE49-F238E27FC236}">
                <a16:creationId xmlns:a16="http://schemas.microsoft.com/office/drawing/2014/main" id="{DA86BA93-F34C-4206-9A2E-D2322FAE562C}"/>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Evidence and uncertainty move with the case from intake to executive approval.</a:t>
            </a:r>
          </a:p>
        </p:txBody>
      </p:sp>
      <p:sp>
        <p:nvSpPr>
          <p:cNvPr id="5" name="">
            <a:extLst xmlns:a="http://schemas.openxmlformats.org/drawingml/2006/main">
              <a:ext uri="{FF2B5EF4-FFF2-40B4-BE49-F238E27FC236}">
                <a16:creationId xmlns:a16="http://schemas.microsoft.com/office/drawing/2014/main" id="{76008693-6BD8-4B64-AC10-65DAB077A706}"/>
              </a:ext>
            </a:extLst>
          </p:cNvPr>
          <p:cNvSpPr>
            <a:spLocks xmlns:a="http://schemas.openxmlformats.org/drawingml/2006/main" noGrp="1"/>
          </p:cNvSpPr>
          <p:nvPr/>
        </p:nvSpPr>
        <p:spPr>
          <a:xfrm xmlns:a="http://schemas.openxmlformats.org/drawingml/2006/main">
            <a:off x="2171700"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6" name="node">
            <a:extLst xmlns:a="http://schemas.openxmlformats.org/drawingml/2006/main">
              <a:ext uri="{FF2B5EF4-FFF2-40B4-BE49-F238E27FC236}">
                <a16:creationId xmlns:a16="http://schemas.microsoft.com/office/drawing/2014/main" id="{C0994448-69C9-40E7-9C53-4E8DB181BC1C}"/>
              </a:ext>
            </a:extLst>
          </p:cNvPr>
          <p:cNvSpPr>
            <a:spLocks xmlns:a="http://schemas.openxmlformats.org/drawingml/2006/main" noGrp="1"/>
          </p:cNvSpPr>
          <p:nvPr/>
        </p:nvSpPr>
        <p:spPr>
          <a:xfrm xmlns:a="http://schemas.openxmlformats.org/drawingml/2006/main">
            <a:off x="685800"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F58D95"/>
            </a:solidFill>
            <a:prstDash val="solid"/>
          </a:ln>
        </p:spPr>
      </p:sp>
      <p:sp>
        <p:nvSpPr>
          <p:cNvPr id="7" name="node-label">
            <a:extLst xmlns:a="http://schemas.openxmlformats.org/drawingml/2006/main">
              <a:ext uri="{FF2B5EF4-FFF2-40B4-BE49-F238E27FC236}">
                <a16:creationId xmlns:a16="http://schemas.microsoft.com/office/drawing/2014/main" id="{0D01CBAB-C834-42A2-BBED-9E3A37B890BF}"/>
              </a:ext>
            </a:extLst>
          </p:cNvPr>
          <p:cNvSpPr>
            <a:spLocks xmlns:a="http://schemas.openxmlformats.org/drawingml/2006/main" noGrp="1"/>
          </p:cNvSpPr>
          <p:nvPr/>
        </p:nvSpPr>
        <p:spPr>
          <a:xfrm xmlns:a="http://schemas.openxmlformats.org/drawingml/2006/main">
            <a:off x="809625"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5F8FC"/>
                </a:solidFill>
              </a:defRPr>
            </a:pPr>
            <a:r>
              <a:rPr sz="1200" b="1">
                <a:solidFill>
                  <a:srgbClr val="F5F8FC"/>
                </a:solidFill>
              </a:rPr>
              <a:t>01  Evidence</a:t>
            </a:r>
          </a:p>
        </p:txBody>
      </p:sp>
      <p:sp>
        <p:nvSpPr>
          <p:cNvPr id="8" name="">
            <a:extLst xmlns:a="http://schemas.openxmlformats.org/drawingml/2006/main">
              <a:ext uri="{FF2B5EF4-FFF2-40B4-BE49-F238E27FC236}">
                <a16:creationId xmlns:a16="http://schemas.microsoft.com/office/drawing/2014/main" id="{F4B60626-5D43-4607-8049-193EA5CE071B}"/>
              </a:ext>
            </a:extLst>
          </p:cNvPr>
          <p:cNvSpPr>
            <a:spLocks xmlns:a="http://schemas.openxmlformats.org/drawingml/2006/main" noGrp="1"/>
          </p:cNvSpPr>
          <p:nvPr/>
        </p:nvSpPr>
        <p:spPr>
          <a:xfrm xmlns:a="http://schemas.openxmlformats.org/drawingml/2006/main">
            <a:off x="3952875"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9" name="node">
            <a:extLst xmlns:a="http://schemas.openxmlformats.org/drawingml/2006/main">
              <a:ext uri="{FF2B5EF4-FFF2-40B4-BE49-F238E27FC236}">
                <a16:creationId xmlns:a16="http://schemas.microsoft.com/office/drawing/2014/main" id="{522983A5-DD82-480F-B54D-5A4D3FD24555}"/>
              </a:ext>
            </a:extLst>
          </p:cNvPr>
          <p:cNvSpPr>
            <a:spLocks xmlns:a="http://schemas.openxmlformats.org/drawingml/2006/main" noGrp="1"/>
          </p:cNvSpPr>
          <p:nvPr/>
        </p:nvSpPr>
        <p:spPr>
          <a:xfrm xmlns:a="http://schemas.openxmlformats.org/drawingml/2006/main">
            <a:off x="2466975"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66B3FF"/>
            </a:solidFill>
            <a:prstDash val="solid"/>
          </a:ln>
        </p:spPr>
      </p:sp>
      <p:sp>
        <p:nvSpPr>
          <p:cNvPr id="10" name="node-label">
            <a:extLst xmlns:a="http://schemas.openxmlformats.org/drawingml/2006/main">
              <a:ext uri="{FF2B5EF4-FFF2-40B4-BE49-F238E27FC236}">
                <a16:creationId xmlns:a16="http://schemas.microsoft.com/office/drawing/2014/main" id="{85176F3B-4B49-403F-BED4-1F51F40A0A66}"/>
              </a:ext>
            </a:extLst>
          </p:cNvPr>
          <p:cNvSpPr>
            <a:spLocks xmlns:a="http://schemas.openxmlformats.org/drawingml/2006/main" noGrp="1"/>
          </p:cNvSpPr>
          <p:nvPr/>
        </p:nvSpPr>
        <p:spPr>
          <a:xfrm xmlns:a="http://schemas.openxmlformats.org/drawingml/2006/main">
            <a:off x="2590800"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5F8FC"/>
                </a:solidFill>
              </a:defRPr>
            </a:pPr>
            <a:r>
              <a:rPr sz="1200" b="1">
                <a:solidFill>
                  <a:srgbClr val="F5F8FC"/>
                </a:solidFill>
              </a:rPr>
              <a:t>02  Extract &amp; validate</a:t>
            </a:r>
          </a:p>
        </p:txBody>
      </p:sp>
      <p:sp>
        <p:nvSpPr>
          <p:cNvPr id="11" name="">
            <a:extLst xmlns:a="http://schemas.openxmlformats.org/drawingml/2006/main">
              <a:ext uri="{FF2B5EF4-FFF2-40B4-BE49-F238E27FC236}">
                <a16:creationId xmlns:a16="http://schemas.microsoft.com/office/drawing/2014/main" id="{9CE5C087-932B-415B-AEC7-64FE2EA673BE}"/>
              </a:ext>
            </a:extLst>
          </p:cNvPr>
          <p:cNvSpPr>
            <a:spLocks xmlns:a="http://schemas.openxmlformats.org/drawingml/2006/main" noGrp="1"/>
          </p:cNvSpPr>
          <p:nvPr/>
        </p:nvSpPr>
        <p:spPr>
          <a:xfrm xmlns:a="http://schemas.openxmlformats.org/drawingml/2006/main">
            <a:off x="5734050"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2" name="node">
            <a:extLst xmlns:a="http://schemas.openxmlformats.org/drawingml/2006/main">
              <a:ext uri="{FF2B5EF4-FFF2-40B4-BE49-F238E27FC236}">
                <a16:creationId xmlns:a16="http://schemas.microsoft.com/office/drawing/2014/main" id="{A6A8FE33-A72C-41C3-B61D-76FAEACD32A1}"/>
              </a:ext>
            </a:extLst>
          </p:cNvPr>
          <p:cNvSpPr>
            <a:spLocks xmlns:a="http://schemas.openxmlformats.org/drawingml/2006/main" noGrp="1"/>
          </p:cNvSpPr>
          <p:nvPr/>
        </p:nvSpPr>
        <p:spPr>
          <a:xfrm xmlns:a="http://schemas.openxmlformats.org/drawingml/2006/main">
            <a:off x="4248150"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FFC56E"/>
            </a:solidFill>
            <a:prstDash val="solid"/>
          </a:ln>
        </p:spPr>
      </p:sp>
      <p:sp>
        <p:nvSpPr>
          <p:cNvPr id="13" name="node-label">
            <a:extLst xmlns:a="http://schemas.openxmlformats.org/drawingml/2006/main">
              <a:ext uri="{FF2B5EF4-FFF2-40B4-BE49-F238E27FC236}">
                <a16:creationId xmlns:a16="http://schemas.microsoft.com/office/drawing/2014/main" id="{37BDB8DF-EE4A-4063-992E-0FABB71DC235}"/>
              </a:ext>
            </a:extLst>
          </p:cNvPr>
          <p:cNvSpPr>
            <a:spLocks xmlns:a="http://schemas.openxmlformats.org/drawingml/2006/main" noGrp="1"/>
          </p:cNvSpPr>
          <p:nvPr/>
        </p:nvSpPr>
        <p:spPr>
          <a:xfrm xmlns:a="http://schemas.openxmlformats.org/drawingml/2006/main">
            <a:off x="4371975"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5F8FC"/>
                </a:solidFill>
              </a:defRPr>
            </a:pPr>
            <a:r>
              <a:rPr sz="1200" b="1">
                <a:solidFill>
                  <a:srgbClr val="F5F8FC"/>
                </a:solidFill>
              </a:rPr>
              <a:t>03  Assess risk</a:t>
            </a:r>
          </a:p>
        </p:txBody>
      </p:sp>
      <p:sp>
        <p:nvSpPr>
          <p:cNvPr id="14" name="">
            <a:extLst xmlns:a="http://schemas.openxmlformats.org/drawingml/2006/main">
              <a:ext uri="{FF2B5EF4-FFF2-40B4-BE49-F238E27FC236}">
                <a16:creationId xmlns:a16="http://schemas.microsoft.com/office/drawing/2014/main" id="{62D27265-DB8A-4773-A38E-7DCCDEC4ABD0}"/>
              </a:ext>
            </a:extLst>
          </p:cNvPr>
          <p:cNvSpPr>
            <a:spLocks xmlns:a="http://schemas.openxmlformats.org/drawingml/2006/main" noGrp="1"/>
          </p:cNvSpPr>
          <p:nvPr/>
        </p:nvSpPr>
        <p:spPr>
          <a:xfrm xmlns:a="http://schemas.openxmlformats.org/drawingml/2006/main">
            <a:off x="7515225"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5" name="node">
            <a:extLst xmlns:a="http://schemas.openxmlformats.org/drawingml/2006/main">
              <a:ext uri="{FF2B5EF4-FFF2-40B4-BE49-F238E27FC236}">
                <a16:creationId xmlns:a16="http://schemas.microsoft.com/office/drawing/2014/main" id="{A3A87D99-BB44-4F9A-98D6-DF01FCED640A}"/>
              </a:ext>
            </a:extLst>
          </p:cNvPr>
          <p:cNvSpPr>
            <a:spLocks xmlns:a="http://schemas.openxmlformats.org/drawingml/2006/main" noGrp="1"/>
          </p:cNvSpPr>
          <p:nvPr/>
        </p:nvSpPr>
        <p:spPr>
          <a:xfrm xmlns:a="http://schemas.openxmlformats.org/drawingml/2006/main">
            <a:off x="6029325"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51E5D6"/>
            </a:solidFill>
            <a:prstDash val="solid"/>
          </a:ln>
        </p:spPr>
      </p:sp>
      <p:sp>
        <p:nvSpPr>
          <p:cNvPr id="16" name="node-label">
            <a:extLst xmlns:a="http://schemas.openxmlformats.org/drawingml/2006/main">
              <a:ext uri="{FF2B5EF4-FFF2-40B4-BE49-F238E27FC236}">
                <a16:creationId xmlns:a16="http://schemas.microsoft.com/office/drawing/2014/main" id="{32157E0B-FBB4-4AEE-84A0-DB1BF4E5D7A3}"/>
              </a:ext>
            </a:extLst>
          </p:cNvPr>
          <p:cNvSpPr>
            <a:spLocks xmlns:a="http://schemas.openxmlformats.org/drawingml/2006/main" noGrp="1"/>
          </p:cNvSpPr>
          <p:nvPr/>
        </p:nvSpPr>
        <p:spPr>
          <a:xfrm xmlns:a="http://schemas.openxmlformats.org/drawingml/2006/main">
            <a:off x="6153150"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5F8FC"/>
                </a:solidFill>
              </a:defRPr>
            </a:pPr>
            <a:r>
              <a:rPr sz="1200" b="1">
                <a:solidFill>
                  <a:srgbClr val="F5F8FC"/>
                </a:solidFill>
              </a:rPr>
              <a:t>04  Confirm scenario</a:t>
            </a:r>
          </a:p>
        </p:txBody>
      </p:sp>
      <p:sp>
        <p:nvSpPr>
          <p:cNvPr id="17" name="">
            <a:extLst xmlns:a="http://schemas.openxmlformats.org/drawingml/2006/main">
              <a:ext uri="{FF2B5EF4-FFF2-40B4-BE49-F238E27FC236}">
                <a16:creationId xmlns:a16="http://schemas.microsoft.com/office/drawing/2014/main" id="{3BDD4244-8063-4D1E-B665-7E41C53544B3}"/>
              </a:ext>
            </a:extLst>
          </p:cNvPr>
          <p:cNvSpPr>
            <a:spLocks xmlns:a="http://schemas.openxmlformats.org/drawingml/2006/main" noGrp="1"/>
          </p:cNvSpPr>
          <p:nvPr/>
        </p:nvSpPr>
        <p:spPr>
          <a:xfrm xmlns:a="http://schemas.openxmlformats.org/drawingml/2006/main">
            <a:off x="9296400" y="3829050"/>
            <a:ext cx="295275"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8" name="node">
            <a:extLst xmlns:a="http://schemas.openxmlformats.org/drawingml/2006/main">
              <a:ext uri="{FF2B5EF4-FFF2-40B4-BE49-F238E27FC236}">
                <a16:creationId xmlns:a16="http://schemas.microsoft.com/office/drawing/2014/main" id="{F37BAEC9-ACA3-4A06-AB4E-C7263682EDDF}"/>
              </a:ext>
            </a:extLst>
          </p:cNvPr>
          <p:cNvSpPr>
            <a:spLocks xmlns:a="http://schemas.openxmlformats.org/drawingml/2006/main" noGrp="1"/>
          </p:cNvSpPr>
          <p:nvPr/>
        </p:nvSpPr>
        <p:spPr>
          <a:xfrm xmlns:a="http://schemas.openxmlformats.org/drawingml/2006/main">
            <a:off x="7810500"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66B3FF"/>
            </a:solidFill>
            <a:prstDash val="solid"/>
          </a:ln>
        </p:spPr>
      </p:sp>
      <p:sp>
        <p:nvSpPr>
          <p:cNvPr id="19" name="node-label">
            <a:extLst xmlns:a="http://schemas.openxmlformats.org/drawingml/2006/main">
              <a:ext uri="{FF2B5EF4-FFF2-40B4-BE49-F238E27FC236}">
                <a16:creationId xmlns:a16="http://schemas.microsoft.com/office/drawing/2014/main" id="{BC7785DD-6E34-48CE-B475-D98800851420}"/>
              </a:ext>
            </a:extLst>
          </p:cNvPr>
          <p:cNvSpPr>
            <a:spLocks xmlns:a="http://schemas.openxmlformats.org/drawingml/2006/main" noGrp="1"/>
          </p:cNvSpPr>
          <p:nvPr/>
        </p:nvSpPr>
        <p:spPr>
          <a:xfrm xmlns:a="http://schemas.openxmlformats.org/drawingml/2006/main">
            <a:off x="7934325"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5F8FC"/>
                </a:solidFill>
              </a:defRPr>
            </a:pPr>
            <a:r>
              <a:rPr sz="1200" b="1">
                <a:solidFill>
                  <a:srgbClr val="F5F8FC"/>
                </a:solidFill>
              </a:rPr>
              <a:t>05  Simulate nationally</a:t>
            </a:r>
          </a:p>
        </p:txBody>
      </p:sp>
      <p:sp>
        <p:nvSpPr>
          <p:cNvPr id="20" name="node">
            <a:extLst xmlns:a="http://schemas.openxmlformats.org/drawingml/2006/main">
              <a:ext uri="{FF2B5EF4-FFF2-40B4-BE49-F238E27FC236}">
                <a16:creationId xmlns:a16="http://schemas.microsoft.com/office/drawing/2014/main" id="{94EDB7D1-7C44-400F-82F1-55D13FB60AF3}"/>
              </a:ext>
            </a:extLst>
          </p:cNvPr>
          <p:cNvSpPr>
            <a:spLocks xmlns:a="http://schemas.openxmlformats.org/drawingml/2006/main" noGrp="1"/>
          </p:cNvSpPr>
          <p:nvPr/>
        </p:nvSpPr>
        <p:spPr>
          <a:xfrm xmlns:a="http://schemas.openxmlformats.org/drawingml/2006/main">
            <a:off x="9591675" y="3524250"/>
            <a:ext cx="1485900" cy="628650"/>
          </a:xfrm>
          <a:prstGeom xmlns:a="http://schemas.openxmlformats.org/drawingml/2006/main" prst="roundRect">
            <a:avLst>
              <a:gd name="adj" fmla="val 18182"/>
            </a:avLst>
          </a:prstGeom>
          <a:solidFill xmlns:a="http://schemas.openxmlformats.org/drawingml/2006/main">
            <a:srgbClr val="0D1D31"/>
          </a:solidFill>
          <a:ln xmlns:a="http://schemas.openxmlformats.org/drawingml/2006/main" w="9525">
            <a:solidFill>
              <a:srgbClr val="86E5B6"/>
            </a:solidFill>
            <a:prstDash val="solid"/>
          </a:ln>
        </p:spPr>
      </p:sp>
      <p:sp>
        <p:nvSpPr>
          <p:cNvPr id="21" name="node-label">
            <a:extLst xmlns:a="http://schemas.openxmlformats.org/drawingml/2006/main">
              <a:ext uri="{FF2B5EF4-FFF2-40B4-BE49-F238E27FC236}">
                <a16:creationId xmlns:a16="http://schemas.microsoft.com/office/drawing/2014/main" id="{A3E73CB9-25C7-4DE8-89AE-9225DB89440F}"/>
              </a:ext>
            </a:extLst>
          </p:cNvPr>
          <p:cNvSpPr>
            <a:spLocks xmlns:a="http://schemas.openxmlformats.org/drawingml/2006/main" noGrp="1"/>
          </p:cNvSpPr>
          <p:nvPr/>
        </p:nvSpPr>
        <p:spPr>
          <a:xfrm xmlns:a="http://schemas.openxmlformats.org/drawingml/2006/main">
            <a:off x="9715500" y="36957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5F8FC"/>
                </a:solidFill>
              </a:defRPr>
            </a:pPr>
            <a:r>
              <a:rPr sz="1200" b="1">
                <a:solidFill>
                  <a:srgbClr val="F5F8FC"/>
                </a:solidFill>
              </a:rPr>
              <a:t>06  Decide</a:t>
            </a:r>
          </a:p>
        </p:txBody>
      </p:sp>
      <p:sp>
        <p:nvSpPr>
          <p:cNvPr id="22" name="human-gate">
            <a:extLst xmlns:a="http://schemas.openxmlformats.org/drawingml/2006/main">
              <a:ext uri="{FF2B5EF4-FFF2-40B4-BE49-F238E27FC236}">
                <a16:creationId xmlns:a16="http://schemas.microsoft.com/office/drawing/2014/main" id="{C186E4F1-2FB9-4622-8407-777075976A14}"/>
              </a:ext>
            </a:extLst>
          </p:cNvPr>
          <p:cNvSpPr>
            <a:spLocks xmlns:a="http://schemas.openxmlformats.org/drawingml/2006/main" noGrp="1"/>
          </p:cNvSpPr>
          <p:nvPr/>
        </p:nvSpPr>
        <p:spPr>
          <a:xfrm xmlns:a="http://schemas.openxmlformats.org/drawingml/2006/main">
            <a:off x="2533650" y="4667250"/>
            <a:ext cx="7124700" cy="723900"/>
          </a:xfrm>
          <a:prstGeom xmlns:a="http://schemas.openxmlformats.org/drawingml/2006/main" prst="roundRect">
            <a:avLst>
              <a:gd name="adj" fmla="val 15789"/>
            </a:avLst>
          </a:prstGeom>
          <a:solidFill xmlns:a="http://schemas.openxmlformats.org/drawingml/2006/main">
            <a:srgbClr val="102B47"/>
          </a:solidFill>
          <a:ln xmlns:a="http://schemas.openxmlformats.org/drawingml/2006/main" w="9525">
            <a:solidFill>
              <a:srgbClr val="51E5D6"/>
            </a:solidFill>
            <a:prstDash val="solid"/>
          </a:ln>
        </p:spPr>
      </p:sp>
      <p:sp>
        <p:nvSpPr>
          <p:cNvPr id="23" name="gate-text">
            <a:extLst xmlns:a="http://schemas.openxmlformats.org/drawingml/2006/main">
              <a:ext uri="{FF2B5EF4-FFF2-40B4-BE49-F238E27FC236}">
                <a16:creationId xmlns:a16="http://schemas.microsoft.com/office/drawing/2014/main" id="{FE658B94-6054-451D-9A23-F1FC31E8F8F4}"/>
              </a:ext>
            </a:extLst>
          </p:cNvPr>
          <p:cNvSpPr>
            <a:spLocks xmlns:a="http://schemas.openxmlformats.org/drawingml/2006/main" noGrp="1"/>
          </p:cNvSpPr>
          <p:nvPr/>
        </p:nvSpPr>
        <p:spPr>
          <a:xfrm xmlns:a="http://schemas.openxmlformats.org/drawingml/2006/main">
            <a:off x="2800350" y="4905375"/>
            <a:ext cx="6619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THE CONTROL POINT  ·  Analyst confirms evidence limits and scenario assumptions before optimization runs.</a:t>
            </a:r>
          </a:p>
        </p:txBody>
      </p:sp>
      <p:sp>
        <p:nvSpPr>
          <p:cNvPr id="24" name="chip">
            <a:extLst xmlns:a="http://schemas.openxmlformats.org/drawingml/2006/main">
              <a:ext uri="{FF2B5EF4-FFF2-40B4-BE49-F238E27FC236}">
                <a16:creationId xmlns:a16="http://schemas.microsoft.com/office/drawing/2014/main" id="{11CA48B7-BA64-4069-AC21-27F2EF6D1444}"/>
              </a:ext>
            </a:extLst>
          </p:cNvPr>
          <p:cNvSpPr>
            <a:spLocks xmlns:a="http://schemas.openxmlformats.org/drawingml/2006/main" noGrp="1"/>
          </p:cNvSpPr>
          <p:nvPr/>
        </p:nvSpPr>
        <p:spPr>
          <a:xfrm xmlns:a="http://schemas.openxmlformats.org/drawingml/2006/main">
            <a:off x="685800" y="5743575"/>
            <a:ext cx="17145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FFC56E"/>
            </a:solidFill>
            <a:prstDash val="solid"/>
          </a:ln>
        </p:spPr>
        <p:txBody>
          <a:bodyPr xmlns:a="http://schemas.openxmlformats.org/drawingml/2006/main"/>
          <a:lstStyle xmlns:a="http://schemas.openxmlformats.org/drawingml/2006/main"/>
          <a:p xmlns:a="http://schemas.openxmlformats.org/drawingml/2006/main">
            <a:pPr>
              <a:buNone/>
              <a:defRPr sz="900" b="1">
                <a:solidFill>
                  <a:srgbClr val="FFC56E"/>
                </a:solidFill>
              </a:defRPr>
            </a:pPr>
            <a:r>
              <a:rPr sz="900" b="1">
                <a:solidFill>
                  <a:srgbClr val="FFC56E"/>
                </a:solidFill>
              </a:rPr>
              <a:t>USER-ENTERED EVIDENCE</a:t>
            </a:r>
          </a:p>
        </p:txBody>
      </p:sp>
      <p:sp>
        <p:nvSpPr>
          <p:cNvPr id="25" name="chip">
            <a:extLst xmlns:a="http://schemas.openxmlformats.org/drawingml/2006/main">
              <a:ext uri="{FF2B5EF4-FFF2-40B4-BE49-F238E27FC236}">
                <a16:creationId xmlns:a16="http://schemas.microsoft.com/office/drawing/2014/main" id="{FBB34FCB-30C7-44F2-A630-995981275557}"/>
              </a:ext>
            </a:extLst>
          </p:cNvPr>
          <p:cNvSpPr>
            <a:spLocks xmlns:a="http://schemas.openxmlformats.org/drawingml/2006/main" noGrp="1"/>
          </p:cNvSpPr>
          <p:nvPr/>
        </p:nvSpPr>
        <p:spPr>
          <a:xfrm xmlns:a="http://schemas.openxmlformats.org/drawingml/2006/main">
            <a:off x="2571750" y="5743575"/>
            <a:ext cx="17145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66B3FF"/>
            </a:solidFill>
            <a:prstDash val="solid"/>
          </a:ln>
        </p:spPr>
        <p:txBody>
          <a:bodyPr xmlns:a="http://schemas.openxmlformats.org/drawingml/2006/main"/>
          <a:lstStyle xmlns:a="http://schemas.openxmlformats.org/drawingml/2006/main"/>
          <a:p xmlns:a="http://schemas.openxmlformats.org/drawingml/2006/main">
            <a:pPr>
              <a:buNone/>
              <a:defRPr sz="900" b="1">
                <a:solidFill>
                  <a:srgbClr val="66B3FF"/>
                </a:solidFill>
              </a:defRPr>
            </a:pPr>
            <a:r>
              <a:rPr sz="900" b="1">
                <a:solidFill>
                  <a:srgbClr val="66B3FF"/>
                </a:solidFill>
              </a:rPr>
              <a:t>SIMULATED SCENARIO</a:t>
            </a:r>
          </a:p>
        </p:txBody>
      </p:sp>
      <p:sp>
        <p:nvSpPr>
          <p:cNvPr id="26" name="chip">
            <a:extLst xmlns:a="http://schemas.openxmlformats.org/drawingml/2006/main">
              <a:ext uri="{FF2B5EF4-FFF2-40B4-BE49-F238E27FC236}">
                <a16:creationId xmlns:a16="http://schemas.microsoft.com/office/drawing/2014/main" id="{3B3EBB29-2D6C-4FCD-B5C0-ABB8B37BDA3B}"/>
              </a:ext>
            </a:extLst>
          </p:cNvPr>
          <p:cNvSpPr>
            <a:spLocks xmlns:a="http://schemas.openxmlformats.org/drawingml/2006/main" noGrp="1"/>
          </p:cNvSpPr>
          <p:nvPr/>
        </p:nvSpPr>
        <p:spPr>
          <a:xfrm xmlns:a="http://schemas.openxmlformats.org/drawingml/2006/main">
            <a:off x="4457700" y="5743575"/>
            <a:ext cx="17145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86E5B6"/>
            </a:solidFill>
            <a:prstDash val="solid"/>
          </a:ln>
        </p:spPr>
        <p:txBody>
          <a:bodyPr xmlns:a="http://schemas.openxmlformats.org/drawingml/2006/main"/>
          <a:lstStyle xmlns:a="http://schemas.openxmlformats.org/drawingml/2006/main"/>
          <a:p xmlns:a="http://schemas.openxmlformats.org/drawingml/2006/main">
            <a:pPr>
              <a:buNone/>
              <a:defRPr sz="900" b="1">
                <a:solidFill>
                  <a:srgbClr val="86E5B6"/>
                </a:solidFill>
              </a:defRPr>
            </a:pPr>
            <a:r>
              <a:rPr sz="900" b="1">
                <a:solidFill>
                  <a:srgbClr val="86E5B6"/>
                </a:solidFill>
              </a:rPr>
              <a:t>LOCAL DECISION</a:t>
            </a:r>
          </a:p>
        </p:txBody>
      </p:sp>
      <p:sp>
        <p:nvSpPr>
          <p:cNvPr id="27" name="">
            <a:extLst xmlns:a="http://schemas.openxmlformats.org/drawingml/2006/main">
              <a:ext uri="{FF2B5EF4-FFF2-40B4-BE49-F238E27FC236}">
                <a16:creationId xmlns:a16="http://schemas.microsoft.com/office/drawing/2014/main" id="{79E00B94-7C42-41C7-B8FD-31A5C052FEF0}"/>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8" name="footer">
            <a:extLst xmlns:a="http://schemas.openxmlformats.org/drawingml/2006/main">
              <a:ext uri="{FF2B5EF4-FFF2-40B4-BE49-F238E27FC236}">
                <a16:creationId xmlns:a16="http://schemas.microsoft.com/office/drawing/2014/main" id="{14B9B08F-FF3B-4ED4-BB3A-D487A42A684D}"/>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933960167"/>
      </p:ext>
    </p:extLst>
  </p:cSld>
</p:sld>
</file>

<file path=ppt/slides/slide5.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4" name="eyebrow">
            <a:extLst xmlns:a="http://schemas.openxmlformats.org/drawingml/2006/main">
              <a:ext uri="{FF2B5EF4-FFF2-40B4-BE49-F238E27FC236}">
                <a16:creationId xmlns:a16="http://schemas.microsoft.com/office/drawing/2014/main" id="{4BFBDE99-52F3-4595-A10E-F2FD5391DCEA}"/>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BOUNDED INTELLIGENCE</a:t>
            </a:r>
          </a:p>
        </p:txBody>
      </p:sp>
      <p:sp>
        <p:nvSpPr>
          <p:cNvPr id="2" name="slide-number">
            <a:extLst xmlns:a="http://schemas.openxmlformats.org/drawingml/2006/main">
              <a:ext uri="{FF2B5EF4-FFF2-40B4-BE49-F238E27FC236}">
                <a16:creationId xmlns:a16="http://schemas.microsoft.com/office/drawing/2014/main" id="{1E90E323-AF39-4F6A-9EB3-3F2C83898ED6}"/>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05</a:t>
            </a:r>
          </a:p>
        </p:txBody>
      </p:sp>
      <p:sp>
        <p:nvSpPr>
          <p:cNvPr id="3" name="title">
            <a:extLst xmlns:a="http://schemas.openxmlformats.org/drawingml/2006/main">
              <a:ext uri="{FF2B5EF4-FFF2-40B4-BE49-F238E27FC236}">
                <a16:creationId xmlns:a16="http://schemas.microsoft.com/office/drawing/2014/main" id="{AA33299A-FA29-45D7-91AA-AE5B78634DE3}"/>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AI structures uncertainty. Constraints decide what is feasible.</a:t>
            </a:r>
          </a:p>
        </p:txBody>
      </p:sp>
      <p:sp>
        <p:nvSpPr>
          <p:cNvPr id="4" name="subtitle">
            <a:extLst xmlns:a="http://schemas.openxmlformats.org/drawingml/2006/main">
              <a:ext uri="{FF2B5EF4-FFF2-40B4-BE49-F238E27FC236}">
                <a16:creationId xmlns:a16="http://schemas.microsoft.com/office/drawing/2014/main" id="{F6C0BED2-784C-4104-855D-779BDAE4AE3C}"/>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Gemini proposes a reviewable structure; deterministic services calculate scenarios, capacity, and alternatives.</a:t>
            </a:r>
          </a:p>
        </p:txBody>
      </p:sp>
      <p:sp>
        <p:nvSpPr>
          <p:cNvPr id="5" name="ai-column">
            <a:extLst xmlns:a="http://schemas.openxmlformats.org/drawingml/2006/main">
              <a:ext uri="{FF2B5EF4-FFF2-40B4-BE49-F238E27FC236}">
                <a16:creationId xmlns:a16="http://schemas.microsoft.com/office/drawing/2014/main" id="{6D9239A3-620C-4664-99F1-EE7EE3454F7C}"/>
              </a:ext>
            </a:extLst>
          </p:cNvPr>
          <p:cNvSpPr>
            <a:spLocks xmlns:a="http://schemas.openxmlformats.org/drawingml/2006/main" noGrp="1"/>
          </p:cNvSpPr>
          <p:nvPr/>
        </p:nvSpPr>
        <p:spPr>
          <a:xfrm xmlns:a="http://schemas.openxmlformats.org/drawingml/2006/main">
            <a:off x="685800" y="2857500"/>
            <a:ext cx="3276600" cy="2362200"/>
          </a:xfrm>
          <a:prstGeom xmlns:a="http://schemas.openxmlformats.org/drawingml/2006/main" prst="roundRect">
            <a:avLst>
              <a:gd name="adj" fmla="val 4839"/>
            </a:avLst>
          </a:prstGeom>
          <a:solidFill xmlns:a="http://schemas.openxmlformats.org/drawingml/2006/main">
            <a:srgbClr val="0D1D31"/>
          </a:solidFill>
          <a:ln xmlns:a="http://schemas.openxmlformats.org/drawingml/2006/main" w="9525">
            <a:solidFill>
              <a:srgbClr val="244563"/>
            </a:solidFill>
            <a:prstDash val="solid"/>
          </a:ln>
        </p:spPr>
      </p:sp>
      <p:sp>
        <p:nvSpPr>
          <p:cNvPr id="6" name="ai-head">
            <a:extLst xmlns:a="http://schemas.openxmlformats.org/drawingml/2006/main">
              <a:ext uri="{FF2B5EF4-FFF2-40B4-BE49-F238E27FC236}">
                <a16:creationId xmlns:a16="http://schemas.microsoft.com/office/drawing/2014/main" id="{16DEE751-1761-4C12-AD52-8BBEE131D1F8}"/>
              </a:ext>
            </a:extLst>
          </p:cNvPr>
          <p:cNvSpPr>
            <a:spLocks xmlns:a="http://schemas.openxmlformats.org/drawingml/2006/main" noGrp="1"/>
          </p:cNvSpPr>
          <p:nvPr/>
        </p:nvSpPr>
        <p:spPr>
          <a:xfrm xmlns:a="http://schemas.openxmlformats.org/drawingml/2006/main">
            <a:off x="914400" y="3124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51E5D6"/>
                </a:solidFill>
              </a:defRPr>
            </a:pPr>
            <a:r>
              <a:rPr sz="1275" b="1">
                <a:solidFill>
                  <a:srgbClr val="51E5D6"/>
                </a:solidFill>
              </a:rPr>
              <a:t>Gemini</a:t>
            </a:r>
          </a:p>
        </p:txBody>
      </p:sp>
      <p:sp>
        <p:nvSpPr>
          <p:cNvPr id="7" name="ai-verb">
            <a:extLst xmlns:a="http://schemas.openxmlformats.org/drawingml/2006/main">
              <a:ext uri="{FF2B5EF4-FFF2-40B4-BE49-F238E27FC236}">
                <a16:creationId xmlns:a16="http://schemas.microsoft.com/office/drawing/2014/main" id="{0F4DA63C-85A0-4A13-9885-3D183CA0E5C6}"/>
              </a:ext>
            </a:extLst>
          </p:cNvPr>
          <p:cNvSpPr>
            <a:spLocks xmlns:a="http://schemas.openxmlformats.org/drawingml/2006/main" noGrp="1"/>
          </p:cNvSpPr>
          <p:nvPr/>
        </p:nvSpPr>
        <p:spPr>
          <a:xfrm xmlns:a="http://schemas.openxmlformats.org/drawingml/2006/main">
            <a:off x="914400" y="35242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F5F8FC"/>
                </a:solidFill>
              </a:defRPr>
            </a:pPr>
            <a:r>
              <a:rPr sz="1725" b="1">
                <a:solidFill>
                  <a:srgbClr val="F5F8FC"/>
                </a:solidFill>
              </a:rPr>
              <a:t>STRUCTURES / CLAIMS</a:t>
            </a:r>
          </a:p>
        </p:txBody>
      </p:sp>
      <p:sp>
        <p:nvSpPr>
          <p:cNvPr id="8" name="">
            <a:extLst xmlns:a="http://schemas.openxmlformats.org/drawingml/2006/main">
              <a:ext uri="{FF2B5EF4-FFF2-40B4-BE49-F238E27FC236}">
                <a16:creationId xmlns:a16="http://schemas.microsoft.com/office/drawing/2014/main" id="{97FA37C2-611A-4AD6-BCB2-34692C45ECF6}"/>
              </a:ext>
            </a:extLst>
          </p:cNvPr>
          <p:cNvSpPr>
            <a:spLocks xmlns:a="http://schemas.openxmlformats.org/drawingml/2006/main" noGrp="1"/>
          </p:cNvSpPr>
          <p:nvPr/>
        </p:nvSpPr>
        <p:spPr>
          <a:xfrm xmlns:a="http://schemas.openxmlformats.org/drawingml/2006/main">
            <a:off x="914400" y="4248150"/>
            <a:ext cx="2819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9" name="ai-body">
            <a:extLst xmlns:a="http://schemas.openxmlformats.org/drawingml/2006/main">
              <a:ext uri="{FF2B5EF4-FFF2-40B4-BE49-F238E27FC236}">
                <a16:creationId xmlns:a16="http://schemas.microsoft.com/office/drawing/2014/main" id="{DBBB5B36-A8FA-48F5-BF99-35D3BBB61577}"/>
              </a:ext>
            </a:extLst>
          </p:cNvPr>
          <p:cNvSpPr>
            <a:spLocks xmlns:a="http://schemas.openxmlformats.org/drawingml/2006/main" noGrp="1"/>
          </p:cNvSpPr>
          <p:nvPr/>
        </p:nvSpPr>
        <p:spPr>
          <a:xfrm xmlns:a="http://schemas.openxmlformats.org/drawingml/2006/main">
            <a:off x="914400" y="4438650"/>
            <a:ext cx="276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AABFD2"/>
                </a:solidFill>
              </a:defRPr>
            </a:pPr>
            <a:r>
              <a:rPr sz="1200" b="0">
                <a:solidFill>
                  <a:srgbClr val="AABFD2"/>
                </a:solidFill>
              </a:rPr>
              <a:t>Schema-validated proposal</a:t>
            </a:r>
          </a:p>
          <a:p xmlns:a="http://schemas.openxmlformats.org/drawingml/2006/main">
            <a:pPr>
              <a:buNone/>
              <a:defRPr sz="1200" b="0">
                <a:solidFill>
                  <a:srgbClr val="AABFD2"/>
                </a:solidFill>
              </a:defRPr>
            </a:pPr>
            <a:r>
              <a:rPr sz="1200" b="0">
                <a:solidFill>
                  <a:srgbClr val="AABFD2"/>
                </a:solidFill>
              </a:rPr>
              <a:t>Unknowns retained</a:t>
            </a:r>
          </a:p>
        </p:txBody>
      </p:sp>
      <p:sp>
        <p:nvSpPr>
          <p:cNvPr id="10" name="ai-column">
            <a:extLst xmlns:a="http://schemas.openxmlformats.org/drawingml/2006/main">
              <a:ext uri="{FF2B5EF4-FFF2-40B4-BE49-F238E27FC236}">
                <a16:creationId xmlns:a16="http://schemas.microsoft.com/office/drawing/2014/main" id="{D64A6178-B27E-48CE-85BD-D1CD07F04577}"/>
              </a:ext>
            </a:extLst>
          </p:cNvPr>
          <p:cNvSpPr>
            <a:spLocks xmlns:a="http://schemas.openxmlformats.org/drawingml/2006/main" noGrp="1"/>
          </p:cNvSpPr>
          <p:nvPr/>
        </p:nvSpPr>
        <p:spPr>
          <a:xfrm xmlns:a="http://schemas.openxmlformats.org/drawingml/2006/main">
            <a:off x="4305300" y="2857500"/>
            <a:ext cx="3276600" cy="2362200"/>
          </a:xfrm>
          <a:prstGeom xmlns:a="http://schemas.openxmlformats.org/drawingml/2006/main" prst="roundRect">
            <a:avLst>
              <a:gd name="adj" fmla="val 4839"/>
            </a:avLst>
          </a:prstGeom>
          <a:solidFill xmlns:a="http://schemas.openxmlformats.org/drawingml/2006/main">
            <a:srgbClr val="0D1D31"/>
          </a:solidFill>
          <a:ln xmlns:a="http://schemas.openxmlformats.org/drawingml/2006/main" w="9525">
            <a:solidFill>
              <a:srgbClr val="244563"/>
            </a:solidFill>
            <a:prstDash val="solid"/>
          </a:ln>
        </p:spPr>
      </p:sp>
      <p:sp>
        <p:nvSpPr>
          <p:cNvPr id="11" name="ai-head">
            <a:extLst xmlns:a="http://schemas.openxmlformats.org/drawingml/2006/main">
              <a:ext uri="{FF2B5EF4-FFF2-40B4-BE49-F238E27FC236}">
                <a16:creationId xmlns:a16="http://schemas.microsoft.com/office/drawing/2014/main" id="{5835C952-5935-43B4-9156-0AE2030B0C84}"/>
              </a:ext>
            </a:extLst>
          </p:cNvPr>
          <p:cNvSpPr>
            <a:spLocks xmlns:a="http://schemas.openxmlformats.org/drawingml/2006/main" noGrp="1"/>
          </p:cNvSpPr>
          <p:nvPr/>
        </p:nvSpPr>
        <p:spPr>
          <a:xfrm xmlns:a="http://schemas.openxmlformats.org/drawingml/2006/main">
            <a:off x="4533900" y="3124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C56E"/>
                </a:solidFill>
              </a:defRPr>
            </a:pPr>
            <a:r>
              <a:rPr sz="1275" b="1">
                <a:solidFill>
                  <a:srgbClr val="FFC56E"/>
                </a:solidFill>
              </a:rPr>
              <a:t>Scenario</a:t>
            </a:r>
          </a:p>
        </p:txBody>
      </p:sp>
      <p:sp>
        <p:nvSpPr>
          <p:cNvPr id="12" name="ai-verb">
            <a:extLst xmlns:a="http://schemas.openxmlformats.org/drawingml/2006/main">
              <a:ext uri="{FF2B5EF4-FFF2-40B4-BE49-F238E27FC236}">
                <a16:creationId xmlns:a16="http://schemas.microsoft.com/office/drawing/2014/main" id="{76BB8E5C-675B-40C9-AACD-E87C750C4100}"/>
              </a:ext>
            </a:extLst>
          </p:cNvPr>
          <p:cNvSpPr>
            <a:spLocks xmlns:a="http://schemas.openxmlformats.org/drawingml/2006/main" noGrp="1"/>
          </p:cNvSpPr>
          <p:nvPr/>
        </p:nvSpPr>
        <p:spPr>
          <a:xfrm xmlns:a="http://schemas.openxmlformats.org/drawingml/2006/main">
            <a:off x="4533900" y="35242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F5F8FC"/>
                </a:solidFill>
              </a:defRPr>
            </a:pPr>
            <a:r>
              <a:rPr sz="1725" b="1">
                <a:solidFill>
                  <a:srgbClr val="F5F8FC"/>
                </a:solidFill>
              </a:rPr>
              <a:t>TESTS / IMPACT</a:t>
            </a:r>
          </a:p>
        </p:txBody>
      </p:sp>
      <p:sp>
        <p:nvSpPr>
          <p:cNvPr id="13" name="">
            <a:extLst xmlns:a="http://schemas.openxmlformats.org/drawingml/2006/main">
              <a:ext uri="{FF2B5EF4-FFF2-40B4-BE49-F238E27FC236}">
                <a16:creationId xmlns:a16="http://schemas.microsoft.com/office/drawing/2014/main" id="{E68C27F1-93AD-41B4-BDE9-5354CD1D10A3}"/>
              </a:ext>
            </a:extLst>
          </p:cNvPr>
          <p:cNvSpPr>
            <a:spLocks xmlns:a="http://schemas.openxmlformats.org/drawingml/2006/main" noGrp="1"/>
          </p:cNvSpPr>
          <p:nvPr/>
        </p:nvSpPr>
        <p:spPr>
          <a:xfrm xmlns:a="http://schemas.openxmlformats.org/drawingml/2006/main">
            <a:off x="4533900" y="4248150"/>
            <a:ext cx="2819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4" name="ai-body">
            <a:extLst xmlns:a="http://schemas.openxmlformats.org/drawingml/2006/main">
              <a:ext uri="{FF2B5EF4-FFF2-40B4-BE49-F238E27FC236}">
                <a16:creationId xmlns:a16="http://schemas.microsoft.com/office/drawing/2014/main" id="{D801E093-8485-442B-9404-72A14929DE41}"/>
              </a:ext>
            </a:extLst>
          </p:cNvPr>
          <p:cNvSpPr>
            <a:spLocks xmlns:a="http://schemas.openxmlformats.org/drawingml/2006/main" noGrp="1"/>
          </p:cNvSpPr>
          <p:nvPr/>
        </p:nvSpPr>
        <p:spPr>
          <a:xfrm xmlns:a="http://schemas.openxmlformats.org/drawingml/2006/main">
            <a:off x="4533900" y="4438650"/>
            <a:ext cx="276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AABFD2"/>
                </a:solidFill>
              </a:defRPr>
            </a:pPr>
            <a:r>
              <a:rPr sz="1200" b="0">
                <a:solidFill>
                  <a:srgbClr val="AABFD2"/>
                </a:solidFill>
              </a:rPr>
              <a:t>Seeded risk score</a:t>
            </a:r>
          </a:p>
          <a:p xmlns:a="http://schemas.openxmlformats.org/drawingml/2006/main">
            <a:pPr>
              <a:buNone/>
              <a:defRPr sz="1200" b="0">
                <a:solidFill>
                  <a:srgbClr val="AABFD2"/>
                </a:solidFill>
              </a:defRPr>
            </a:pPr>
            <a:r>
              <a:rPr sz="1200" b="0">
                <a:solidFill>
                  <a:srgbClr val="AABFD2"/>
                </a:solidFill>
              </a:rPr>
              <a:t>Reproducible ranges</a:t>
            </a:r>
          </a:p>
        </p:txBody>
      </p:sp>
      <p:sp>
        <p:nvSpPr>
          <p:cNvPr id="15" name="ai-column">
            <a:extLst xmlns:a="http://schemas.openxmlformats.org/drawingml/2006/main">
              <a:ext uri="{FF2B5EF4-FFF2-40B4-BE49-F238E27FC236}">
                <a16:creationId xmlns:a16="http://schemas.microsoft.com/office/drawing/2014/main" id="{B0D082B4-4713-474A-AA94-C6DA436895AA}"/>
              </a:ext>
            </a:extLst>
          </p:cNvPr>
          <p:cNvSpPr>
            <a:spLocks xmlns:a="http://schemas.openxmlformats.org/drawingml/2006/main" noGrp="1"/>
          </p:cNvSpPr>
          <p:nvPr/>
        </p:nvSpPr>
        <p:spPr>
          <a:xfrm xmlns:a="http://schemas.openxmlformats.org/drawingml/2006/main">
            <a:off x="7924800" y="2857500"/>
            <a:ext cx="3276600" cy="2362200"/>
          </a:xfrm>
          <a:prstGeom xmlns:a="http://schemas.openxmlformats.org/drawingml/2006/main" prst="roundRect">
            <a:avLst>
              <a:gd name="adj" fmla="val 4839"/>
            </a:avLst>
          </a:prstGeom>
          <a:solidFill xmlns:a="http://schemas.openxmlformats.org/drawingml/2006/main">
            <a:srgbClr val="0D1D31"/>
          </a:solidFill>
          <a:ln xmlns:a="http://schemas.openxmlformats.org/drawingml/2006/main" w="9525">
            <a:solidFill>
              <a:srgbClr val="244563"/>
            </a:solidFill>
            <a:prstDash val="solid"/>
          </a:ln>
        </p:spPr>
      </p:sp>
      <p:sp>
        <p:nvSpPr>
          <p:cNvPr id="16" name="ai-head">
            <a:extLst xmlns:a="http://schemas.openxmlformats.org/drawingml/2006/main">
              <a:ext uri="{FF2B5EF4-FFF2-40B4-BE49-F238E27FC236}">
                <a16:creationId xmlns:a16="http://schemas.microsoft.com/office/drawing/2014/main" id="{667B5A35-12FA-41F6-9768-7EA7F3FEC2B0}"/>
              </a:ext>
            </a:extLst>
          </p:cNvPr>
          <p:cNvSpPr>
            <a:spLocks xmlns:a="http://schemas.openxmlformats.org/drawingml/2006/main" noGrp="1"/>
          </p:cNvSpPr>
          <p:nvPr/>
        </p:nvSpPr>
        <p:spPr>
          <a:xfrm xmlns:a="http://schemas.openxmlformats.org/drawingml/2006/main">
            <a:off x="8153400" y="3124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66B3FF"/>
                </a:solidFill>
              </a:defRPr>
            </a:pPr>
            <a:r>
              <a:rPr sz="1275" b="1">
                <a:solidFill>
                  <a:srgbClr val="66B3FF"/>
                </a:solidFill>
              </a:rPr>
              <a:t>Optimizer</a:t>
            </a:r>
          </a:p>
        </p:txBody>
      </p:sp>
      <p:sp>
        <p:nvSpPr>
          <p:cNvPr id="17" name="ai-verb">
            <a:extLst xmlns:a="http://schemas.openxmlformats.org/drawingml/2006/main">
              <a:ext uri="{FF2B5EF4-FFF2-40B4-BE49-F238E27FC236}">
                <a16:creationId xmlns:a16="http://schemas.microsoft.com/office/drawing/2014/main" id="{63280024-EB19-4B8A-ADB8-ACC9B5380D71}"/>
              </a:ext>
            </a:extLst>
          </p:cNvPr>
          <p:cNvSpPr>
            <a:spLocks xmlns:a="http://schemas.openxmlformats.org/drawingml/2006/main" noGrp="1"/>
          </p:cNvSpPr>
          <p:nvPr/>
        </p:nvSpPr>
        <p:spPr>
          <a:xfrm xmlns:a="http://schemas.openxmlformats.org/drawingml/2006/main">
            <a:off x="8153400" y="35242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F5F8FC"/>
                </a:solidFill>
              </a:defRPr>
            </a:pPr>
            <a:r>
              <a:rPr sz="1725" b="1">
                <a:solidFill>
                  <a:srgbClr val="F5F8FC"/>
                </a:solidFill>
              </a:rPr>
              <a:t>ALLOCATES / FINITE CAPACITY</a:t>
            </a:r>
          </a:p>
        </p:txBody>
      </p:sp>
      <p:sp>
        <p:nvSpPr>
          <p:cNvPr id="18" name="">
            <a:extLst xmlns:a="http://schemas.openxmlformats.org/drawingml/2006/main">
              <a:ext uri="{FF2B5EF4-FFF2-40B4-BE49-F238E27FC236}">
                <a16:creationId xmlns:a16="http://schemas.microsoft.com/office/drawing/2014/main" id="{D04A27AF-9F99-4A32-A4C2-F1B0B7ED4121}"/>
              </a:ext>
            </a:extLst>
          </p:cNvPr>
          <p:cNvSpPr>
            <a:spLocks xmlns:a="http://schemas.openxmlformats.org/drawingml/2006/main" noGrp="1"/>
          </p:cNvSpPr>
          <p:nvPr/>
        </p:nvSpPr>
        <p:spPr>
          <a:xfrm xmlns:a="http://schemas.openxmlformats.org/drawingml/2006/main">
            <a:off x="8153400" y="4248150"/>
            <a:ext cx="2819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9" name="ai-body">
            <a:extLst xmlns:a="http://schemas.openxmlformats.org/drawingml/2006/main">
              <a:ext uri="{FF2B5EF4-FFF2-40B4-BE49-F238E27FC236}">
                <a16:creationId xmlns:a16="http://schemas.microsoft.com/office/drawing/2014/main" id="{7CBF65F5-59F8-4C5A-9ED4-472B8D145E61}"/>
              </a:ext>
            </a:extLst>
          </p:cNvPr>
          <p:cNvSpPr>
            <a:spLocks xmlns:a="http://schemas.openxmlformats.org/drawingml/2006/main" noGrp="1"/>
          </p:cNvSpPr>
          <p:nvPr/>
        </p:nvSpPr>
        <p:spPr>
          <a:xfrm xmlns:a="http://schemas.openxmlformats.org/drawingml/2006/main">
            <a:off x="8153400" y="4438650"/>
            <a:ext cx="276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AABFD2"/>
                </a:solidFill>
              </a:defRPr>
            </a:pPr>
            <a:r>
              <a:rPr sz="1200" b="0">
                <a:solidFill>
                  <a:srgbClr val="AABFD2"/>
                </a:solidFill>
              </a:rPr>
              <a:t>Grade fit · route capacity</a:t>
            </a:r>
          </a:p>
          <a:p xmlns:a="http://schemas.openxmlformats.org/drawingml/2006/main">
            <a:pPr>
              <a:buNone/>
              <a:defRPr sz="1200" b="0">
                <a:solidFill>
                  <a:srgbClr val="AABFD2"/>
                </a:solidFill>
              </a:defRPr>
            </a:pPr>
            <a:r>
              <a:rPr sz="1200" b="0">
                <a:solidFill>
                  <a:srgbClr val="AABFD2"/>
                </a:solidFill>
              </a:rPr>
              <a:t>Shared contention</a:t>
            </a:r>
          </a:p>
        </p:txBody>
      </p:sp>
      <p:sp>
        <p:nvSpPr>
          <p:cNvPr id="20" name="no-blackbox">
            <a:extLst xmlns:a="http://schemas.openxmlformats.org/drawingml/2006/main">
              <a:ext uri="{FF2B5EF4-FFF2-40B4-BE49-F238E27FC236}">
                <a16:creationId xmlns:a16="http://schemas.microsoft.com/office/drawing/2014/main" id="{86CD651F-A6A8-4F3E-9A35-21EB89EB44A0}"/>
              </a:ext>
            </a:extLst>
          </p:cNvPr>
          <p:cNvSpPr>
            <a:spLocks xmlns:a="http://schemas.openxmlformats.org/drawingml/2006/main" noGrp="1"/>
          </p:cNvSpPr>
          <p:nvPr/>
        </p:nvSpPr>
        <p:spPr>
          <a:xfrm xmlns:a="http://schemas.openxmlformats.org/drawingml/2006/main">
            <a:off x="685800" y="5619750"/>
            <a:ext cx="10820400" cy="514350"/>
          </a:xfrm>
          <a:prstGeom xmlns:a="http://schemas.openxmlformats.org/drawingml/2006/main" prst="roundRect">
            <a:avLst>
              <a:gd name="adj" fmla="val 22222"/>
            </a:avLst>
          </a:prstGeom>
          <a:solidFill xmlns:a="http://schemas.openxmlformats.org/drawingml/2006/main">
            <a:srgbClr val="1A2633"/>
          </a:solidFill>
          <a:ln xmlns:a="http://schemas.openxmlformats.org/drawingml/2006/main" w="9525">
            <a:solidFill>
              <a:srgbClr val="244563"/>
            </a:solidFill>
            <a:prstDash val="solid"/>
          </a:ln>
        </p:spPr>
      </p:sp>
      <p:sp>
        <p:nvSpPr>
          <p:cNvPr id="21" name="no-blackbox-copy">
            <a:extLst xmlns:a="http://schemas.openxmlformats.org/drawingml/2006/main">
              <a:ext uri="{FF2B5EF4-FFF2-40B4-BE49-F238E27FC236}">
                <a16:creationId xmlns:a16="http://schemas.microsoft.com/office/drawing/2014/main" id="{D19BB99B-A148-4EEC-85B9-81D08D5E9FD3}"/>
              </a:ext>
            </a:extLst>
          </p:cNvPr>
          <p:cNvSpPr>
            <a:spLocks xmlns:a="http://schemas.openxmlformats.org/drawingml/2006/main" noGrp="1"/>
          </p:cNvSpPr>
          <p:nvPr/>
        </p:nvSpPr>
        <p:spPr>
          <a:xfrm xmlns:a="http://schemas.openxmlformats.org/drawingml/2006/main">
            <a:off x="914400" y="577215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5F8FC"/>
                </a:solidFill>
              </a:defRPr>
            </a:pPr>
            <a:r>
              <a:rPr sz="1350" b="1">
                <a:solidFill>
                  <a:srgbClr val="F5F8FC"/>
                </a:solidFill>
              </a:rPr>
              <a:t>Never delegated to AI: factual verification, capacity truth, legal clearance, or approval.</a:t>
            </a:r>
          </a:p>
        </p:txBody>
      </p:sp>
      <p:sp>
        <p:nvSpPr>
          <p:cNvPr id="22" name="">
            <a:extLst xmlns:a="http://schemas.openxmlformats.org/drawingml/2006/main">
              <a:ext uri="{FF2B5EF4-FFF2-40B4-BE49-F238E27FC236}">
                <a16:creationId xmlns:a16="http://schemas.microsoft.com/office/drawing/2014/main" id="{F0590152-E05E-4677-8A85-D2D360B51D3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3" name="footer">
            <a:extLst xmlns:a="http://schemas.openxmlformats.org/drawingml/2006/main">
              <a:ext uri="{FF2B5EF4-FFF2-40B4-BE49-F238E27FC236}">
                <a16:creationId xmlns:a16="http://schemas.microsoft.com/office/drawing/2014/main" id="{C43AA311-8702-4F65-A1A5-2661869754D1}"/>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65946312"/>
      </p:ext>
    </p:extLst>
  </p:cSld>
</p:sld>
</file>

<file path=ppt/slides/slide6.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5" name="eyebrow">
            <a:extLst xmlns:a="http://schemas.openxmlformats.org/drawingml/2006/main">
              <a:ext uri="{FF2B5EF4-FFF2-40B4-BE49-F238E27FC236}">
                <a16:creationId xmlns:a16="http://schemas.microsoft.com/office/drawing/2014/main" id="{8C3978EE-334C-43D4-9C4A-2E3E7955ED06}"/>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SCENARIO → IMPACT</a:t>
            </a:r>
          </a:p>
        </p:txBody>
      </p:sp>
      <p:sp>
        <p:nvSpPr>
          <p:cNvPr id="2" name="slide-number">
            <a:extLst xmlns:a="http://schemas.openxmlformats.org/drawingml/2006/main">
              <a:ext uri="{FF2B5EF4-FFF2-40B4-BE49-F238E27FC236}">
                <a16:creationId xmlns:a16="http://schemas.microsoft.com/office/drawing/2014/main" id="{395D830D-1520-4A0A-A9BF-40F8B7958A79}"/>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06</a:t>
            </a:r>
          </a:p>
        </p:txBody>
      </p:sp>
      <p:sp>
        <p:nvSpPr>
          <p:cNvPr id="3" name="title">
            <a:extLst xmlns:a="http://schemas.openxmlformats.org/drawingml/2006/main">
              <a:ext uri="{FF2B5EF4-FFF2-40B4-BE49-F238E27FC236}">
                <a16:creationId xmlns:a16="http://schemas.microsoft.com/office/drawing/2014/main" id="{6860A3BD-E160-4A44-AD96-4C85996A6977}"/>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One case exposes the consequences of waiting.</a:t>
            </a:r>
          </a:p>
        </p:txBody>
      </p:sp>
      <p:sp>
        <p:nvSpPr>
          <p:cNvPr id="4" name="subtitle">
            <a:extLst xmlns:a="http://schemas.openxmlformats.org/drawingml/2006/main">
              <a:ext uri="{FF2B5EF4-FFF2-40B4-BE49-F238E27FC236}">
                <a16:creationId xmlns:a16="http://schemas.microsoft.com/office/drawing/2014/main" id="{70D1906D-A25A-4D3A-8885-D6F31E43E225}"/>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Visible assumptions create a local, reproducible decision window—not a live market forecast.</a:t>
            </a:r>
          </a:p>
        </p:txBody>
      </p:sp>
      <p:sp>
        <p:nvSpPr>
          <p:cNvPr id="5" name="demo-ring">
            <a:extLst xmlns:a="http://schemas.openxmlformats.org/drawingml/2006/main">
              <a:ext uri="{FF2B5EF4-FFF2-40B4-BE49-F238E27FC236}">
                <a16:creationId xmlns:a16="http://schemas.microsoft.com/office/drawing/2014/main" id="{41E26AE5-FAA5-46FE-8F09-BBEEB03194BF}"/>
              </a:ext>
            </a:extLst>
          </p:cNvPr>
          <p:cNvSpPr>
            <a:spLocks xmlns:a="http://schemas.openxmlformats.org/drawingml/2006/main" noGrp="1"/>
          </p:cNvSpPr>
          <p:nvPr/>
        </p:nvSpPr>
        <p:spPr>
          <a:xfrm xmlns:a="http://schemas.openxmlformats.org/drawingml/2006/main">
            <a:off x="1409700"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F58D95"/>
            </a:solidFill>
            <a:prstDash val="solid"/>
          </a:ln>
        </p:spPr>
      </p:sp>
      <p:sp>
        <p:nvSpPr>
          <p:cNvPr id="6" name="demo-number">
            <a:extLst xmlns:a="http://schemas.openxmlformats.org/drawingml/2006/main">
              <a:ext uri="{FF2B5EF4-FFF2-40B4-BE49-F238E27FC236}">
                <a16:creationId xmlns:a16="http://schemas.microsoft.com/office/drawing/2014/main" id="{670A77B4-04CC-4609-9CDA-66409C5F5AB2}"/>
              </a:ext>
            </a:extLst>
          </p:cNvPr>
          <p:cNvSpPr>
            <a:spLocks xmlns:a="http://schemas.openxmlformats.org/drawingml/2006/main" noGrp="1"/>
          </p:cNvSpPr>
          <p:nvPr/>
        </p:nvSpPr>
        <p:spPr>
          <a:xfrm xmlns:a="http://schemas.openxmlformats.org/drawingml/2006/main">
            <a:off x="1638300"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F58D95"/>
                </a:solidFill>
              </a:defRPr>
            </a:pPr>
            <a:r>
              <a:rPr sz="1425" b="1">
                <a:solidFill>
                  <a:srgbClr val="F58D95"/>
                </a:solidFill>
              </a:rPr>
              <a:t>1</a:t>
            </a:r>
          </a:p>
        </p:txBody>
      </p:sp>
      <p:sp>
        <p:nvSpPr>
          <p:cNvPr id="7" name="">
            <a:extLst xmlns:a="http://schemas.openxmlformats.org/drawingml/2006/main">
              <a:ext uri="{FF2B5EF4-FFF2-40B4-BE49-F238E27FC236}">
                <a16:creationId xmlns:a16="http://schemas.microsoft.com/office/drawing/2014/main" id="{ABFC62FF-9FF1-440A-8471-03337A49EFE6}"/>
              </a:ext>
            </a:extLst>
          </p:cNvPr>
          <p:cNvSpPr>
            <a:spLocks xmlns:a="http://schemas.openxmlformats.org/drawingml/2006/main" noGrp="1"/>
          </p:cNvSpPr>
          <p:nvPr/>
        </p:nvSpPr>
        <p:spPr>
          <a:xfrm xmlns:a="http://schemas.openxmlformats.org/drawingml/2006/main">
            <a:off x="2085975" y="3286125"/>
            <a:ext cx="76200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8" name="demo-head">
            <a:extLst xmlns:a="http://schemas.openxmlformats.org/drawingml/2006/main">
              <a:ext uri="{FF2B5EF4-FFF2-40B4-BE49-F238E27FC236}">
                <a16:creationId xmlns:a16="http://schemas.microsoft.com/office/drawing/2014/main" id="{C1469893-5510-4F45-8A73-49823B2B0FAD}"/>
              </a:ext>
            </a:extLst>
          </p:cNvPr>
          <p:cNvSpPr>
            <a:spLocks xmlns:a="http://schemas.openxmlformats.org/drawingml/2006/main" noGrp="1"/>
          </p:cNvSpPr>
          <p:nvPr/>
        </p:nvSpPr>
        <p:spPr>
          <a:xfrm xmlns:a="http://schemas.openxmlformats.org/drawingml/2006/main">
            <a:off x="704850"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Evidence reviewed</a:t>
            </a:r>
          </a:p>
        </p:txBody>
      </p:sp>
      <p:sp>
        <p:nvSpPr>
          <p:cNvPr id="9" name="demo-body">
            <a:extLst xmlns:a="http://schemas.openxmlformats.org/drawingml/2006/main">
              <a:ext uri="{FF2B5EF4-FFF2-40B4-BE49-F238E27FC236}">
                <a16:creationId xmlns:a16="http://schemas.microsoft.com/office/drawing/2014/main" id="{57F714C5-D1C2-4EDD-81BF-FDE465015E64}"/>
              </a:ext>
            </a:extLst>
          </p:cNvPr>
          <p:cNvSpPr>
            <a:spLocks xmlns:a="http://schemas.openxmlformats.org/drawingml/2006/main" noGrp="1"/>
          </p:cNvSpPr>
          <p:nvPr/>
        </p:nvSpPr>
        <p:spPr>
          <a:xfrm xmlns:a="http://schemas.openxmlformats.org/drawingml/2006/main">
            <a:off x="704850"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Source status and unknowns</a:t>
            </a:r>
          </a:p>
        </p:txBody>
      </p:sp>
      <p:sp>
        <p:nvSpPr>
          <p:cNvPr id="10" name="demo-ring">
            <a:extLst xmlns:a="http://schemas.openxmlformats.org/drawingml/2006/main">
              <a:ext uri="{FF2B5EF4-FFF2-40B4-BE49-F238E27FC236}">
                <a16:creationId xmlns:a16="http://schemas.microsoft.com/office/drawing/2014/main" id="{6AE29A73-1FD9-4002-BCFE-94E2E260FE90}"/>
              </a:ext>
            </a:extLst>
          </p:cNvPr>
          <p:cNvSpPr>
            <a:spLocks xmlns:a="http://schemas.openxmlformats.org/drawingml/2006/main" noGrp="1"/>
          </p:cNvSpPr>
          <p:nvPr/>
        </p:nvSpPr>
        <p:spPr>
          <a:xfrm xmlns:a="http://schemas.openxmlformats.org/drawingml/2006/main">
            <a:off x="3571875"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FFC56E"/>
            </a:solidFill>
            <a:prstDash val="solid"/>
          </a:ln>
        </p:spPr>
      </p:sp>
      <p:sp>
        <p:nvSpPr>
          <p:cNvPr id="11" name="demo-number">
            <a:extLst xmlns:a="http://schemas.openxmlformats.org/drawingml/2006/main">
              <a:ext uri="{FF2B5EF4-FFF2-40B4-BE49-F238E27FC236}">
                <a16:creationId xmlns:a16="http://schemas.microsoft.com/office/drawing/2014/main" id="{988DCA29-F3C7-4EEF-9F2B-435071CA6F75}"/>
              </a:ext>
            </a:extLst>
          </p:cNvPr>
          <p:cNvSpPr>
            <a:spLocks xmlns:a="http://schemas.openxmlformats.org/drawingml/2006/main" noGrp="1"/>
          </p:cNvSpPr>
          <p:nvPr/>
        </p:nvSpPr>
        <p:spPr>
          <a:xfrm xmlns:a="http://schemas.openxmlformats.org/drawingml/2006/main">
            <a:off x="3800475"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FFC56E"/>
                </a:solidFill>
              </a:defRPr>
            </a:pPr>
            <a:r>
              <a:rPr sz="1425" b="1">
                <a:solidFill>
                  <a:srgbClr val="FFC56E"/>
                </a:solidFill>
              </a:rPr>
              <a:t>2</a:t>
            </a:r>
          </a:p>
        </p:txBody>
      </p:sp>
      <p:sp>
        <p:nvSpPr>
          <p:cNvPr id="12" name="">
            <a:extLst xmlns:a="http://schemas.openxmlformats.org/drawingml/2006/main">
              <a:ext uri="{FF2B5EF4-FFF2-40B4-BE49-F238E27FC236}">
                <a16:creationId xmlns:a16="http://schemas.microsoft.com/office/drawing/2014/main" id="{83ECB86C-FB46-48A3-84BC-F17A558824F9}"/>
              </a:ext>
            </a:extLst>
          </p:cNvPr>
          <p:cNvSpPr>
            <a:spLocks xmlns:a="http://schemas.openxmlformats.org/drawingml/2006/main" noGrp="1"/>
          </p:cNvSpPr>
          <p:nvPr/>
        </p:nvSpPr>
        <p:spPr>
          <a:xfrm xmlns:a="http://schemas.openxmlformats.org/drawingml/2006/main">
            <a:off x="4248150" y="3286125"/>
            <a:ext cx="76200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3" name="demo-head">
            <a:extLst xmlns:a="http://schemas.openxmlformats.org/drawingml/2006/main">
              <a:ext uri="{FF2B5EF4-FFF2-40B4-BE49-F238E27FC236}">
                <a16:creationId xmlns:a16="http://schemas.microsoft.com/office/drawing/2014/main" id="{A329C069-FA25-4678-8ADD-D57F4BD88E4D}"/>
              </a:ext>
            </a:extLst>
          </p:cNvPr>
          <p:cNvSpPr>
            <a:spLocks xmlns:a="http://schemas.openxmlformats.org/drawingml/2006/main" noGrp="1"/>
          </p:cNvSpPr>
          <p:nvPr/>
        </p:nvSpPr>
        <p:spPr>
          <a:xfrm xmlns:a="http://schemas.openxmlformats.org/drawingml/2006/main">
            <a:off x="2867025"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Risk assessed</a:t>
            </a:r>
          </a:p>
        </p:txBody>
      </p:sp>
      <p:sp>
        <p:nvSpPr>
          <p:cNvPr id="14" name="demo-body">
            <a:extLst xmlns:a="http://schemas.openxmlformats.org/drawingml/2006/main">
              <a:ext uri="{FF2B5EF4-FFF2-40B4-BE49-F238E27FC236}">
                <a16:creationId xmlns:a16="http://schemas.microsoft.com/office/drawing/2014/main" id="{DDE4A97A-752A-44B7-9066-7E971BA5A199}"/>
              </a:ext>
            </a:extLst>
          </p:cNvPr>
          <p:cNvSpPr>
            <a:spLocks xmlns:a="http://schemas.openxmlformats.org/drawingml/2006/main" noGrp="1"/>
          </p:cNvSpPr>
          <p:nvPr/>
        </p:nvSpPr>
        <p:spPr>
          <a:xfrm xmlns:a="http://schemas.openxmlformats.org/drawingml/2006/main">
            <a:off x="2867025"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Corridor exposure is visible</a:t>
            </a:r>
          </a:p>
        </p:txBody>
      </p:sp>
      <p:sp>
        <p:nvSpPr>
          <p:cNvPr id="15" name="demo-ring">
            <a:extLst xmlns:a="http://schemas.openxmlformats.org/drawingml/2006/main">
              <a:ext uri="{FF2B5EF4-FFF2-40B4-BE49-F238E27FC236}">
                <a16:creationId xmlns:a16="http://schemas.microsoft.com/office/drawing/2014/main" id="{B1503839-02EB-4A4E-9067-B1963118C7F0}"/>
              </a:ext>
            </a:extLst>
          </p:cNvPr>
          <p:cNvSpPr>
            <a:spLocks xmlns:a="http://schemas.openxmlformats.org/drawingml/2006/main" noGrp="1"/>
          </p:cNvSpPr>
          <p:nvPr/>
        </p:nvSpPr>
        <p:spPr>
          <a:xfrm xmlns:a="http://schemas.openxmlformats.org/drawingml/2006/main">
            <a:off x="5734050"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66B3FF"/>
            </a:solidFill>
            <a:prstDash val="solid"/>
          </a:ln>
        </p:spPr>
      </p:sp>
      <p:sp>
        <p:nvSpPr>
          <p:cNvPr id="16" name="demo-number">
            <a:extLst xmlns:a="http://schemas.openxmlformats.org/drawingml/2006/main">
              <a:ext uri="{FF2B5EF4-FFF2-40B4-BE49-F238E27FC236}">
                <a16:creationId xmlns:a16="http://schemas.microsoft.com/office/drawing/2014/main" id="{D370E9BD-1A88-4E7C-BBF8-E2AE4799F781}"/>
              </a:ext>
            </a:extLst>
          </p:cNvPr>
          <p:cNvSpPr>
            <a:spLocks xmlns:a="http://schemas.openxmlformats.org/drawingml/2006/main" noGrp="1"/>
          </p:cNvSpPr>
          <p:nvPr/>
        </p:nvSpPr>
        <p:spPr>
          <a:xfrm xmlns:a="http://schemas.openxmlformats.org/drawingml/2006/main">
            <a:off x="5962650"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66B3FF"/>
                </a:solidFill>
              </a:defRPr>
            </a:pPr>
            <a:r>
              <a:rPr sz="1425" b="1">
                <a:solidFill>
                  <a:srgbClr val="66B3FF"/>
                </a:solidFill>
              </a:rPr>
              <a:t>3</a:t>
            </a:r>
          </a:p>
        </p:txBody>
      </p:sp>
      <p:sp>
        <p:nvSpPr>
          <p:cNvPr id="17" name="">
            <a:extLst xmlns:a="http://schemas.openxmlformats.org/drawingml/2006/main">
              <a:ext uri="{FF2B5EF4-FFF2-40B4-BE49-F238E27FC236}">
                <a16:creationId xmlns:a16="http://schemas.microsoft.com/office/drawing/2014/main" id="{B772508D-0CB2-45DF-8761-2A4949701C97}"/>
              </a:ext>
            </a:extLst>
          </p:cNvPr>
          <p:cNvSpPr>
            <a:spLocks xmlns:a="http://schemas.openxmlformats.org/drawingml/2006/main" noGrp="1"/>
          </p:cNvSpPr>
          <p:nvPr/>
        </p:nvSpPr>
        <p:spPr>
          <a:xfrm xmlns:a="http://schemas.openxmlformats.org/drawingml/2006/main">
            <a:off x="6410325" y="3286125"/>
            <a:ext cx="76200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18" name="demo-head">
            <a:extLst xmlns:a="http://schemas.openxmlformats.org/drawingml/2006/main">
              <a:ext uri="{FF2B5EF4-FFF2-40B4-BE49-F238E27FC236}">
                <a16:creationId xmlns:a16="http://schemas.microsoft.com/office/drawing/2014/main" id="{6A193FD9-B5DA-44D7-9C18-1A30B1B2347E}"/>
              </a:ext>
            </a:extLst>
          </p:cNvPr>
          <p:cNvSpPr>
            <a:spLocks xmlns:a="http://schemas.openxmlformats.org/drawingml/2006/main" noGrp="1"/>
          </p:cNvSpPr>
          <p:nvPr/>
        </p:nvSpPr>
        <p:spPr>
          <a:xfrm xmlns:a="http://schemas.openxmlformats.org/drawingml/2006/main">
            <a:off x="5029200"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Scenario run</a:t>
            </a:r>
          </a:p>
        </p:txBody>
      </p:sp>
      <p:sp>
        <p:nvSpPr>
          <p:cNvPr id="19" name="demo-body">
            <a:extLst xmlns:a="http://schemas.openxmlformats.org/drawingml/2006/main">
              <a:ext uri="{FF2B5EF4-FFF2-40B4-BE49-F238E27FC236}">
                <a16:creationId xmlns:a16="http://schemas.microsoft.com/office/drawing/2014/main" id="{503C5405-3E60-4E1B-8201-2AC0518D2B13}"/>
              </a:ext>
            </a:extLst>
          </p:cNvPr>
          <p:cNvSpPr>
            <a:spLocks xmlns:a="http://schemas.openxmlformats.org/drawingml/2006/main" noGrp="1"/>
          </p:cNvSpPr>
          <p:nvPr/>
        </p:nvSpPr>
        <p:spPr>
          <a:xfrm xmlns:a="http://schemas.openxmlformats.org/drawingml/2006/main">
            <a:off x="5029200"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Supply and cost ranges</a:t>
            </a:r>
          </a:p>
        </p:txBody>
      </p:sp>
      <p:sp>
        <p:nvSpPr>
          <p:cNvPr id="20" name="demo-ring">
            <a:extLst xmlns:a="http://schemas.openxmlformats.org/drawingml/2006/main">
              <a:ext uri="{FF2B5EF4-FFF2-40B4-BE49-F238E27FC236}">
                <a16:creationId xmlns:a16="http://schemas.microsoft.com/office/drawing/2014/main" id="{76A966A4-D0EF-4CFB-8A9E-8F76427AD804}"/>
              </a:ext>
            </a:extLst>
          </p:cNvPr>
          <p:cNvSpPr>
            <a:spLocks xmlns:a="http://schemas.openxmlformats.org/drawingml/2006/main" noGrp="1"/>
          </p:cNvSpPr>
          <p:nvPr/>
        </p:nvSpPr>
        <p:spPr>
          <a:xfrm xmlns:a="http://schemas.openxmlformats.org/drawingml/2006/main">
            <a:off x="7896225"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51E5D6"/>
            </a:solidFill>
            <a:prstDash val="solid"/>
          </a:ln>
        </p:spPr>
      </p:sp>
      <p:sp>
        <p:nvSpPr>
          <p:cNvPr id="21" name="demo-number">
            <a:extLst xmlns:a="http://schemas.openxmlformats.org/drawingml/2006/main">
              <a:ext uri="{FF2B5EF4-FFF2-40B4-BE49-F238E27FC236}">
                <a16:creationId xmlns:a16="http://schemas.microsoft.com/office/drawing/2014/main" id="{CB9481FF-9717-4E28-B305-50F83AB8B4AA}"/>
              </a:ext>
            </a:extLst>
          </p:cNvPr>
          <p:cNvSpPr>
            <a:spLocks xmlns:a="http://schemas.openxmlformats.org/drawingml/2006/main" noGrp="1"/>
          </p:cNvSpPr>
          <p:nvPr/>
        </p:nvSpPr>
        <p:spPr>
          <a:xfrm xmlns:a="http://schemas.openxmlformats.org/drawingml/2006/main">
            <a:off x="8124825"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51E5D6"/>
                </a:solidFill>
              </a:defRPr>
            </a:pPr>
            <a:r>
              <a:rPr sz="1425" b="1">
                <a:solidFill>
                  <a:srgbClr val="51E5D6"/>
                </a:solidFill>
              </a:rPr>
              <a:t>4</a:t>
            </a:r>
          </a:p>
        </p:txBody>
      </p:sp>
      <p:sp>
        <p:nvSpPr>
          <p:cNvPr id="22" name="">
            <a:extLst xmlns:a="http://schemas.openxmlformats.org/drawingml/2006/main">
              <a:ext uri="{FF2B5EF4-FFF2-40B4-BE49-F238E27FC236}">
                <a16:creationId xmlns:a16="http://schemas.microsoft.com/office/drawing/2014/main" id="{D230983B-3325-40B8-BCF5-5C165AE735DD}"/>
              </a:ext>
            </a:extLst>
          </p:cNvPr>
          <p:cNvSpPr>
            <a:spLocks xmlns:a="http://schemas.openxmlformats.org/drawingml/2006/main" noGrp="1"/>
          </p:cNvSpPr>
          <p:nvPr/>
        </p:nvSpPr>
        <p:spPr>
          <a:xfrm xmlns:a="http://schemas.openxmlformats.org/drawingml/2006/main">
            <a:off x="8572500" y="3286125"/>
            <a:ext cx="762000" cy="0"/>
          </a:xfrm>
          <a:prstGeom xmlns:a="http://schemas.openxmlformats.org/drawingml/2006/main" prst="line">
            <a:avLst/>
          </a:prstGeom>
          <a:noFill xmlns:a="http://schemas.openxmlformats.org/drawingml/2006/main"/>
          <a:ln xmlns:a="http://schemas.openxmlformats.org/drawingml/2006/main" w="19050">
            <a:solidFill>
              <a:srgbClr val="244563"/>
            </a:solidFill>
            <a:prstDash val="solid"/>
          </a:ln>
        </p:spPr>
      </p:sp>
      <p:sp>
        <p:nvSpPr>
          <p:cNvPr id="23" name="demo-head">
            <a:extLst xmlns:a="http://schemas.openxmlformats.org/drawingml/2006/main">
              <a:ext uri="{FF2B5EF4-FFF2-40B4-BE49-F238E27FC236}">
                <a16:creationId xmlns:a16="http://schemas.microsoft.com/office/drawing/2014/main" id="{25E733CA-44C4-4A97-BCBD-AB985A6DD41D}"/>
              </a:ext>
            </a:extLst>
          </p:cNvPr>
          <p:cNvSpPr>
            <a:spLocks xmlns:a="http://schemas.openxmlformats.org/drawingml/2006/main" noGrp="1"/>
          </p:cNvSpPr>
          <p:nvPr/>
        </p:nvSpPr>
        <p:spPr>
          <a:xfrm xmlns:a="http://schemas.openxmlformats.org/drawingml/2006/main">
            <a:off x="7191375"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Decision window</a:t>
            </a:r>
          </a:p>
        </p:txBody>
      </p:sp>
      <p:sp>
        <p:nvSpPr>
          <p:cNvPr id="24" name="demo-body">
            <a:extLst xmlns:a="http://schemas.openxmlformats.org/drawingml/2006/main">
              <a:ext uri="{FF2B5EF4-FFF2-40B4-BE49-F238E27FC236}">
                <a16:creationId xmlns:a16="http://schemas.microsoft.com/office/drawing/2014/main" id="{5215DADE-B4F0-4267-BB4C-C701C3C7162E}"/>
              </a:ext>
            </a:extLst>
          </p:cNvPr>
          <p:cNvSpPr>
            <a:spLocks xmlns:a="http://schemas.openxmlformats.org/drawingml/2006/main" noGrp="1"/>
          </p:cNvSpPr>
          <p:nvPr/>
        </p:nvSpPr>
        <p:spPr>
          <a:xfrm xmlns:a="http://schemas.openxmlformats.org/drawingml/2006/main">
            <a:off x="7191375"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Clock responds to approval-delay assumption</a:t>
            </a:r>
          </a:p>
        </p:txBody>
      </p:sp>
      <p:sp>
        <p:nvSpPr>
          <p:cNvPr id="25" name="demo-ring">
            <a:extLst xmlns:a="http://schemas.openxmlformats.org/drawingml/2006/main">
              <a:ext uri="{FF2B5EF4-FFF2-40B4-BE49-F238E27FC236}">
                <a16:creationId xmlns:a16="http://schemas.microsoft.com/office/drawing/2014/main" id="{D46D67A2-5235-4B02-8D8F-636ED4E431A5}"/>
              </a:ext>
            </a:extLst>
          </p:cNvPr>
          <p:cNvSpPr>
            <a:spLocks xmlns:a="http://schemas.openxmlformats.org/drawingml/2006/main" noGrp="1"/>
          </p:cNvSpPr>
          <p:nvPr/>
        </p:nvSpPr>
        <p:spPr>
          <a:xfrm xmlns:a="http://schemas.openxmlformats.org/drawingml/2006/main">
            <a:off x="10058400" y="2952750"/>
            <a:ext cx="666750" cy="666750"/>
          </a:xfrm>
          <a:prstGeom xmlns:a="http://schemas.openxmlformats.org/drawingml/2006/main" prst="ellipse">
            <a:avLst/>
          </a:prstGeom>
          <a:solidFill xmlns:a="http://schemas.openxmlformats.org/drawingml/2006/main">
            <a:srgbClr val="0D1D31"/>
          </a:solidFill>
          <a:ln xmlns:a="http://schemas.openxmlformats.org/drawingml/2006/main" w="9525">
            <a:solidFill>
              <a:srgbClr val="86E5B6"/>
            </a:solidFill>
            <a:prstDash val="solid"/>
          </a:ln>
        </p:spPr>
      </p:sp>
      <p:sp>
        <p:nvSpPr>
          <p:cNvPr id="26" name="demo-number">
            <a:extLst xmlns:a="http://schemas.openxmlformats.org/drawingml/2006/main">
              <a:ext uri="{FF2B5EF4-FFF2-40B4-BE49-F238E27FC236}">
                <a16:creationId xmlns:a16="http://schemas.microsoft.com/office/drawing/2014/main" id="{1EB0CC97-D03B-4B07-B691-916410991791}"/>
              </a:ext>
            </a:extLst>
          </p:cNvPr>
          <p:cNvSpPr>
            <a:spLocks xmlns:a="http://schemas.openxmlformats.org/drawingml/2006/main" noGrp="1"/>
          </p:cNvSpPr>
          <p:nvPr/>
        </p:nvSpPr>
        <p:spPr>
          <a:xfrm xmlns:a="http://schemas.openxmlformats.org/drawingml/2006/main">
            <a:off x="10287000" y="3181350"/>
            <a:ext cx="209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1">
                <a:solidFill>
                  <a:srgbClr val="86E5B6"/>
                </a:solidFill>
              </a:defRPr>
            </a:pPr>
            <a:r>
              <a:rPr sz="1425" b="1">
                <a:solidFill>
                  <a:srgbClr val="86E5B6"/>
                </a:solidFill>
              </a:rPr>
              <a:t>5</a:t>
            </a:r>
          </a:p>
        </p:txBody>
      </p:sp>
      <p:sp>
        <p:nvSpPr>
          <p:cNvPr id="27" name="demo-head">
            <a:extLst xmlns:a="http://schemas.openxmlformats.org/drawingml/2006/main">
              <a:ext uri="{FF2B5EF4-FFF2-40B4-BE49-F238E27FC236}">
                <a16:creationId xmlns:a16="http://schemas.microsoft.com/office/drawing/2014/main" id="{FAC6CC56-FA5B-4227-BE8A-CEB6BC94AF9F}"/>
              </a:ext>
            </a:extLst>
          </p:cNvPr>
          <p:cNvSpPr>
            <a:spLocks xmlns:a="http://schemas.openxmlformats.org/drawingml/2006/main" noGrp="1"/>
          </p:cNvSpPr>
          <p:nvPr/>
        </p:nvSpPr>
        <p:spPr>
          <a:xfrm xmlns:a="http://schemas.openxmlformats.org/drawingml/2006/main">
            <a:off x="9353550" y="3848100"/>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5F8FC"/>
                </a:solidFill>
              </a:defRPr>
            </a:pPr>
            <a:r>
              <a:rPr sz="1275" b="1">
                <a:solidFill>
                  <a:srgbClr val="F5F8FC"/>
                </a:solidFill>
              </a:rPr>
              <a:t>National impact</a:t>
            </a:r>
          </a:p>
        </p:txBody>
      </p:sp>
      <p:sp>
        <p:nvSpPr>
          <p:cNvPr id="28" name="demo-body">
            <a:extLst xmlns:a="http://schemas.openxmlformats.org/drawingml/2006/main">
              <a:ext uri="{FF2B5EF4-FFF2-40B4-BE49-F238E27FC236}">
                <a16:creationId xmlns:a16="http://schemas.microsoft.com/office/drawing/2014/main" id="{12A81B3A-0371-4FD6-BF6B-5FC531F3105E}"/>
              </a:ext>
            </a:extLst>
          </p:cNvPr>
          <p:cNvSpPr>
            <a:spLocks xmlns:a="http://schemas.openxmlformats.org/drawingml/2006/main" noGrp="1"/>
          </p:cNvSpPr>
          <p:nvPr/>
        </p:nvSpPr>
        <p:spPr>
          <a:xfrm xmlns:a="http://schemas.openxmlformats.org/drawingml/2006/main">
            <a:off x="9353550" y="4210050"/>
            <a:ext cx="2047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0">
                <a:solidFill>
                  <a:srgbClr val="AABFD2"/>
                </a:solidFill>
              </a:defRPr>
            </a:pPr>
            <a:r>
              <a:rPr sz="1050" b="0">
                <a:solidFill>
                  <a:srgbClr val="AABFD2"/>
                </a:solidFill>
              </a:rPr>
              <a:t>Shared capacity cannot be double-counted</a:t>
            </a:r>
          </a:p>
        </p:txBody>
      </p:sp>
      <p:sp>
        <p:nvSpPr>
          <p:cNvPr id="29" name="demo-conclusion">
            <a:extLst xmlns:a="http://schemas.openxmlformats.org/drawingml/2006/main">
              <a:ext uri="{FF2B5EF4-FFF2-40B4-BE49-F238E27FC236}">
                <a16:creationId xmlns:a16="http://schemas.microsoft.com/office/drawing/2014/main" id="{96DD649E-F6F9-483B-9680-D540BA228007}"/>
              </a:ext>
            </a:extLst>
          </p:cNvPr>
          <p:cNvSpPr>
            <a:spLocks xmlns:a="http://schemas.openxmlformats.org/drawingml/2006/main" noGrp="1"/>
          </p:cNvSpPr>
          <p:nvPr/>
        </p:nvSpPr>
        <p:spPr>
          <a:xfrm xmlns:a="http://schemas.openxmlformats.org/drawingml/2006/main">
            <a:off x="685800" y="5381625"/>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F5F8FC"/>
                </a:solidFill>
              </a:defRPr>
            </a:pPr>
            <a:r>
              <a:rPr sz="1725" b="1">
                <a:solidFill>
                  <a:srgbClr val="F5F8FC"/>
                </a:solidFill>
              </a:rPr>
              <a:t>Every state changes the next decision—not just another chart.</a:t>
            </a:r>
          </a:p>
        </p:txBody>
      </p:sp>
      <p:sp>
        <p:nvSpPr>
          <p:cNvPr id="30" name="chip">
            <a:extLst xmlns:a="http://schemas.openxmlformats.org/drawingml/2006/main">
              <a:ext uri="{FF2B5EF4-FFF2-40B4-BE49-F238E27FC236}">
                <a16:creationId xmlns:a16="http://schemas.microsoft.com/office/drawing/2014/main" id="{40FAFA4F-B3E9-4CF6-8CA8-E17886CCE3AF}"/>
              </a:ext>
            </a:extLst>
          </p:cNvPr>
          <p:cNvSpPr>
            <a:spLocks xmlns:a="http://schemas.openxmlformats.org/drawingml/2006/main" noGrp="1"/>
          </p:cNvSpPr>
          <p:nvPr/>
        </p:nvSpPr>
        <p:spPr>
          <a:xfrm xmlns:a="http://schemas.openxmlformats.org/drawingml/2006/main">
            <a:off x="685800" y="5886450"/>
            <a:ext cx="108585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FFC56E"/>
            </a:solidFill>
            <a:prstDash val="solid"/>
          </a:ln>
        </p:spPr>
        <p:txBody>
          <a:bodyPr xmlns:a="http://schemas.openxmlformats.org/drawingml/2006/main"/>
          <a:lstStyle xmlns:a="http://schemas.openxmlformats.org/drawingml/2006/main"/>
          <a:p xmlns:a="http://schemas.openxmlformats.org/drawingml/2006/main">
            <a:pPr>
              <a:buNone/>
              <a:defRPr sz="900" b="1">
                <a:solidFill>
                  <a:srgbClr val="FFC56E"/>
                </a:solidFill>
              </a:defRPr>
            </a:pPr>
            <a:r>
              <a:rPr sz="900" b="1">
                <a:solidFill>
                  <a:srgbClr val="FFC56E"/>
                </a:solidFill>
              </a:rPr>
              <a:t>EVIDENCE</a:t>
            </a:r>
          </a:p>
        </p:txBody>
      </p:sp>
      <p:sp>
        <p:nvSpPr>
          <p:cNvPr id="31" name="chip">
            <a:extLst xmlns:a="http://schemas.openxmlformats.org/drawingml/2006/main">
              <a:ext uri="{FF2B5EF4-FFF2-40B4-BE49-F238E27FC236}">
                <a16:creationId xmlns:a16="http://schemas.microsoft.com/office/drawing/2014/main" id="{E3C14037-BD23-4C52-9A13-C8F446BCA646}"/>
              </a:ext>
            </a:extLst>
          </p:cNvPr>
          <p:cNvSpPr>
            <a:spLocks xmlns:a="http://schemas.openxmlformats.org/drawingml/2006/main" noGrp="1"/>
          </p:cNvSpPr>
          <p:nvPr/>
        </p:nvSpPr>
        <p:spPr>
          <a:xfrm xmlns:a="http://schemas.openxmlformats.org/drawingml/2006/main">
            <a:off x="1914525" y="5886450"/>
            <a:ext cx="12954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51E5D6"/>
            </a:solidFill>
            <a:prstDash val="solid"/>
          </a:ln>
        </p:spPr>
        <p:txBody>
          <a:bodyPr xmlns:a="http://schemas.openxmlformats.org/drawingml/2006/main"/>
          <a:lstStyle xmlns:a="http://schemas.openxmlformats.org/drawingml/2006/main"/>
          <a:p xmlns:a="http://schemas.openxmlformats.org/drawingml/2006/main">
            <a:pPr>
              <a:buNone/>
              <a:defRPr sz="900" b="1">
                <a:solidFill>
                  <a:srgbClr val="51E5D6"/>
                </a:solidFill>
              </a:defRPr>
            </a:pPr>
            <a:r>
              <a:rPr sz="900" b="1">
                <a:solidFill>
                  <a:srgbClr val="51E5D6"/>
                </a:solidFill>
              </a:rPr>
              <a:t>REPRODUCIBLE</a:t>
            </a:r>
          </a:p>
        </p:txBody>
      </p:sp>
      <p:sp>
        <p:nvSpPr>
          <p:cNvPr id="32" name="chip">
            <a:extLst xmlns:a="http://schemas.openxmlformats.org/drawingml/2006/main">
              <a:ext uri="{FF2B5EF4-FFF2-40B4-BE49-F238E27FC236}">
                <a16:creationId xmlns:a16="http://schemas.microsoft.com/office/drawing/2014/main" id="{981E5899-D01E-4A55-B07F-A9CA33B7F2C2}"/>
              </a:ext>
            </a:extLst>
          </p:cNvPr>
          <p:cNvSpPr>
            <a:spLocks xmlns:a="http://schemas.openxmlformats.org/drawingml/2006/main" noGrp="1"/>
          </p:cNvSpPr>
          <p:nvPr/>
        </p:nvSpPr>
        <p:spPr>
          <a:xfrm xmlns:a="http://schemas.openxmlformats.org/drawingml/2006/main">
            <a:off x="3352800" y="5886450"/>
            <a:ext cx="184785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86E5B6"/>
            </a:solidFill>
            <a:prstDash val="solid"/>
          </a:ln>
        </p:spPr>
        <p:txBody>
          <a:bodyPr xmlns:a="http://schemas.openxmlformats.org/drawingml/2006/main"/>
          <a:lstStyle xmlns:a="http://schemas.openxmlformats.org/drawingml/2006/main"/>
          <a:p xmlns:a="http://schemas.openxmlformats.org/drawingml/2006/main">
            <a:pPr>
              <a:buNone/>
              <a:defRPr sz="900" b="1">
                <a:solidFill>
                  <a:srgbClr val="86E5B6"/>
                </a:solidFill>
              </a:defRPr>
            </a:pPr>
            <a:r>
              <a:rPr sz="900" b="1">
                <a:solidFill>
                  <a:srgbClr val="86E5B6"/>
                </a:solidFill>
              </a:rPr>
              <a:t>LOCAL ONLY</a:t>
            </a:r>
          </a:p>
        </p:txBody>
      </p:sp>
      <p:sp>
        <p:nvSpPr>
          <p:cNvPr id="33" name="">
            <a:extLst xmlns:a="http://schemas.openxmlformats.org/drawingml/2006/main">
              <a:ext uri="{FF2B5EF4-FFF2-40B4-BE49-F238E27FC236}">
                <a16:creationId xmlns:a16="http://schemas.microsoft.com/office/drawing/2014/main" id="{E31C5C94-E9AE-4D96-B575-B29206F6AB03}"/>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34" name="footer">
            <a:extLst xmlns:a="http://schemas.openxmlformats.org/drawingml/2006/main">
              <a:ext uri="{FF2B5EF4-FFF2-40B4-BE49-F238E27FC236}">
                <a16:creationId xmlns:a16="http://schemas.microsoft.com/office/drawing/2014/main" id="{80CAD4D2-922D-45C9-B9A5-5F84A56DA73E}"/>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622628915"/>
      </p:ext>
    </p:extLst>
  </p:cSld>
</p:sld>
</file>

<file path=ppt/slides/slide7.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19A3A7BA-F896-44CE-BD4F-DD516EBD39D5}"/>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SAFETY → ALTERNATIVES</a:t>
            </a:r>
          </a:p>
        </p:txBody>
      </p:sp>
      <p:sp>
        <p:nvSpPr>
          <p:cNvPr id="2" name="slide-number">
            <a:extLst xmlns:a="http://schemas.openxmlformats.org/drawingml/2006/main">
              <a:ext uri="{FF2B5EF4-FFF2-40B4-BE49-F238E27FC236}">
                <a16:creationId xmlns:a16="http://schemas.microsoft.com/office/drawing/2014/main" id="{AD535A3D-BC73-416D-8CD1-B07E54DE971E}"/>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07</a:t>
            </a:r>
          </a:p>
        </p:txBody>
      </p:sp>
      <p:sp>
        <p:nvSpPr>
          <p:cNvPr id="3" name="title">
            <a:extLst xmlns:a="http://schemas.openxmlformats.org/drawingml/2006/main">
              <a:ext uri="{FF2B5EF4-FFF2-40B4-BE49-F238E27FC236}">
                <a16:creationId xmlns:a16="http://schemas.microsoft.com/office/drawing/2014/main" id="{19F79C24-82AA-4EEF-BEE0-10BE68771513}"/>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The safest answer can be: not yet.</a:t>
            </a:r>
          </a:p>
        </p:txBody>
      </p:sp>
      <p:sp>
        <p:nvSpPr>
          <p:cNvPr id="4" name="subtitle">
            <a:extLst xmlns:a="http://schemas.openxmlformats.org/drawingml/2006/main">
              <a:ext uri="{FF2B5EF4-FFF2-40B4-BE49-F238E27FC236}">
                <a16:creationId xmlns:a16="http://schemas.microsoft.com/office/drawing/2014/main" id="{41BED27D-A190-4953-85A7-98BEFC89486F}"/>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PetraVigil compares options only after evidence and capacity checks have a defensible answer.</a:t>
            </a:r>
          </a:p>
        </p:txBody>
      </p:sp>
      <p:sp>
        <p:nvSpPr>
          <p:cNvPr id="5" name="portfolio">
            <a:extLst xmlns:a="http://schemas.openxmlformats.org/drawingml/2006/main">
              <a:ext uri="{FF2B5EF4-FFF2-40B4-BE49-F238E27FC236}">
                <a16:creationId xmlns:a16="http://schemas.microsoft.com/office/drawing/2014/main" id="{8B61F4BA-45DA-4926-AA04-A7A26B6DBB68}"/>
              </a:ext>
            </a:extLst>
          </p:cNvPr>
          <p:cNvSpPr>
            <a:spLocks xmlns:a="http://schemas.openxmlformats.org/drawingml/2006/main" noGrp="1"/>
          </p:cNvSpPr>
          <p:nvPr/>
        </p:nvSpPr>
        <p:spPr>
          <a:xfrm xmlns:a="http://schemas.openxmlformats.org/drawingml/2006/main">
            <a:off x="685800" y="2952750"/>
            <a:ext cx="245745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6" name="portfolio-label">
            <a:extLst xmlns:a="http://schemas.openxmlformats.org/drawingml/2006/main">
              <a:ext uri="{FF2B5EF4-FFF2-40B4-BE49-F238E27FC236}">
                <a16:creationId xmlns:a16="http://schemas.microsoft.com/office/drawing/2014/main" id="{BDE89146-01AB-49DC-BE54-2582AB019175}"/>
              </a:ext>
            </a:extLst>
          </p:cNvPr>
          <p:cNvSpPr>
            <a:spLocks xmlns:a="http://schemas.openxmlformats.org/drawingml/2006/main" noGrp="1"/>
          </p:cNvSpPr>
          <p:nvPr/>
        </p:nvSpPr>
        <p:spPr>
          <a:xfrm xmlns:a="http://schemas.openxmlformats.org/drawingml/2006/main">
            <a:off x="857250" y="3162300"/>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F58D95"/>
                </a:solidFill>
              </a:defRPr>
            </a:pPr>
            <a:r>
              <a:rPr sz="1125" b="1">
                <a:solidFill>
                  <a:srgbClr val="F58D95"/>
                </a:solidFill>
              </a:rPr>
              <a:t>UNVERIFIED</a:t>
            </a:r>
          </a:p>
        </p:txBody>
      </p:sp>
      <p:sp>
        <p:nvSpPr>
          <p:cNvPr id="7" name="portfolio-value">
            <a:extLst xmlns:a="http://schemas.openxmlformats.org/drawingml/2006/main">
              <a:ext uri="{FF2B5EF4-FFF2-40B4-BE49-F238E27FC236}">
                <a16:creationId xmlns:a16="http://schemas.microsoft.com/office/drawing/2014/main" id="{4CF0C267-35DE-44E7-B491-68C6EA4A393D}"/>
              </a:ext>
            </a:extLst>
          </p:cNvPr>
          <p:cNvSpPr>
            <a:spLocks xmlns:a="http://schemas.openxmlformats.org/drawingml/2006/main" noGrp="1"/>
          </p:cNvSpPr>
          <p:nvPr/>
        </p:nvSpPr>
        <p:spPr>
          <a:xfrm xmlns:a="http://schemas.openxmlformats.org/drawingml/2006/main">
            <a:off x="857250" y="3581400"/>
            <a:ext cx="2114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5F8FC"/>
                </a:solidFill>
              </a:defRPr>
            </a:pPr>
            <a:r>
              <a:rPr sz="1500" b="1">
                <a:solidFill>
                  <a:srgbClr val="F5F8FC"/>
                </a:solidFill>
              </a:rPr>
              <a:t>Review required</a:t>
            </a:r>
          </a:p>
        </p:txBody>
      </p:sp>
      <p:sp>
        <p:nvSpPr>
          <p:cNvPr id="8" name="portfolio-copy">
            <a:extLst xmlns:a="http://schemas.openxmlformats.org/drawingml/2006/main">
              <a:ext uri="{FF2B5EF4-FFF2-40B4-BE49-F238E27FC236}">
                <a16:creationId xmlns:a16="http://schemas.microsoft.com/office/drawing/2014/main" id="{17C21E68-2C0F-4E77-80B1-204DE25B0716}"/>
              </a:ext>
            </a:extLst>
          </p:cNvPr>
          <p:cNvSpPr>
            <a:spLocks xmlns:a="http://schemas.openxmlformats.org/drawingml/2006/main" noGrp="1"/>
          </p:cNvSpPr>
          <p:nvPr/>
        </p:nvSpPr>
        <p:spPr>
          <a:xfrm xmlns:a="http://schemas.openxmlformats.org/drawingml/2006/main">
            <a:off x="857250" y="400050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0">
                <a:solidFill>
                  <a:srgbClr val="AABFD2"/>
                </a:solidFill>
              </a:defRPr>
            </a:pPr>
            <a:r>
              <a:rPr sz="975" b="0">
                <a:solidFill>
                  <a:srgbClr val="AABFD2"/>
                </a:solidFill>
              </a:rPr>
              <a:t>Attach evidence or resolve unknowns</a:t>
            </a:r>
          </a:p>
        </p:txBody>
      </p:sp>
      <p:sp>
        <p:nvSpPr>
          <p:cNvPr id="9" name="portfolio">
            <a:extLst xmlns:a="http://schemas.openxmlformats.org/drawingml/2006/main">
              <a:ext uri="{FF2B5EF4-FFF2-40B4-BE49-F238E27FC236}">
                <a16:creationId xmlns:a16="http://schemas.microsoft.com/office/drawing/2014/main" id="{CB70FDAB-5232-4261-AB76-8D7CD967E91C}"/>
              </a:ext>
            </a:extLst>
          </p:cNvPr>
          <p:cNvSpPr>
            <a:spLocks xmlns:a="http://schemas.openxmlformats.org/drawingml/2006/main" noGrp="1"/>
          </p:cNvSpPr>
          <p:nvPr/>
        </p:nvSpPr>
        <p:spPr>
          <a:xfrm xmlns:a="http://schemas.openxmlformats.org/drawingml/2006/main">
            <a:off x="3381375" y="2952750"/>
            <a:ext cx="245745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10" name="portfolio-label">
            <a:extLst xmlns:a="http://schemas.openxmlformats.org/drawingml/2006/main">
              <a:ext uri="{FF2B5EF4-FFF2-40B4-BE49-F238E27FC236}">
                <a16:creationId xmlns:a16="http://schemas.microsoft.com/office/drawing/2014/main" id="{91BE11D0-AF6E-4B59-BABE-AB96A3D59E6E}"/>
              </a:ext>
            </a:extLst>
          </p:cNvPr>
          <p:cNvSpPr>
            <a:spLocks xmlns:a="http://schemas.openxmlformats.org/drawingml/2006/main" noGrp="1"/>
          </p:cNvSpPr>
          <p:nvPr/>
        </p:nvSpPr>
        <p:spPr>
          <a:xfrm xmlns:a="http://schemas.openxmlformats.org/drawingml/2006/main">
            <a:off x="3552825" y="3162300"/>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FFC56E"/>
                </a:solidFill>
              </a:defRPr>
            </a:pPr>
            <a:r>
              <a:rPr sz="1125" b="1">
                <a:solidFill>
                  <a:srgbClr val="FFC56E"/>
                </a:solidFill>
              </a:rPr>
              <a:t>SHORTFALL</a:t>
            </a:r>
          </a:p>
        </p:txBody>
      </p:sp>
      <p:sp>
        <p:nvSpPr>
          <p:cNvPr id="11" name="portfolio-value">
            <a:extLst xmlns:a="http://schemas.openxmlformats.org/drawingml/2006/main">
              <a:ext uri="{FF2B5EF4-FFF2-40B4-BE49-F238E27FC236}">
                <a16:creationId xmlns:a16="http://schemas.microsoft.com/office/drawing/2014/main" id="{F976E029-E21D-420A-A202-C1BB53544752}"/>
              </a:ext>
            </a:extLst>
          </p:cNvPr>
          <p:cNvSpPr>
            <a:spLocks xmlns:a="http://schemas.openxmlformats.org/drawingml/2006/main" noGrp="1"/>
          </p:cNvSpPr>
          <p:nvPr/>
        </p:nvSpPr>
        <p:spPr>
          <a:xfrm xmlns:a="http://schemas.openxmlformats.org/drawingml/2006/main">
            <a:off x="3552825" y="3581400"/>
            <a:ext cx="2114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5F8FC"/>
                </a:solidFill>
              </a:defRPr>
            </a:pPr>
            <a:r>
              <a:rPr sz="1500" b="1">
                <a:solidFill>
                  <a:srgbClr val="F5F8FC"/>
                </a:solidFill>
              </a:rPr>
              <a:t>No recommendation yet</a:t>
            </a:r>
          </a:p>
        </p:txBody>
      </p:sp>
      <p:sp>
        <p:nvSpPr>
          <p:cNvPr id="12" name="portfolio-copy">
            <a:extLst xmlns:a="http://schemas.openxmlformats.org/drawingml/2006/main">
              <a:ext uri="{FF2B5EF4-FFF2-40B4-BE49-F238E27FC236}">
                <a16:creationId xmlns:a16="http://schemas.microsoft.com/office/drawing/2014/main" id="{9BE7FBDD-0EFC-4802-BA22-A82B754572E7}"/>
              </a:ext>
            </a:extLst>
          </p:cNvPr>
          <p:cNvSpPr>
            <a:spLocks xmlns:a="http://schemas.openxmlformats.org/drawingml/2006/main" noGrp="1"/>
          </p:cNvSpPr>
          <p:nvPr/>
        </p:nvSpPr>
        <p:spPr>
          <a:xfrm xmlns:a="http://schemas.openxmlformats.org/drawingml/2006/main">
            <a:off x="3552825" y="400050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0">
                <a:solidFill>
                  <a:srgbClr val="AABFD2"/>
                </a:solidFill>
              </a:defRPr>
            </a:pPr>
            <a:r>
              <a:rPr sz="975" b="0">
                <a:solidFill>
                  <a:srgbClr val="AABFD2"/>
                </a:solidFill>
              </a:rPr>
              <a:t>Show the exact capacity gap</a:t>
            </a:r>
          </a:p>
        </p:txBody>
      </p:sp>
      <p:sp>
        <p:nvSpPr>
          <p:cNvPr id="13" name="portfolio">
            <a:extLst xmlns:a="http://schemas.openxmlformats.org/drawingml/2006/main">
              <a:ext uri="{FF2B5EF4-FFF2-40B4-BE49-F238E27FC236}">
                <a16:creationId xmlns:a16="http://schemas.microsoft.com/office/drawing/2014/main" id="{DC2D0CAD-94C3-47B0-A7A0-4A7BA90569F8}"/>
              </a:ext>
            </a:extLst>
          </p:cNvPr>
          <p:cNvSpPr>
            <a:spLocks xmlns:a="http://schemas.openxmlformats.org/drawingml/2006/main" noGrp="1"/>
          </p:cNvSpPr>
          <p:nvPr/>
        </p:nvSpPr>
        <p:spPr>
          <a:xfrm xmlns:a="http://schemas.openxmlformats.org/drawingml/2006/main">
            <a:off x="6076950" y="2952750"/>
            <a:ext cx="2457450" cy="1352550"/>
          </a:xfrm>
          <a:prstGeom xmlns:a="http://schemas.openxmlformats.org/drawingml/2006/main" prst="roundRect">
            <a:avLst>
              <a:gd name="adj" fmla="val 8451"/>
            </a:avLst>
          </a:prstGeom>
          <a:solidFill xmlns:a="http://schemas.openxmlformats.org/drawingml/2006/main">
            <a:srgbClr val="123B61"/>
          </a:solidFill>
          <a:ln xmlns:a="http://schemas.openxmlformats.org/drawingml/2006/main" w="9525">
            <a:solidFill>
              <a:srgbClr val="51E5D6"/>
            </a:solidFill>
            <a:prstDash val="solid"/>
          </a:ln>
        </p:spPr>
      </p:sp>
      <p:sp>
        <p:nvSpPr>
          <p:cNvPr id="14" name="portfolio-label">
            <a:extLst xmlns:a="http://schemas.openxmlformats.org/drawingml/2006/main">
              <a:ext uri="{FF2B5EF4-FFF2-40B4-BE49-F238E27FC236}">
                <a16:creationId xmlns:a16="http://schemas.microsoft.com/office/drawing/2014/main" id="{A79173D4-3711-48E4-9E08-F06D0AA12B68}"/>
              </a:ext>
            </a:extLst>
          </p:cNvPr>
          <p:cNvSpPr>
            <a:spLocks xmlns:a="http://schemas.openxmlformats.org/drawingml/2006/main" noGrp="1"/>
          </p:cNvSpPr>
          <p:nvPr/>
        </p:nvSpPr>
        <p:spPr>
          <a:xfrm xmlns:a="http://schemas.openxmlformats.org/drawingml/2006/main">
            <a:off x="6248400" y="3162300"/>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51E5D6"/>
                </a:solidFill>
              </a:defRPr>
            </a:pPr>
            <a:r>
              <a:rPr sz="1125" b="1">
                <a:solidFill>
                  <a:srgbClr val="51E5D6"/>
                </a:solidFill>
              </a:rPr>
              <a:t>BALANCED</a:t>
            </a:r>
          </a:p>
        </p:txBody>
      </p:sp>
      <p:sp>
        <p:nvSpPr>
          <p:cNvPr id="15" name="portfolio-value">
            <a:extLst xmlns:a="http://schemas.openxmlformats.org/drawingml/2006/main">
              <a:ext uri="{FF2B5EF4-FFF2-40B4-BE49-F238E27FC236}">
                <a16:creationId xmlns:a16="http://schemas.microsoft.com/office/drawing/2014/main" id="{7B2E2358-B21A-4F8A-AD7E-1EF5F93A8F4A}"/>
              </a:ext>
            </a:extLst>
          </p:cNvPr>
          <p:cNvSpPr>
            <a:spLocks xmlns:a="http://schemas.openxmlformats.org/drawingml/2006/main" noGrp="1"/>
          </p:cNvSpPr>
          <p:nvPr/>
        </p:nvSpPr>
        <p:spPr>
          <a:xfrm xmlns:a="http://schemas.openxmlformats.org/drawingml/2006/main">
            <a:off x="6248400" y="3581400"/>
            <a:ext cx="2114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5F8FC"/>
                </a:solidFill>
              </a:defRPr>
            </a:pPr>
            <a:r>
              <a:rPr sz="1500" b="1">
                <a:solidFill>
                  <a:srgbClr val="F5F8FC"/>
                </a:solidFill>
              </a:rPr>
              <a:t>Feasible option</a:t>
            </a:r>
          </a:p>
        </p:txBody>
      </p:sp>
      <p:sp>
        <p:nvSpPr>
          <p:cNvPr id="16" name="portfolio-copy">
            <a:extLst xmlns:a="http://schemas.openxmlformats.org/drawingml/2006/main">
              <a:ext uri="{FF2B5EF4-FFF2-40B4-BE49-F238E27FC236}">
                <a16:creationId xmlns:a16="http://schemas.microsoft.com/office/drawing/2014/main" id="{DD7F8074-DD9A-4EB1-982E-D432FB9A0D8C}"/>
              </a:ext>
            </a:extLst>
          </p:cNvPr>
          <p:cNvSpPr>
            <a:spLocks xmlns:a="http://schemas.openxmlformats.org/drawingml/2006/main" noGrp="1"/>
          </p:cNvSpPr>
          <p:nvPr/>
        </p:nvSpPr>
        <p:spPr>
          <a:xfrm xmlns:a="http://schemas.openxmlformats.org/drawingml/2006/main">
            <a:off x="6248400" y="400050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0">
                <a:solidFill>
                  <a:srgbClr val="AABFD2"/>
                </a:solidFill>
              </a:defRPr>
            </a:pPr>
            <a:r>
              <a:rPr sz="975" b="0">
                <a:solidFill>
                  <a:srgbClr val="AABFD2"/>
                </a:solidFill>
              </a:rPr>
              <a:t>Compare cost, risk, and resilience</a:t>
            </a:r>
          </a:p>
        </p:txBody>
      </p:sp>
      <p:sp>
        <p:nvSpPr>
          <p:cNvPr id="17" name="portfolio">
            <a:extLst xmlns:a="http://schemas.openxmlformats.org/drawingml/2006/main">
              <a:ext uri="{FF2B5EF4-FFF2-40B4-BE49-F238E27FC236}">
                <a16:creationId xmlns:a16="http://schemas.microsoft.com/office/drawing/2014/main" id="{4CC5509E-E86C-4123-A76B-3514B39E73E6}"/>
              </a:ext>
            </a:extLst>
          </p:cNvPr>
          <p:cNvSpPr>
            <a:spLocks xmlns:a="http://schemas.openxmlformats.org/drawingml/2006/main" noGrp="1"/>
          </p:cNvSpPr>
          <p:nvPr/>
        </p:nvSpPr>
        <p:spPr>
          <a:xfrm xmlns:a="http://schemas.openxmlformats.org/drawingml/2006/main">
            <a:off x="8772525" y="2952750"/>
            <a:ext cx="2457450" cy="1352550"/>
          </a:xfrm>
          <a:prstGeom xmlns:a="http://schemas.openxmlformats.org/drawingml/2006/main" prst="roundRect">
            <a:avLst>
              <a:gd name="adj" fmla="val 8451"/>
            </a:avLst>
          </a:prstGeom>
          <a:solidFill xmlns:a="http://schemas.openxmlformats.org/drawingml/2006/main">
            <a:srgbClr val="0D1D31"/>
          </a:solidFill>
          <a:ln xmlns:a="http://schemas.openxmlformats.org/drawingml/2006/main" w="9525">
            <a:solidFill>
              <a:srgbClr val="244563"/>
            </a:solidFill>
            <a:prstDash val="solid"/>
          </a:ln>
        </p:spPr>
      </p:sp>
      <p:sp>
        <p:nvSpPr>
          <p:cNvPr id="18" name="portfolio-label">
            <a:extLst xmlns:a="http://schemas.openxmlformats.org/drawingml/2006/main">
              <a:ext uri="{FF2B5EF4-FFF2-40B4-BE49-F238E27FC236}">
                <a16:creationId xmlns:a16="http://schemas.microsoft.com/office/drawing/2014/main" id="{B4B7DB29-5BAB-42FD-8DB2-1A743EE28F20}"/>
              </a:ext>
            </a:extLst>
          </p:cNvPr>
          <p:cNvSpPr>
            <a:spLocks xmlns:a="http://schemas.openxmlformats.org/drawingml/2006/main" noGrp="1"/>
          </p:cNvSpPr>
          <p:nvPr/>
        </p:nvSpPr>
        <p:spPr>
          <a:xfrm xmlns:a="http://schemas.openxmlformats.org/drawingml/2006/main">
            <a:off x="8943975" y="3162300"/>
            <a:ext cx="2114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86E5B6"/>
                </a:solidFill>
              </a:defRPr>
            </a:pPr>
            <a:r>
              <a:rPr sz="1125" b="1">
                <a:solidFill>
                  <a:srgbClr val="86E5B6"/>
                </a:solidFill>
              </a:rPr>
              <a:t>APPROVAL</a:t>
            </a:r>
          </a:p>
        </p:txBody>
      </p:sp>
      <p:sp>
        <p:nvSpPr>
          <p:cNvPr id="19" name="portfolio-value">
            <a:extLst xmlns:a="http://schemas.openxmlformats.org/drawingml/2006/main">
              <a:ext uri="{FF2B5EF4-FFF2-40B4-BE49-F238E27FC236}">
                <a16:creationId xmlns:a16="http://schemas.microsoft.com/office/drawing/2014/main" id="{C24F68F4-0B0E-46B1-91E3-40FA83C01F42}"/>
              </a:ext>
            </a:extLst>
          </p:cNvPr>
          <p:cNvSpPr>
            <a:spLocks xmlns:a="http://schemas.openxmlformats.org/drawingml/2006/main" noGrp="1"/>
          </p:cNvSpPr>
          <p:nvPr/>
        </p:nvSpPr>
        <p:spPr>
          <a:xfrm xmlns:a="http://schemas.openxmlformats.org/drawingml/2006/main">
            <a:off x="8943975" y="3581400"/>
            <a:ext cx="2114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5F8FC"/>
                </a:solidFill>
              </a:defRPr>
            </a:pPr>
            <a:r>
              <a:rPr sz="1500" b="1">
                <a:solidFill>
                  <a:srgbClr val="F5F8FC"/>
                </a:solidFill>
              </a:rPr>
              <a:t>Human decision</a:t>
            </a:r>
          </a:p>
        </p:txBody>
      </p:sp>
      <p:sp>
        <p:nvSpPr>
          <p:cNvPr id="20" name="portfolio-copy">
            <a:extLst xmlns:a="http://schemas.openxmlformats.org/drawingml/2006/main">
              <a:ext uri="{FF2B5EF4-FFF2-40B4-BE49-F238E27FC236}">
                <a16:creationId xmlns:a16="http://schemas.microsoft.com/office/drawing/2014/main" id="{4ABCC113-CA36-4AF3-B4EE-EC782213D7B6}"/>
              </a:ext>
            </a:extLst>
          </p:cNvPr>
          <p:cNvSpPr>
            <a:spLocks xmlns:a="http://schemas.openxmlformats.org/drawingml/2006/main" noGrp="1"/>
          </p:cNvSpPr>
          <p:nvPr/>
        </p:nvSpPr>
        <p:spPr>
          <a:xfrm xmlns:a="http://schemas.openxmlformats.org/drawingml/2006/main">
            <a:off x="8943975" y="4000500"/>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0">
                <a:solidFill>
                  <a:srgbClr val="AABFD2"/>
                </a:solidFill>
              </a:defRPr>
            </a:pPr>
            <a:r>
              <a:rPr sz="975" b="0">
                <a:solidFill>
                  <a:srgbClr val="AABFD2"/>
                </a:solidFill>
              </a:rPr>
              <a:t>Record action against the case</a:t>
            </a:r>
          </a:p>
        </p:txBody>
      </p:sp>
      <p:sp>
        <p:nvSpPr>
          <p:cNvPr id="21" name="evidence-box">
            <a:extLst xmlns:a="http://schemas.openxmlformats.org/drawingml/2006/main">
              <a:ext uri="{FF2B5EF4-FFF2-40B4-BE49-F238E27FC236}">
                <a16:creationId xmlns:a16="http://schemas.microsoft.com/office/drawing/2014/main" id="{B394CD7D-55D8-4579-B708-87DBB1C81915}"/>
              </a:ext>
            </a:extLst>
          </p:cNvPr>
          <p:cNvSpPr>
            <a:spLocks xmlns:a="http://schemas.openxmlformats.org/drawingml/2006/main" noGrp="1"/>
          </p:cNvSpPr>
          <p:nvPr/>
        </p:nvSpPr>
        <p:spPr>
          <a:xfrm xmlns:a="http://schemas.openxmlformats.org/drawingml/2006/main">
            <a:off x="685800" y="4762500"/>
            <a:ext cx="10820400" cy="1000125"/>
          </a:xfrm>
          <a:prstGeom xmlns:a="http://schemas.openxmlformats.org/drawingml/2006/main" prst="roundRect">
            <a:avLst>
              <a:gd name="adj" fmla="val 11429"/>
            </a:avLst>
          </a:prstGeom>
          <a:solidFill xmlns:a="http://schemas.openxmlformats.org/drawingml/2006/main">
            <a:srgbClr val="102B47"/>
          </a:solidFill>
          <a:ln xmlns:a="http://schemas.openxmlformats.org/drawingml/2006/main" w="9525">
            <a:solidFill>
              <a:srgbClr val="66B3FF"/>
            </a:solidFill>
            <a:prstDash val="solid"/>
          </a:ln>
        </p:spPr>
      </p:sp>
      <p:sp>
        <p:nvSpPr>
          <p:cNvPr id="22" name="why-label">
            <a:extLst xmlns:a="http://schemas.openxmlformats.org/drawingml/2006/main">
              <a:ext uri="{FF2B5EF4-FFF2-40B4-BE49-F238E27FC236}">
                <a16:creationId xmlns:a16="http://schemas.microsoft.com/office/drawing/2014/main" id="{B3B234E2-1753-438A-89F8-AA883BFD0057}"/>
              </a:ext>
            </a:extLst>
          </p:cNvPr>
          <p:cNvSpPr>
            <a:spLocks xmlns:a="http://schemas.openxmlformats.org/drawingml/2006/main" noGrp="1"/>
          </p:cNvSpPr>
          <p:nvPr/>
        </p:nvSpPr>
        <p:spPr>
          <a:xfrm xmlns:a="http://schemas.openxmlformats.org/drawingml/2006/main">
            <a:off x="914400" y="497205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51E5D6"/>
                </a:solidFill>
              </a:defRPr>
            </a:pPr>
            <a:r>
              <a:rPr sz="1200" b="1">
                <a:solidFill>
                  <a:srgbClr val="51E5D6"/>
                </a:solidFill>
              </a:rPr>
              <a:t>Why this action is safe</a:t>
            </a:r>
          </a:p>
        </p:txBody>
      </p:sp>
      <p:sp>
        <p:nvSpPr>
          <p:cNvPr id="23" name="why-copy">
            <a:extLst xmlns:a="http://schemas.openxmlformats.org/drawingml/2006/main">
              <a:ext uri="{FF2B5EF4-FFF2-40B4-BE49-F238E27FC236}">
                <a16:creationId xmlns:a16="http://schemas.microsoft.com/office/drawing/2014/main" id="{43BAA1E2-461D-4B1B-82E4-46ED57D8DFC5}"/>
              </a:ext>
            </a:extLst>
          </p:cNvPr>
          <p:cNvSpPr>
            <a:spLocks xmlns:a="http://schemas.openxmlformats.org/drawingml/2006/main" noGrp="1"/>
          </p:cNvSpPr>
          <p:nvPr/>
        </p:nvSpPr>
        <p:spPr>
          <a:xfrm xmlns:a="http://schemas.openxmlformats.org/drawingml/2006/main">
            <a:off x="914400" y="52863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5F8FC"/>
                </a:solidFill>
              </a:defRPr>
            </a:pPr>
            <a:r>
              <a:rPr sz="1500" b="1">
                <a:solidFill>
                  <a:srgbClr val="F5F8FC"/>
                </a:solidFill>
              </a:rPr>
              <a:t>Evidence ledger · confirmed assumptions · national allocation · rejected alternatives · remaining unknowns</a:t>
            </a:r>
          </a:p>
        </p:txBody>
      </p:sp>
      <p:sp>
        <p:nvSpPr>
          <p:cNvPr id="24" name="decision-note">
            <a:extLst xmlns:a="http://schemas.openxmlformats.org/drawingml/2006/main">
              <a:ext uri="{FF2B5EF4-FFF2-40B4-BE49-F238E27FC236}">
                <a16:creationId xmlns:a16="http://schemas.microsoft.com/office/drawing/2014/main" id="{41AB4C06-9DB6-40E1-9830-45CF16E77AF9}"/>
              </a:ext>
            </a:extLst>
          </p:cNvPr>
          <p:cNvSpPr>
            <a:spLocks xmlns:a="http://schemas.openxmlformats.org/drawingml/2006/main" noGrp="1"/>
          </p:cNvSpPr>
          <p:nvPr/>
        </p:nvSpPr>
        <p:spPr>
          <a:xfrm xmlns:a="http://schemas.openxmlformats.org/drawingml/2006/main">
            <a:off x="685800" y="594360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AABFD2"/>
                </a:solidFill>
              </a:defRPr>
            </a:pPr>
            <a:r>
              <a:rPr sz="1275" b="0">
                <a:solidFill>
                  <a:srgbClr val="AABFD2"/>
                </a:solidFill>
              </a:rPr>
              <a:t>The system does not fabricate a green path just to keep the demo moving.</a:t>
            </a:r>
          </a:p>
        </p:txBody>
      </p:sp>
      <p:sp>
        <p:nvSpPr>
          <p:cNvPr id="25" name="">
            <a:extLst xmlns:a="http://schemas.openxmlformats.org/drawingml/2006/main">
              <a:ext uri="{FF2B5EF4-FFF2-40B4-BE49-F238E27FC236}">
                <a16:creationId xmlns:a16="http://schemas.microsoft.com/office/drawing/2014/main" id="{78EE188C-F1A7-4DDC-9C8A-2E7EF7216D2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6" name="footer">
            <a:extLst xmlns:a="http://schemas.openxmlformats.org/drawingml/2006/main">
              <a:ext uri="{FF2B5EF4-FFF2-40B4-BE49-F238E27FC236}">
                <a16:creationId xmlns:a16="http://schemas.microsoft.com/office/drawing/2014/main" id="{14A96466-673D-4A69-8A95-832313E7AB2A}"/>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1437583481"/>
      </p:ext>
    </p:extLst>
  </p:cSld>
</p:sld>
</file>

<file path=ppt/slides/slide8.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76B08E2-E06F-43AE-9445-F516DB835886}"/>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NATIONAL IMPACT</a:t>
            </a:r>
          </a:p>
        </p:txBody>
      </p:sp>
      <p:sp>
        <p:nvSpPr>
          <p:cNvPr id="2" name="slide-number">
            <a:extLst xmlns:a="http://schemas.openxmlformats.org/drawingml/2006/main">
              <a:ext uri="{FF2B5EF4-FFF2-40B4-BE49-F238E27FC236}">
                <a16:creationId xmlns:a16="http://schemas.microsoft.com/office/drawing/2014/main" id="{0E63E070-1237-4D50-BBE9-B50ACCE8B6A6}"/>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08</a:t>
            </a:r>
          </a:p>
        </p:txBody>
      </p:sp>
      <p:sp>
        <p:nvSpPr>
          <p:cNvPr id="3" name="title">
            <a:extLst xmlns:a="http://schemas.openxmlformats.org/drawingml/2006/main">
              <a:ext uri="{FF2B5EF4-FFF2-40B4-BE49-F238E27FC236}">
                <a16:creationId xmlns:a16="http://schemas.microsoft.com/office/drawing/2014/main" id="{C567A640-78A7-4994-B6AF-2FE71F1343F4}"/>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One route pool must serve the whole network.</a:t>
            </a:r>
          </a:p>
        </p:txBody>
      </p:sp>
      <p:sp>
        <p:nvSpPr>
          <p:cNvPr id="4" name="subtitle">
            <a:extLst xmlns:a="http://schemas.openxmlformats.org/drawingml/2006/main">
              <a:ext uri="{FF2B5EF4-FFF2-40B4-BE49-F238E27FC236}">
                <a16:creationId xmlns:a16="http://schemas.microsoft.com/office/drawing/2014/main" id="{7B1C7706-9A80-4A92-92B1-E906F4A1D141}"/>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Jamnagar, Paradip, and Kochi compete for finite alternative capacity in the same case.</a:t>
            </a:r>
          </a:p>
        </p:txBody>
      </p:sp>
      <p:sp>
        <p:nvSpPr>
          <p:cNvPr id="5" name="now">
            <a:extLst xmlns:a="http://schemas.openxmlformats.org/drawingml/2006/main">
              <a:ext uri="{FF2B5EF4-FFF2-40B4-BE49-F238E27FC236}">
                <a16:creationId xmlns:a16="http://schemas.microsoft.com/office/drawing/2014/main" id="{24DCE347-721E-4E6F-B4CB-9B94C91B717F}"/>
              </a:ext>
            </a:extLst>
          </p:cNvPr>
          <p:cNvSpPr>
            <a:spLocks xmlns:a="http://schemas.openxmlformats.org/drawingml/2006/main" noGrp="1"/>
          </p:cNvSpPr>
          <p:nvPr/>
        </p:nvSpPr>
        <p:spPr>
          <a:xfrm xmlns:a="http://schemas.openxmlformats.org/drawingml/2006/main">
            <a:off x="685800" y="2781300"/>
            <a:ext cx="4953000" cy="2571750"/>
          </a:xfrm>
          <a:prstGeom xmlns:a="http://schemas.openxmlformats.org/drawingml/2006/main" prst="roundRect">
            <a:avLst>
              <a:gd name="adj" fmla="val 4444"/>
            </a:avLst>
          </a:prstGeom>
          <a:solidFill xmlns:a="http://schemas.openxmlformats.org/drawingml/2006/main">
            <a:srgbClr val="0D1D31"/>
          </a:solidFill>
          <a:ln xmlns:a="http://schemas.openxmlformats.org/drawingml/2006/main" w="9525">
            <a:solidFill>
              <a:srgbClr val="244563"/>
            </a:solidFill>
            <a:prstDash val="solid"/>
          </a:ln>
        </p:spPr>
      </p:sp>
      <p:sp>
        <p:nvSpPr>
          <p:cNvPr id="6" name="now-label">
            <a:extLst xmlns:a="http://schemas.openxmlformats.org/drawingml/2006/main">
              <a:ext uri="{FF2B5EF4-FFF2-40B4-BE49-F238E27FC236}">
                <a16:creationId xmlns:a16="http://schemas.microsoft.com/office/drawing/2014/main" id="{8B60BF07-92DB-4724-9A0A-B7D826C52790}"/>
              </a:ext>
            </a:extLst>
          </p:cNvPr>
          <p:cNvSpPr>
            <a:spLocks xmlns:a="http://schemas.openxmlformats.org/drawingml/2006/main" noGrp="1"/>
          </p:cNvSpPr>
          <p:nvPr/>
        </p:nvSpPr>
        <p:spPr>
          <a:xfrm xmlns:a="http://schemas.openxmlformats.org/drawingml/2006/main">
            <a:off x="933450" y="30480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86E5B6"/>
                </a:solidFill>
              </a:defRPr>
            </a:pPr>
            <a:r>
              <a:rPr sz="1050" b="1">
                <a:solidFill>
                  <a:srgbClr val="86E5B6"/>
                </a:solidFill>
              </a:rPr>
              <a:t>SHARED CAPACITY</a:t>
            </a:r>
          </a:p>
        </p:txBody>
      </p:sp>
      <p:sp>
        <p:nvSpPr>
          <p:cNvPr id="7" name="now-list">
            <a:extLst xmlns:a="http://schemas.openxmlformats.org/drawingml/2006/main">
              <a:ext uri="{FF2B5EF4-FFF2-40B4-BE49-F238E27FC236}">
                <a16:creationId xmlns:a16="http://schemas.microsoft.com/office/drawing/2014/main" id="{1E943F8F-EB8C-4522-AE0F-B8E673E2433C}"/>
              </a:ext>
            </a:extLst>
          </p:cNvPr>
          <p:cNvSpPr>
            <a:spLocks xmlns:a="http://schemas.openxmlformats.org/drawingml/2006/main" noGrp="1"/>
          </p:cNvSpPr>
          <p:nvPr/>
        </p:nvSpPr>
        <p:spPr>
          <a:xfrm xmlns:a="http://schemas.openxmlformats.org/drawingml/2006/main">
            <a:off x="933450" y="3476625"/>
            <a:ext cx="419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0">
                <a:solidFill>
                  <a:srgbClr val="F5F8FC"/>
                </a:solidFill>
              </a:defRPr>
            </a:pPr>
            <a:r>
              <a:rPr sz="1350" b="0">
                <a:solidFill>
                  <a:srgbClr val="F5F8FC"/>
                </a:solidFill>
              </a:rPr>
              <a:t>• Route capacity applied once</a:t>
            </a:r>
          </a:p>
          <a:p xmlns:a="http://schemas.openxmlformats.org/drawingml/2006/main">
            <a:pPr>
              <a:buNone/>
              <a:defRPr sz="1350" b="0">
                <a:solidFill>
                  <a:srgbClr val="F5F8FC"/>
                </a:solidFill>
              </a:defRPr>
            </a:pPr>
            <a:r>
              <a:rPr sz="1350" b="0">
                <a:solidFill>
                  <a:srgbClr val="F5F8FC"/>
                </a:solidFill>
              </a:rPr>
              <a:t>• Served / unserved volume visible</a:t>
            </a:r>
          </a:p>
          <a:p xmlns:a="http://schemas.openxmlformats.org/drawingml/2006/main">
            <a:pPr>
              <a:buNone/>
              <a:defRPr sz="1350" b="0">
                <a:solidFill>
                  <a:srgbClr val="F5F8FC"/>
                </a:solidFill>
              </a:defRPr>
            </a:pPr>
            <a:r>
              <a:rPr sz="1350" b="0">
                <a:solidFill>
                  <a:srgbClr val="F5F8FC"/>
                </a:solidFill>
              </a:rPr>
              <a:t>• Cargo contention exposed</a:t>
            </a:r>
          </a:p>
        </p:txBody>
      </p:sp>
      <p:sp>
        <p:nvSpPr>
          <p:cNvPr id="8" name="next">
            <a:extLst xmlns:a="http://schemas.openxmlformats.org/drawingml/2006/main">
              <a:ext uri="{FF2B5EF4-FFF2-40B4-BE49-F238E27FC236}">
                <a16:creationId xmlns:a16="http://schemas.microsoft.com/office/drawing/2014/main" id="{08E511B8-62A9-413D-8720-A310F437C087}"/>
              </a:ext>
            </a:extLst>
          </p:cNvPr>
          <p:cNvSpPr>
            <a:spLocks xmlns:a="http://schemas.openxmlformats.org/drawingml/2006/main" noGrp="1"/>
          </p:cNvSpPr>
          <p:nvPr/>
        </p:nvSpPr>
        <p:spPr>
          <a:xfrm xmlns:a="http://schemas.openxmlformats.org/drawingml/2006/main">
            <a:off x="6248400" y="2781300"/>
            <a:ext cx="5257800" cy="2571750"/>
          </a:xfrm>
          <a:prstGeom xmlns:a="http://schemas.openxmlformats.org/drawingml/2006/main" prst="roundRect">
            <a:avLst>
              <a:gd name="adj" fmla="val 4444"/>
            </a:avLst>
          </a:prstGeom>
          <a:solidFill xmlns:a="http://schemas.openxmlformats.org/drawingml/2006/main">
            <a:srgbClr val="102B47"/>
          </a:solidFill>
          <a:ln xmlns:a="http://schemas.openxmlformats.org/drawingml/2006/main" w="9525">
            <a:solidFill>
              <a:srgbClr val="66B3FF"/>
            </a:solidFill>
            <a:prstDash val="solid"/>
          </a:ln>
        </p:spPr>
      </p:sp>
      <p:sp>
        <p:nvSpPr>
          <p:cNvPr id="9" name="next-label">
            <a:extLst xmlns:a="http://schemas.openxmlformats.org/drawingml/2006/main">
              <a:ext uri="{FF2B5EF4-FFF2-40B4-BE49-F238E27FC236}">
                <a16:creationId xmlns:a16="http://schemas.microsoft.com/office/drawing/2014/main" id="{717F7CEA-2007-4A8B-B7C7-AE872CFF181D}"/>
              </a:ext>
            </a:extLst>
          </p:cNvPr>
          <p:cNvSpPr>
            <a:spLocks xmlns:a="http://schemas.openxmlformats.org/drawingml/2006/main" noGrp="1"/>
          </p:cNvSpPr>
          <p:nvPr/>
        </p:nvSpPr>
        <p:spPr>
          <a:xfrm xmlns:a="http://schemas.openxmlformats.org/drawingml/2006/main">
            <a:off x="6496050" y="30480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1E5D6"/>
                </a:solidFill>
              </a:defRPr>
            </a:pPr>
            <a:r>
              <a:rPr sz="1050" b="1">
                <a:solidFill>
                  <a:srgbClr val="51E5D6"/>
                </a:solidFill>
              </a:rPr>
              <a:t>ACTION SUMMARY</a:t>
            </a:r>
          </a:p>
        </p:txBody>
      </p:sp>
      <p:sp>
        <p:nvSpPr>
          <p:cNvPr id="10" name="next-list">
            <a:extLst xmlns:a="http://schemas.openxmlformats.org/drawingml/2006/main">
              <a:ext uri="{FF2B5EF4-FFF2-40B4-BE49-F238E27FC236}">
                <a16:creationId xmlns:a16="http://schemas.microsoft.com/office/drawing/2014/main" id="{1EF0B702-83EF-4B0C-AA7E-DCB2F88702EC}"/>
              </a:ext>
            </a:extLst>
          </p:cNvPr>
          <p:cNvSpPr>
            <a:spLocks xmlns:a="http://schemas.openxmlformats.org/drawingml/2006/main" noGrp="1"/>
          </p:cNvSpPr>
          <p:nvPr/>
        </p:nvSpPr>
        <p:spPr>
          <a:xfrm xmlns:a="http://schemas.openxmlformats.org/drawingml/2006/main">
            <a:off x="6496050" y="3476625"/>
            <a:ext cx="4476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0">
                <a:solidFill>
                  <a:srgbClr val="F5F8FC"/>
                </a:solidFill>
              </a:defRPr>
            </a:pPr>
            <a:r>
              <a:rPr sz="1350" b="0">
                <a:solidFill>
                  <a:srgbClr val="F5F8FC"/>
                </a:solidFill>
              </a:rPr>
              <a:t>• Finite SPR bridge only if authorized</a:t>
            </a:r>
          </a:p>
          <a:p xmlns:a="http://schemas.openxmlformats.org/drawingml/2006/main">
            <a:pPr>
              <a:buNone/>
              <a:defRPr sz="1350" b="0">
                <a:solidFill>
                  <a:srgbClr val="F5F8FC"/>
                </a:solidFill>
              </a:defRPr>
            </a:pPr>
            <a:r>
              <a:rPr sz="1350" b="0">
                <a:solidFill>
                  <a:srgbClr val="F5F8FC"/>
                </a:solidFill>
              </a:rPr>
              <a:t>• Executive brief explains trade-offs</a:t>
            </a:r>
          </a:p>
          <a:p xmlns:a="http://schemas.openxmlformats.org/drawingml/2006/main">
            <a:pPr>
              <a:buNone/>
              <a:defRPr sz="1350" b="0">
                <a:solidFill>
                  <a:srgbClr val="F5F8FC"/>
                </a:solidFill>
              </a:defRPr>
            </a:pPr>
            <a:r>
              <a:rPr sz="1350" b="0">
                <a:solidFill>
                  <a:srgbClr val="F5F8FC"/>
                </a:solidFill>
              </a:rPr>
              <a:t>• Human approves, defers, or rejects</a:t>
            </a:r>
          </a:p>
        </p:txBody>
      </p:sp>
      <p:sp>
        <p:nvSpPr>
          <p:cNvPr id="11" name="">
            <a:extLst xmlns:a="http://schemas.openxmlformats.org/drawingml/2006/main">
              <a:ext uri="{FF2B5EF4-FFF2-40B4-BE49-F238E27FC236}">
                <a16:creationId xmlns:a16="http://schemas.microsoft.com/office/drawing/2014/main" id="{8318BA08-1157-4364-888B-8E669DDC734A}"/>
              </a:ext>
            </a:extLst>
          </p:cNvPr>
          <p:cNvSpPr>
            <a:spLocks xmlns:a="http://schemas.openxmlformats.org/drawingml/2006/main" noGrp="1"/>
          </p:cNvSpPr>
          <p:nvPr/>
        </p:nvSpPr>
        <p:spPr>
          <a:xfrm xmlns:a="http://schemas.openxmlformats.org/drawingml/2006/main">
            <a:off x="5638800" y="4076700"/>
            <a:ext cx="609600" cy="0"/>
          </a:xfrm>
          <a:prstGeom xmlns:a="http://schemas.openxmlformats.org/drawingml/2006/main" prst="line">
            <a:avLst/>
          </a:prstGeom>
          <a:noFill xmlns:a="http://schemas.openxmlformats.org/drawingml/2006/main"/>
          <a:ln xmlns:a="http://schemas.openxmlformats.org/drawingml/2006/main" w="28575">
            <a:solidFill>
              <a:srgbClr val="51E5D6"/>
            </a:solidFill>
            <a:prstDash val="solid"/>
          </a:ln>
        </p:spPr>
      </p:sp>
      <p:sp>
        <p:nvSpPr>
          <p:cNvPr id="12" name="arrow-label">
            <a:extLst xmlns:a="http://schemas.openxmlformats.org/drawingml/2006/main">
              <a:ext uri="{FF2B5EF4-FFF2-40B4-BE49-F238E27FC236}">
                <a16:creationId xmlns:a16="http://schemas.microsoft.com/office/drawing/2014/main" id="{544FC339-A310-4E05-B683-5D7A3A0304F2}"/>
              </a:ext>
            </a:extLst>
          </p:cNvPr>
          <p:cNvSpPr>
            <a:spLocks xmlns:a="http://schemas.openxmlformats.org/drawingml/2006/main" noGrp="1"/>
          </p:cNvSpPr>
          <p:nvPr/>
        </p:nvSpPr>
        <p:spPr>
          <a:xfrm xmlns:a="http://schemas.openxmlformats.org/drawingml/2006/main">
            <a:off x="5133975" y="55435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AABFD2"/>
                </a:solidFill>
              </a:defRPr>
            </a:pPr>
            <a:r>
              <a:rPr sz="1125" b="1">
                <a:solidFill>
                  <a:srgbClr val="AABFD2"/>
                </a:solidFill>
              </a:rPr>
              <a:t>NATIONAL CHECK → ACTION</a:t>
            </a:r>
          </a:p>
        </p:txBody>
      </p:sp>
      <p:sp>
        <p:nvSpPr>
          <p:cNvPr id="13" name="scale-conclusion">
            <a:extLst xmlns:a="http://schemas.openxmlformats.org/drawingml/2006/main">
              <a:ext uri="{FF2B5EF4-FFF2-40B4-BE49-F238E27FC236}">
                <a16:creationId xmlns:a16="http://schemas.microsoft.com/office/drawing/2014/main" id="{1950C11F-DDB4-43AA-94EF-7D0B57F1A4B0}"/>
              </a:ext>
            </a:extLst>
          </p:cNvPr>
          <p:cNvSpPr>
            <a:spLocks xmlns:a="http://schemas.openxmlformats.org/drawingml/2006/main" noGrp="1"/>
          </p:cNvSpPr>
          <p:nvPr/>
        </p:nvSpPr>
        <p:spPr>
          <a:xfrm xmlns:a="http://schemas.openxmlformats.org/drawingml/2006/main">
            <a:off x="685800" y="5905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F5F8FC"/>
                </a:solidFill>
              </a:defRPr>
            </a:pPr>
            <a:r>
              <a:rPr sz="1725" b="1">
                <a:solidFill>
                  <a:srgbClr val="F5F8FC"/>
                </a:solidFill>
              </a:rPr>
              <a:t>National allocation must reconcile before action.</a:t>
            </a:r>
          </a:p>
        </p:txBody>
      </p:sp>
      <p:sp>
        <p:nvSpPr>
          <p:cNvPr id="14" name="">
            <a:extLst xmlns:a="http://schemas.openxmlformats.org/drawingml/2006/main">
              <a:ext uri="{FF2B5EF4-FFF2-40B4-BE49-F238E27FC236}">
                <a16:creationId xmlns:a16="http://schemas.microsoft.com/office/drawing/2014/main" id="{D8A2B680-471F-4FA8-B739-C3EC1FCA726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5" name="footer">
            <a:extLst xmlns:a="http://schemas.openxmlformats.org/drawingml/2006/main">
              <a:ext uri="{FF2B5EF4-FFF2-40B4-BE49-F238E27FC236}">
                <a16:creationId xmlns:a16="http://schemas.microsoft.com/office/drawing/2014/main" id="{0204C854-1165-49B7-A603-B07D3BDB7AFA}"/>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2030159511"/>
      </p:ext>
    </p:extLst>
  </p:cSld>
</p:sld>
</file>

<file path=ppt/slides/slide9.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76B08E2-E06F-43AE-9445-F516DB835886}"/>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PROVEN HERE</a:t>
            </a:r>
          </a:p>
        </p:txBody>
      </p:sp>
      <p:sp>
        <p:nvSpPr>
          <p:cNvPr id="2" name="slide-number">
            <a:extLst xmlns:a="http://schemas.openxmlformats.org/drawingml/2006/main">
              <a:ext uri="{FF2B5EF4-FFF2-40B4-BE49-F238E27FC236}">
                <a16:creationId xmlns:a16="http://schemas.microsoft.com/office/drawing/2014/main" id="{0E63E070-1237-4D50-BBE9-B50ACCE8B6A6}"/>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09</a:t>
            </a:r>
          </a:p>
        </p:txBody>
      </p:sp>
      <p:sp>
        <p:nvSpPr>
          <p:cNvPr id="3" name="title">
            <a:extLst xmlns:a="http://schemas.openxmlformats.org/drawingml/2006/main">
              <a:ext uri="{FF2B5EF4-FFF2-40B4-BE49-F238E27FC236}">
                <a16:creationId xmlns:a16="http://schemas.microsoft.com/office/drawing/2014/main" id="{C567A640-78A7-4994-B6AF-2FE71F1343F4}"/>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Working decision mechanics today. Validation path next.</a:t>
            </a:r>
          </a:p>
        </p:txBody>
      </p:sp>
      <p:sp>
        <p:nvSpPr>
          <p:cNvPr id="4" name="subtitle">
            <a:extLst xmlns:a="http://schemas.openxmlformats.org/drawingml/2006/main">
              <a:ext uri="{FF2B5EF4-FFF2-40B4-BE49-F238E27FC236}">
                <a16:creationId xmlns:a16="http://schemas.microsoft.com/office/drawing/2014/main" id="{7B1C7706-9A80-4A92-92B1-E906F4A1D141}"/>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The prototype is intentionally honest about what is active and what requires real-world data.</a:t>
            </a:r>
          </a:p>
        </p:txBody>
      </p:sp>
      <p:sp>
        <p:nvSpPr>
          <p:cNvPr id="5" name="now">
            <a:extLst xmlns:a="http://schemas.openxmlformats.org/drawingml/2006/main">
              <a:ext uri="{FF2B5EF4-FFF2-40B4-BE49-F238E27FC236}">
                <a16:creationId xmlns:a16="http://schemas.microsoft.com/office/drawing/2014/main" id="{24DCE347-721E-4E6F-B4CB-9B94C91B717F}"/>
              </a:ext>
            </a:extLst>
          </p:cNvPr>
          <p:cNvSpPr>
            <a:spLocks xmlns:a="http://schemas.openxmlformats.org/drawingml/2006/main" noGrp="1"/>
          </p:cNvSpPr>
          <p:nvPr/>
        </p:nvSpPr>
        <p:spPr>
          <a:xfrm xmlns:a="http://schemas.openxmlformats.org/drawingml/2006/main">
            <a:off x="685800" y="2781300"/>
            <a:ext cx="4953000" cy="2571750"/>
          </a:xfrm>
          <a:prstGeom xmlns:a="http://schemas.openxmlformats.org/drawingml/2006/main" prst="roundRect">
            <a:avLst>
              <a:gd name="adj" fmla="val 4444"/>
            </a:avLst>
          </a:prstGeom>
          <a:solidFill xmlns:a="http://schemas.openxmlformats.org/drawingml/2006/main">
            <a:srgbClr val="0D1D31"/>
          </a:solidFill>
          <a:ln xmlns:a="http://schemas.openxmlformats.org/drawingml/2006/main" w="9525">
            <a:solidFill>
              <a:srgbClr val="244563"/>
            </a:solidFill>
            <a:prstDash val="solid"/>
          </a:ln>
        </p:spPr>
      </p:sp>
      <p:sp>
        <p:nvSpPr>
          <p:cNvPr id="6" name="now-label">
            <a:extLst xmlns:a="http://schemas.openxmlformats.org/drawingml/2006/main">
              <a:ext uri="{FF2B5EF4-FFF2-40B4-BE49-F238E27FC236}">
                <a16:creationId xmlns:a16="http://schemas.microsoft.com/office/drawing/2014/main" id="{8B60BF07-92DB-4724-9A0A-B7D826C52790}"/>
              </a:ext>
            </a:extLst>
          </p:cNvPr>
          <p:cNvSpPr>
            <a:spLocks xmlns:a="http://schemas.openxmlformats.org/drawingml/2006/main" noGrp="1"/>
          </p:cNvSpPr>
          <p:nvPr/>
        </p:nvSpPr>
        <p:spPr>
          <a:xfrm xmlns:a="http://schemas.openxmlformats.org/drawingml/2006/main">
            <a:off x="933450" y="30480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86E5B6"/>
                </a:solidFill>
              </a:defRPr>
            </a:pPr>
            <a:r>
              <a:rPr sz="1050" b="1">
                <a:solidFill>
                  <a:srgbClr val="86E5B6"/>
                </a:solidFill>
              </a:rPr>
              <a:t>ACTIVE NOW</a:t>
            </a:r>
          </a:p>
        </p:txBody>
      </p:sp>
      <p:sp>
        <p:nvSpPr>
          <p:cNvPr id="7" name="now-list">
            <a:extLst xmlns:a="http://schemas.openxmlformats.org/drawingml/2006/main">
              <a:ext uri="{FF2B5EF4-FFF2-40B4-BE49-F238E27FC236}">
                <a16:creationId xmlns:a16="http://schemas.microsoft.com/office/drawing/2014/main" id="{1E943F8F-EB8C-4522-AE0F-B8E673E2433C}"/>
              </a:ext>
            </a:extLst>
          </p:cNvPr>
          <p:cNvSpPr>
            <a:spLocks xmlns:a="http://schemas.openxmlformats.org/drawingml/2006/main" noGrp="1"/>
          </p:cNvSpPr>
          <p:nvPr/>
        </p:nvSpPr>
        <p:spPr>
          <a:xfrm xmlns:a="http://schemas.openxmlformats.org/drawingml/2006/main">
            <a:off x="933450" y="3476625"/>
            <a:ext cx="4191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0">
                <a:solidFill>
                  <a:srgbClr val="F5F8FC"/>
                </a:solidFill>
              </a:defRPr>
            </a:pPr>
            <a:r>
              <a:rPr sz="1350" b="0">
                <a:solidFill>
                  <a:srgbClr val="F5F8FC"/>
                </a:solidFill>
              </a:rPr>
              <a:t>• FastAPI + Next.js case workflow</a:t>
            </a:r>
          </a:p>
          <a:p xmlns:a="http://schemas.openxmlformats.org/drawingml/2006/main">
            <a:pPr>
              <a:buNone/>
              <a:defRPr sz="1350" b="0">
                <a:solidFill>
                  <a:srgbClr val="F5F8FC"/>
                </a:solidFill>
              </a:defRPr>
            </a:pPr>
            <a:r>
              <a:rPr sz="1350" b="0">
                <a:solidFill>
                  <a:srgbClr val="F5F8FC"/>
                </a:solidFill>
              </a:rPr>
              <a:t>• Gemini or labelled deterministic fallback</a:t>
            </a:r>
          </a:p>
          <a:p xmlns:a="http://schemas.openxmlformats.org/drawingml/2006/main">
            <a:pPr>
              <a:buNone/>
              <a:defRPr sz="1350" b="0">
                <a:solidFill>
                  <a:srgbClr val="F5F8FC"/>
                </a:solidFill>
              </a:defRPr>
            </a:pPr>
            <a:r>
              <a:rPr sz="1350" b="0">
                <a:solidFill>
                  <a:srgbClr val="F5F8FC"/>
                </a:solidFill>
              </a:rPr>
              <a:t>• NumPy simulation + OR-Tools constraints</a:t>
            </a:r>
          </a:p>
          <a:p xmlns:a="http://schemas.openxmlformats.org/drawingml/2006/main">
            <a:pPr>
              <a:buNone/>
              <a:defRPr sz="1350" b="0">
                <a:solidFill>
                  <a:srgbClr val="F5F8FC"/>
                </a:solidFill>
              </a:defRPr>
            </a:pPr>
            <a:r>
              <a:rPr sz="1350" b="0">
                <a:solidFill>
                  <a:srgbClr val="F5F8FC"/>
                </a:solidFill>
              </a:rPr>
              <a:t>• Local decision record</a:t>
            </a:r>
          </a:p>
          <a:p xmlns:a="http://schemas.openxmlformats.org/drawingml/2006/main">
            <a:pPr>
              <a:buNone/>
              <a:defRPr sz="1350" b="0">
                <a:solidFill>
                  <a:srgbClr val="F5F8FC"/>
                </a:solidFill>
              </a:defRPr>
            </a:pPr>
            <a:r>
              <a:rPr sz="1350" b="0">
                <a:solidFill>
                  <a:srgbClr val="F5F8FC"/>
                </a:solidFill>
              </a:rPr>
              <a:t>• 37 verified backend tests</a:t>
            </a:r>
          </a:p>
        </p:txBody>
      </p:sp>
      <p:sp>
        <p:nvSpPr>
          <p:cNvPr id="8" name="next">
            <a:extLst xmlns:a="http://schemas.openxmlformats.org/drawingml/2006/main">
              <a:ext uri="{FF2B5EF4-FFF2-40B4-BE49-F238E27FC236}">
                <a16:creationId xmlns:a16="http://schemas.microsoft.com/office/drawing/2014/main" id="{08E511B8-62A9-413D-8720-A310F437C087}"/>
              </a:ext>
            </a:extLst>
          </p:cNvPr>
          <p:cNvSpPr>
            <a:spLocks xmlns:a="http://schemas.openxmlformats.org/drawingml/2006/main" noGrp="1"/>
          </p:cNvSpPr>
          <p:nvPr/>
        </p:nvSpPr>
        <p:spPr>
          <a:xfrm xmlns:a="http://schemas.openxmlformats.org/drawingml/2006/main">
            <a:off x="6248400" y="2781300"/>
            <a:ext cx="5257800" cy="2571750"/>
          </a:xfrm>
          <a:prstGeom xmlns:a="http://schemas.openxmlformats.org/drawingml/2006/main" prst="roundRect">
            <a:avLst>
              <a:gd name="adj" fmla="val 4444"/>
            </a:avLst>
          </a:prstGeom>
          <a:solidFill xmlns:a="http://schemas.openxmlformats.org/drawingml/2006/main">
            <a:srgbClr val="102B47"/>
          </a:solidFill>
          <a:ln xmlns:a="http://schemas.openxmlformats.org/drawingml/2006/main" w="9525">
            <a:solidFill>
              <a:srgbClr val="66B3FF"/>
            </a:solidFill>
            <a:prstDash val="solid"/>
          </a:ln>
        </p:spPr>
      </p:sp>
      <p:sp>
        <p:nvSpPr>
          <p:cNvPr id="9" name="next-label">
            <a:extLst xmlns:a="http://schemas.openxmlformats.org/drawingml/2006/main">
              <a:ext uri="{FF2B5EF4-FFF2-40B4-BE49-F238E27FC236}">
                <a16:creationId xmlns:a16="http://schemas.microsoft.com/office/drawing/2014/main" id="{717F7CEA-2007-4A8B-B7C7-AE872CFF181D}"/>
              </a:ext>
            </a:extLst>
          </p:cNvPr>
          <p:cNvSpPr>
            <a:spLocks xmlns:a="http://schemas.openxmlformats.org/drawingml/2006/main" noGrp="1"/>
          </p:cNvSpPr>
          <p:nvPr/>
        </p:nvSpPr>
        <p:spPr>
          <a:xfrm xmlns:a="http://schemas.openxmlformats.org/drawingml/2006/main">
            <a:off x="6496050" y="30480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51E5D6"/>
                </a:solidFill>
              </a:defRPr>
            </a:pPr>
            <a:r>
              <a:rPr sz="1050" b="1">
                <a:solidFill>
                  <a:srgbClr val="51E5D6"/>
                </a:solidFill>
              </a:rPr>
              <a:t>VALIDATE NEXT</a:t>
            </a:r>
          </a:p>
        </p:txBody>
      </p:sp>
      <p:sp>
        <p:nvSpPr>
          <p:cNvPr id="10" name="next-list">
            <a:extLst xmlns:a="http://schemas.openxmlformats.org/drawingml/2006/main">
              <a:ext uri="{FF2B5EF4-FFF2-40B4-BE49-F238E27FC236}">
                <a16:creationId xmlns:a16="http://schemas.microsoft.com/office/drawing/2014/main" id="{1EF0B702-83EF-4B0C-AA7E-DCB2F88702EC}"/>
              </a:ext>
            </a:extLst>
          </p:cNvPr>
          <p:cNvSpPr>
            <a:spLocks xmlns:a="http://schemas.openxmlformats.org/drawingml/2006/main" noGrp="1"/>
          </p:cNvSpPr>
          <p:nvPr/>
        </p:nvSpPr>
        <p:spPr>
          <a:xfrm xmlns:a="http://schemas.openxmlformats.org/drawingml/2006/main">
            <a:off x="6496050" y="3476625"/>
            <a:ext cx="4476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0">
                <a:solidFill>
                  <a:srgbClr val="F5F8FC"/>
                </a:solidFill>
              </a:defRPr>
            </a:pPr>
            <a:r>
              <a:rPr sz="1350" b="0">
                <a:solidFill>
                  <a:srgbClr val="F5F8FC"/>
                </a:solidFill>
              </a:rPr>
              <a:t>• Cited live source adapters</a:t>
            </a:r>
          </a:p>
          <a:p xmlns:a="http://schemas.openxmlformats.org/drawingml/2006/main">
            <a:pPr>
              <a:buNone/>
              <a:defRPr sz="1350" b="0">
                <a:solidFill>
                  <a:srgbClr val="F5F8FC"/>
                </a:solidFill>
              </a:defRPr>
            </a:pPr>
            <a:r>
              <a:rPr sz="1350" b="0">
                <a:solidFill>
                  <a:srgbClr val="F5F8FC"/>
                </a:solidFill>
              </a:rPr>
              <a:t>• Historical calibration</a:t>
            </a:r>
          </a:p>
          <a:p xmlns:a="http://schemas.openxmlformats.org/drawingml/2006/main">
            <a:pPr>
              <a:buNone/>
              <a:defRPr sz="1350" b="0">
                <a:solidFill>
                  <a:srgbClr val="F5F8FC"/>
                </a:solidFill>
              </a:defRPr>
            </a:pPr>
            <a:r>
              <a:rPr sz="1350" b="0">
                <a:solidFill>
                  <a:srgbClr val="F5F8FC"/>
                </a:solidFill>
              </a:rPr>
              <a:t>• Commercial feasibility checks</a:t>
            </a:r>
          </a:p>
          <a:p xmlns:a="http://schemas.openxmlformats.org/drawingml/2006/main">
            <a:pPr>
              <a:buNone/>
              <a:defRPr sz="1350" b="0">
                <a:solidFill>
                  <a:srgbClr val="F5F8FC"/>
                </a:solidFill>
              </a:defRPr>
            </a:pPr>
            <a:r>
              <a:rPr sz="1350" b="0">
                <a:solidFill>
                  <a:srgbClr val="F5F8FC"/>
                </a:solidFill>
              </a:rPr>
              <a:t>• RBAC and governed storage</a:t>
            </a:r>
          </a:p>
          <a:p xmlns:a="http://schemas.openxmlformats.org/drawingml/2006/main">
            <a:pPr>
              <a:buNone/>
              <a:defRPr sz="1350" b="0">
                <a:solidFill>
                  <a:srgbClr val="F5F8FC"/>
                </a:solidFill>
              </a:defRPr>
            </a:pPr>
            <a:r>
              <a:rPr sz="1350" b="0">
                <a:solidFill>
                  <a:srgbClr val="F5F8FC"/>
                </a:solidFill>
              </a:rPr>
              <a:t>• Enterprise integrations</a:t>
            </a:r>
          </a:p>
        </p:txBody>
      </p:sp>
      <p:sp>
        <p:nvSpPr>
          <p:cNvPr id="11" name="">
            <a:extLst xmlns:a="http://schemas.openxmlformats.org/drawingml/2006/main">
              <a:ext uri="{FF2B5EF4-FFF2-40B4-BE49-F238E27FC236}">
                <a16:creationId xmlns:a16="http://schemas.microsoft.com/office/drawing/2014/main" id="{8318BA08-1157-4364-888B-8E669DDC734A}"/>
              </a:ext>
            </a:extLst>
          </p:cNvPr>
          <p:cNvSpPr>
            <a:spLocks xmlns:a="http://schemas.openxmlformats.org/drawingml/2006/main" noGrp="1"/>
          </p:cNvSpPr>
          <p:nvPr/>
        </p:nvSpPr>
        <p:spPr>
          <a:xfrm xmlns:a="http://schemas.openxmlformats.org/drawingml/2006/main">
            <a:off x="5638800" y="4076700"/>
            <a:ext cx="609600" cy="0"/>
          </a:xfrm>
          <a:prstGeom xmlns:a="http://schemas.openxmlformats.org/drawingml/2006/main" prst="line">
            <a:avLst/>
          </a:prstGeom>
          <a:noFill xmlns:a="http://schemas.openxmlformats.org/drawingml/2006/main"/>
          <a:ln xmlns:a="http://schemas.openxmlformats.org/drawingml/2006/main" w="28575">
            <a:solidFill>
              <a:srgbClr val="51E5D6"/>
            </a:solidFill>
            <a:prstDash val="solid"/>
          </a:ln>
        </p:spPr>
      </p:sp>
      <p:sp>
        <p:nvSpPr>
          <p:cNvPr id="12" name="arrow-label">
            <a:extLst xmlns:a="http://schemas.openxmlformats.org/drawingml/2006/main">
              <a:ext uri="{FF2B5EF4-FFF2-40B4-BE49-F238E27FC236}">
                <a16:creationId xmlns:a16="http://schemas.microsoft.com/office/drawing/2014/main" id="{544FC339-A310-4E05-B683-5D7A3A0304F2}"/>
              </a:ext>
            </a:extLst>
          </p:cNvPr>
          <p:cNvSpPr>
            <a:spLocks xmlns:a="http://schemas.openxmlformats.org/drawingml/2006/main" noGrp="1"/>
          </p:cNvSpPr>
          <p:nvPr/>
        </p:nvSpPr>
        <p:spPr>
          <a:xfrm xmlns:a="http://schemas.openxmlformats.org/drawingml/2006/main">
            <a:off x="5133975" y="55435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AABFD2"/>
                </a:solidFill>
              </a:defRPr>
            </a:pPr>
            <a:r>
              <a:rPr sz="1125" b="1">
                <a:solidFill>
                  <a:srgbClr val="AABFD2"/>
                </a:solidFill>
              </a:rPr>
              <a:t>PROTOTYPE → VALIDATED PILOT</a:t>
            </a:r>
          </a:p>
        </p:txBody>
      </p:sp>
      <p:sp>
        <p:nvSpPr>
          <p:cNvPr id="13" name="scale-conclusion">
            <a:extLst xmlns:a="http://schemas.openxmlformats.org/drawingml/2006/main">
              <a:ext uri="{FF2B5EF4-FFF2-40B4-BE49-F238E27FC236}">
                <a16:creationId xmlns:a16="http://schemas.microsoft.com/office/drawing/2014/main" id="{1950C11F-DDB4-43AA-94EF-7D0B57F1A4B0}"/>
              </a:ext>
            </a:extLst>
          </p:cNvPr>
          <p:cNvSpPr>
            <a:spLocks xmlns:a="http://schemas.openxmlformats.org/drawingml/2006/main" noGrp="1"/>
          </p:cNvSpPr>
          <p:nvPr/>
        </p:nvSpPr>
        <p:spPr>
          <a:xfrm xmlns:a="http://schemas.openxmlformats.org/drawingml/2006/main">
            <a:off x="685800" y="5905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F5F8FC"/>
                </a:solidFill>
              </a:defRPr>
            </a:pPr>
            <a:r>
              <a:rPr sz="1725" b="1">
                <a:solidFill>
                  <a:srgbClr val="F5F8FC"/>
                </a:solidFill>
              </a:rPr>
              <a:t>Trust comes from proving the boundary, then extending it deliberately.</a:t>
            </a:r>
          </a:p>
        </p:txBody>
      </p:sp>
      <p:sp>
        <p:nvSpPr>
          <p:cNvPr id="14" name="">
            <a:extLst xmlns:a="http://schemas.openxmlformats.org/drawingml/2006/main">
              <a:ext uri="{FF2B5EF4-FFF2-40B4-BE49-F238E27FC236}">
                <a16:creationId xmlns:a16="http://schemas.microsoft.com/office/drawing/2014/main" id="{D8A2B680-471F-4FA8-B739-C3EC1FCA726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15" name="footer">
            <a:extLst xmlns:a="http://schemas.openxmlformats.org/drawingml/2006/main">
              <a:ext uri="{FF2B5EF4-FFF2-40B4-BE49-F238E27FC236}">
                <a16:creationId xmlns:a16="http://schemas.microsoft.com/office/drawing/2014/main" id="{0204C854-1165-49B7-A603-B07D3BDB7AFA}"/>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GRAND FINAL</a:t>
            </a:r>
          </a:p>
        </p:txBody>
      </p:sp>
    </p:spTree>
    <p:extLst>
      <p:ext uri="{BB962C8B-B14F-4D97-AF65-F5344CB8AC3E}">
        <p14:creationId xmlns:p14="http://schemas.microsoft.com/office/powerpoint/2010/main" val="2030159511"/>
      </p:ext>
    </p:extLst>
  </p:cSld>
</p:sld>
</file>

<file path=ppt/slides/slide10.xml><?xml version="1.0" encoding="utf-8"?>
<p:sld xmlns:p="http://schemas.openxmlformats.org/presentationml/2006/main">
  <p:cSld>
    <p:bg>
      <p:bgPr>
        <a:solidFill xmlns:a="http://schemas.openxmlformats.org/drawingml/2006/main">
          <a:srgbClr val="07111F"/>
        </a:solidFill>
      </p:bgPr>
    </p:bg>
    <p:spTree>
      <p:nvGrpSpPr>
        <p:cNvPr id="1" name=""/>
        <p:cNvGrpSpPr/>
        <p:nvPr/>
      </p:nvGrpSpPr>
      <p:grpSpPr>
        <a:xfrm xmlns:a="http://schemas.openxmlformats.org/drawingml/2006/main"/>
      </p:grpSpPr>
      <p:sp>
        <p:nvSpPr>
          <p:cNvPr id="30" name="eyebrow">
            <a:extLst xmlns:a="http://schemas.openxmlformats.org/drawingml/2006/main">
              <a:ext uri="{FF2B5EF4-FFF2-40B4-BE49-F238E27FC236}">
                <a16:creationId xmlns:a16="http://schemas.microsoft.com/office/drawing/2014/main" id="{5253AFCF-937A-4BB0-B8C1-7FEBD387A46A}"/>
              </a:ext>
            </a:extLst>
          </p:cNvPr>
          <p:cNvSpPr>
            <a:spLocks xmlns:a="http://schemas.openxmlformats.org/drawingml/2006/main" noGrp="1"/>
          </p:cNvSpPr>
          <p:nvPr/>
        </p:nvSpPr>
        <p:spPr>
          <a:xfrm xmlns:a="http://schemas.openxmlformats.org/drawingml/2006/main">
            <a:off x="685800" y="4762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1E5D6"/>
                </a:solidFill>
              </a:defRPr>
            </a:pPr>
            <a:r>
              <a:rPr sz="975" b="1">
                <a:solidFill>
                  <a:srgbClr val="51E5D6"/>
                </a:solidFill>
              </a:rPr>
              <a:t>THE DECISION</a:t>
            </a:r>
          </a:p>
        </p:txBody>
      </p:sp>
      <p:sp>
        <p:nvSpPr>
          <p:cNvPr id="2" name="slide-number">
            <a:extLst xmlns:a="http://schemas.openxmlformats.org/drawingml/2006/main">
              <a:ext uri="{FF2B5EF4-FFF2-40B4-BE49-F238E27FC236}">
                <a16:creationId xmlns:a16="http://schemas.microsoft.com/office/drawing/2014/main" id="{21BC602F-0CD3-429A-84AB-139106A0467A}"/>
              </a:ext>
            </a:extLst>
          </p:cNvPr>
          <p:cNvSpPr>
            <a:spLocks xmlns:a="http://schemas.openxmlformats.org/drawingml/2006/main" noGrp="1"/>
          </p:cNvSpPr>
          <p:nvPr/>
        </p:nvSpPr>
        <p:spPr>
          <a:xfrm xmlns:a="http://schemas.openxmlformats.org/drawingml/2006/main">
            <a:off x="10953750" y="47625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AABFD2"/>
                </a:solidFill>
              </a:defRPr>
            </a:pPr>
            <a:r>
              <a:rPr sz="975" b="1">
                <a:solidFill>
                  <a:srgbClr val="AABFD2"/>
                </a:solidFill>
              </a:rPr>
              <a:t>10</a:t>
            </a:r>
          </a:p>
        </p:txBody>
      </p:sp>
      <p:sp>
        <p:nvSpPr>
          <p:cNvPr id="3" name="title">
            <a:extLst xmlns:a="http://schemas.openxmlformats.org/drawingml/2006/main">
              <a:ext uri="{FF2B5EF4-FFF2-40B4-BE49-F238E27FC236}">
                <a16:creationId xmlns:a16="http://schemas.microsoft.com/office/drawing/2014/main" id="{74DB1A05-77BA-4700-8C55-8616BAAAAA5A}"/>
              </a:ext>
            </a:extLst>
          </p:cNvPr>
          <p:cNvSpPr>
            <a:spLocks xmlns:a="http://schemas.openxmlformats.org/drawingml/2006/main" noGrp="1"/>
          </p:cNvSpPr>
          <p:nvPr/>
        </p:nvSpPr>
        <p:spPr>
          <a:xfrm xmlns:a="http://schemas.openxmlformats.org/drawingml/2006/main">
            <a:off x="685800" y="85725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150" b="1">
                <a:solidFill>
                  <a:srgbClr val="F5F8FC"/>
                </a:solidFill>
              </a:defRPr>
            </a:pPr>
            <a:r>
              <a:rPr sz="3150" b="1">
                <a:solidFill>
                  <a:srgbClr val="F5F8FC"/>
                </a:solidFill>
              </a:rPr>
              <a:t>Accountable speed beats false autonomy.</a:t>
            </a:r>
          </a:p>
        </p:txBody>
      </p:sp>
      <p:sp>
        <p:nvSpPr>
          <p:cNvPr id="4" name="subtitle">
            <a:extLst xmlns:a="http://schemas.openxmlformats.org/drawingml/2006/main">
              <a:ext uri="{FF2B5EF4-FFF2-40B4-BE49-F238E27FC236}">
                <a16:creationId xmlns:a16="http://schemas.microsoft.com/office/drawing/2014/main" id="{DAF9F9B8-932E-4004-B67E-003DD128C7CE}"/>
              </a:ext>
            </a:extLst>
          </p:cNvPr>
          <p:cNvSpPr>
            <a:spLocks xmlns:a="http://schemas.openxmlformats.org/drawingml/2006/main" noGrp="1"/>
          </p:cNvSpPr>
          <p:nvPr/>
        </p:nvSpPr>
        <p:spPr>
          <a:xfrm xmlns:a="http://schemas.openxmlformats.org/drawingml/2006/main">
            <a:off x="685800" y="18669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AABFD2"/>
                </a:solidFill>
              </a:defRPr>
            </a:pPr>
            <a:r>
              <a:rPr sz="1500" b="0">
                <a:solidFill>
                  <a:srgbClr val="AABFD2"/>
                </a:solidFill>
              </a:rPr>
              <a:t>PetraVigil makes one disruption case intelligible, testable, nationally feasible, and reviewable.</a:t>
            </a:r>
          </a:p>
        </p:txBody>
      </p:sp>
      <p:sp>
        <p:nvSpPr>
          <p:cNvPr id="5" name="win-point">
            <a:extLst xmlns:a="http://schemas.openxmlformats.org/drawingml/2006/main">
              <a:ext uri="{FF2B5EF4-FFF2-40B4-BE49-F238E27FC236}">
                <a16:creationId xmlns:a16="http://schemas.microsoft.com/office/drawing/2014/main" id="{D1B971AB-7893-4950-90BF-1131C9E1B8EE}"/>
              </a:ext>
            </a:extLst>
          </p:cNvPr>
          <p:cNvSpPr>
            <a:spLocks xmlns:a="http://schemas.openxmlformats.org/drawingml/2006/main" noGrp="1"/>
          </p:cNvSpPr>
          <p:nvPr/>
        </p:nvSpPr>
        <p:spPr>
          <a:xfrm xmlns:a="http://schemas.openxmlformats.org/drawingml/2006/main">
            <a:off x="685800" y="2800350"/>
            <a:ext cx="5143500" cy="876300"/>
          </a:xfrm>
          <a:prstGeom xmlns:a="http://schemas.openxmlformats.org/drawingml/2006/main" prst="roundRect">
            <a:avLst>
              <a:gd name="adj" fmla="val 13043"/>
            </a:avLst>
          </a:prstGeom>
          <a:solidFill xmlns:a="http://schemas.openxmlformats.org/drawingml/2006/main">
            <a:srgbClr val="0D1D31"/>
          </a:solidFill>
          <a:ln xmlns:a="http://schemas.openxmlformats.org/drawingml/2006/main" w="9525">
            <a:solidFill>
              <a:srgbClr val="244563"/>
            </a:solidFill>
            <a:prstDash val="solid"/>
          </a:ln>
        </p:spPr>
      </p:sp>
      <p:sp>
        <p:nvSpPr>
          <p:cNvPr id="6" name="win-dot">
            <a:extLst xmlns:a="http://schemas.openxmlformats.org/drawingml/2006/main">
              <a:ext uri="{FF2B5EF4-FFF2-40B4-BE49-F238E27FC236}">
                <a16:creationId xmlns:a16="http://schemas.microsoft.com/office/drawing/2014/main" id="{43F7111D-7B7F-498C-BFB0-E152A508D225}"/>
              </a:ext>
            </a:extLst>
          </p:cNvPr>
          <p:cNvSpPr>
            <a:spLocks xmlns:a="http://schemas.openxmlformats.org/drawingml/2006/main" noGrp="1"/>
          </p:cNvSpPr>
          <p:nvPr/>
        </p:nvSpPr>
        <p:spPr>
          <a:xfrm xmlns:a="http://schemas.openxmlformats.org/drawingml/2006/main">
            <a:off x="895350" y="3028950"/>
            <a:ext cx="419100" cy="419100"/>
          </a:xfrm>
          <a:prstGeom xmlns:a="http://schemas.openxmlformats.org/drawingml/2006/main" prst="ellipse">
            <a:avLst/>
          </a:prstGeom>
          <a:solidFill xmlns:a="http://schemas.openxmlformats.org/drawingml/2006/main">
            <a:srgbClr val="F58D95"/>
          </a:solidFill>
          <a:ln xmlns:a="http://schemas.openxmlformats.org/drawingml/2006/main" w="9525">
            <a:solidFill>
              <a:srgbClr val="F58D95"/>
            </a:solidFill>
            <a:prstDash val="solid"/>
          </a:ln>
        </p:spPr>
      </p:sp>
      <p:sp>
        <p:nvSpPr>
          <p:cNvPr id="7" name="win-num">
            <a:extLst xmlns:a="http://schemas.openxmlformats.org/drawingml/2006/main">
              <a:ext uri="{FF2B5EF4-FFF2-40B4-BE49-F238E27FC236}">
                <a16:creationId xmlns:a16="http://schemas.microsoft.com/office/drawing/2014/main" id="{EB623114-1A4E-46D3-89CA-0403E495D0D1}"/>
              </a:ext>
            </a:extLst>
          </p:cNvPr>
          <p:cNvSpPr>
            <a:spLocks xmlns:a="http://schemas.openxmlformats.org/drawingml/2006/main" noGrp="1"/>
          </p:cNvSpPr>
          <p:nvPr/>
        </p:nvSpPr>
        <p:spPr>
          <a:xfrm xmlns:a="http://schemas.openxmlformats.org/drawingml/2006/main">
            <a:off x="1047750" y="31527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07111F"/>
                </a:solidFill>
              </a:defRPr>
            </a:pPr>
            <a:r>
              <a:rPr sz="1125" b="1">
                <a:solidFill>
                  <a:srgbClr val="07111F"/>
                </a:solidFill>
              </a:rPr>
              <a:t>1</a:t>
            </a:r>
          </a:p>
        </p:txBody>
      </p:sp>
      <p:sp>
        <p:nvSpPr>
          <p:cNvPr id="8" name="win-head">
            <a:extLst xmlns:a="http://schemas.openxmlformats.org/drawingml/2006/main">
              <a:ext uri="{FF2B5EF4-FFF2-40B4-BE49-F238E27FC236}">
                <a16:creationId xmlns:a16="http://schemas.microsoft.com/office/drawing/2014/main" id="{59FF3747-2E6F-4AD4-8E5C-452516E3E313}"/>
              </a:ext>
            </a:extLst>
          </p:cNvPr>
          <p:cNvSpPr>
            <a:spLocks xmlns:a="http://schemas.openxmlformats.org/drawingml/2006/main" noGrp="1"/>
          </p:cNvSpPr>
          <p:nvPr/>
        </p:nvSpPr>
        <p:spPr>
          <a:xfrm xmlns:a="http://schemas.openxmlformats.org/drawingml/2006/main">
            <a:off x="1524000" y="30099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58D95"/>
                </a:solidFill>
              </a:defRPr>
            </a:pPr>
            <a:r>
              <a:rPr sz="1350" b="1">
                <a:solidFill>
                  <a:srgbClr val="F58D95"/>
                </a:solidFill>
              </a:rPr>
              <a:t>Evidence</a:t>
            </a:r>
          </a:p>
        </p:txBody>
      </p:sp>
      <p:sp>
        <p:nvSpPr>
          <p:cNvPr id="9" name="win-copy">
            <a:extLst xmlns:a="http://schemas.openxmlformats.org/drawingml/2006/main">
              <a:ext uri="{FF2B5EF4-FFF2-40B4-BE49-F238E27FC236}">
                <a16:creationId xmlns:a16="http://schemas.microsoft.com/office/drawing/2014/main" id="{1D693D74-1C7B-49A6-861D-74B083FA5153}"/>
              </a:ext>
            </a:extLst>
          </p:cNvPr>
          <p:cNvSpPr>
            <a:spLocks xmlns:a="http://schemas.openxmlformats.org/drawingml/2006/main" noGrp="1"/>
          </p:cNvSpPr>
          <p:nvPr/>
        </p:nvSpPr>
        <p:spPr>
          <a:xfrm xmlns:a="http://schemas.openxmlformats.org/drawingml/2006/main">
            <a:off x="1524000" y="32766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0">
                <a:solidFill>
                  <a:srgbClr val="F5F8FC"/>
                </a:solidFill>
              </a:defRPr>
            </a:pPr>
            <a:r>
              <a:rPr sz="1125" b="0">
                <a:solidFill>
                  <a:srgbClr val="F5F8FC"/>
                </a:solidFill>
              </a:rPr>
              <a:t>What happened and why it matters</a:t>
            </a:r>
          </a:p>
        </p:txBody>
      </p:sp>
      <p:sp>
        <p:nvSpPr>
          <p:cNvPr id="10" name="win-point">
            <a:extLst xmlns:a="http://schemas.openxmlformats.org/drawingml/2006/main">
              <a:ext uri="{FF2B5EF4-FFF2-40B4-BE49-F238E27FC236}">
                <a16:creationId xmlns:a16="http://schemas.microsoft.com/office/drawing/2014/main" id="{DE7DE555-4B84-495A-A021-AE86C55CF188}"/>
              </a:ext>
            </a:extLst>
          </p:cNvPr>
          <p:cNvSpPr>
            <a:spLocks xmlns:a="http://schemas.openxmlformats.org/drawingml/2006/main" noGrp="1"/>
          </p:cNvSpPr>
          <p:nvPr/>
        </p:nvSpPr>
        <p:spPr>
          <a:xfrm xmlns:a="http://schemas.openxmlformats.org/drawingml/2006/main">
            <a:off x="6096000" y="2800350"/>
            <a:ext cx="5143500" cy="876300"/>
          </a:xfrm>
          <a:prstGeom xmlns:a="http://schemas.openxmlformats.org/drawingml/2006/main" prst="roundRect">
            <a:avLst>
              <a:gd name="adj" fmla="val 13043"/>
            </a:avLst>
          </a:prstGeom>
          <a:solidFill xmlns:a="http://schemas.openxmlformats.org/drawingml/2006/main">
            <a:srgbClr val="0D1D31"/>
          </a:solidFill>
          <a:ln xmlns:a="http://schemas.openxmlformats.org/drawingml/2006/main" w="9525">
            <a:solidFill>
              <a:srgbClr val="244563"/>
            </a:solidFill>
            <a:prstDash val="solid"/>
          </a:ln>
        </p:spPr>
      </p:sp>
      <p:sp>
        <p:nvSpPr>
          <p:cNvPr id="11" name="win-dot">
            <a:extLst xmlns:a="http://schemas.openxmlformats.org/drawingml/2006/main">
              <a:ext uri="{FF2B5EF4-FFF2-40B4-BE49-F238E27FC236}">
                <a16:creationId xmlns:a16="http://schemas.microsoft.com/office/drawing/2014/main" id="{1622CE48-8E74-4B5C-830E-BF0EC70725A2}"/>
              </a:ext>
            </a:extLst>
          </p:cNvPr>
          <p:cNvSpPr>
            <a:spLocks xmlns:a="http://schemas.openxmlformats.org/drawingml/2006/main" noGrp="1"/>
          </p:cNvSpPr>
          <p:nvPr/>
        </p:nvSpPr>
        <p:spPr>
          <a:xfrm xmlns:a="http://schemas.openxmlformats.org/drawingml/2006/main">
            <a:off x="6305550" y="3028950"/>
            <a:ext cx="419100" cy="419100"/>
          </a:xfrm>
          <a:prstGeom xmlns:a="http://schemas.openxmlformats.org/drawingml/2006/main" prst="ellipse">
            <a:avLst/>
          </a:prstGeom>
          <a:solidFill xmlns:a="http://schemas.openxmlformats.org/drawingml/2006/main">
            <a:srgbClr val="51E5D6"/>
          </a:solidFill>
          <a:ln xmlns:a="http://schemas.openxmlformats.org/drawingml/2006/main" w="9525">
            <a:solidFill>
              <a:srgbClr val="51E5D6"/>
            </a:solidFill>
            <a:prstDash val="solid"/>
          </a:ln>
        </p:spPr>
      </p:sp>
      <p:sp>
        <p:nvSpPr>
          <p:cNvPr id="12" name="win-num">
            <a:extLst xmlns:a="http://schemas.openxmlformats.org/drawingml/2006/main">
              <a:ext uri="{FF2B5EF4-FFF2-40B4-BE49-F238E27FC236}">
                <a16:creationId xmlns:a16="http://schemas.microsoft.com/office/drawing/2014/main" id="{33288F85-28A0-48B1-88AC-10D224AF802E}"/>
              </a:ext>
            </a:extLst>
          </p:cNvPr>
          <p:cNvSpPr>
            <a:spLocks xmlns:a="http://schemas.openxmlformats.org/drawingml/2006/main" noGrp="1"/>
          </p:cNvSpPr>
          <p:nvPr/>
        </p:nvSpPr>
        <p:spPr>
          <a:xfrm xmlns:a="http://schemas.openxmlformats.org/drawingml/2006/main">
            <a:off x="6457950" y="315277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07111F"/>
                </a:solidFill>
              </a:defRPr>
            </a:pPr>
            <a:r>
              <a:rPr sz="1125" b="1">
                <a:solidFill>
                  <a:srgbClr val="07111F"/>
                </a:solidFill>
              </a:rPr>
              <a:t>2</a:t>
            </a:r>
          </a:p>
        </p:txBody>
      </p:sp>
      <p:sp>
        <p:nvSpPr>
          <p:cNvPr id="13" name="win-head">
            <a:extLst xmlns:a="http://schemas.openxmlformats.org/drawingml/2006/main">
              <a:ext uri="{FF2B5EF4-FFF2-40B4-BE49-F238E27FC236}">
                <a16:creationId xmlns:a16="http://schemas.microsoft.com/office/drawing/2014/main" id="{0C580900-E510-492D-99B4-1BDB1B88D32F}"/>
              </a:ext>
            </a:extLst>
          </p:cNvPr>
          <p:cNvSpPr>
            <a:spLocks xmlns:a="http://schemas.openxmlformats.org/drawingml/2006/main" noGrp="1"/>
          </p:cNvSpPr>
          <p:nvPr/>
        </p:nvSpPr>
        <p:spPr>
          <a:xfrm xmlns:a="http://schemas.openxmlformats.org/drawingml/2006/main">
            <a:off x="6934200" y="30099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1E5D6"/>
                </a:solidFill>
              </a:defRPr>
            </a:pPr>
            <a:r>
              <a:rPr sz="1350" b="1">
                <a:solidFill>
                  <a:srgbClr val="51E5D6"/>
                </a:solidFill>
              </a:rPr>
              <a:t>Constraints</a:t>
            </a:r>
          </a:p>
        </p:txBody>
      </p:sp>
      <p:sp>
        <p:nvSpPr>
          <p:cNvPr id="14" name="win-copy">
            <a:extLst xmlns:a="http://schemas.openxmlformats.org/drawingml/2006/main">
              <a:ext uri="{FF2B5EF4-FFF2-40B4-BE49-F238E27FC236}">
                <a16:creationId xmlns:a16="http://schemas.microsoft.com/office/drawing/2014/main" id="{A5FC7B3B-A6B1-4165-A5D5-22FFD68A940C}"/>
              </a:ext>
            </a:extLst>
          </p:cNvPr>
          <p:cNvSpPr>
            <a:spLocks xmlns:a="http://schemas.openxmlformats.org/drawingml/2006/main" noGrp="1"/>
          </p:cNvSpPr>
          <p:nvPr/>
        </p:nvSpPr>
        <p:spPr>
          <a:xfrm xmlns:a="http://schemas.openxmlformats.org/drawingml/2006/main">
            <a:off x="6934200" y="32766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0">
                <a:solidFill>
                  <a:srgbClr val="F5F8FC"/>
                </a:solidFill>
              </a:defRPr>
            </a:pPr>
            <a:r>
              <a:rPr sz="1125" b="0">
                <a:solidFill>
                  <a:srgbClr val="F5F8FC"/>
                </a:solidFill>
              </a:rPr>
              <a:t>What capacity and compatibility permit</a:t>
            </a:r>
          </a:p>
        </p:txBody>
      </p:sp>
      <p:sp>
        <p:nvSpPr>
          <p:cNvPr id="15" name="win-point">
            <a:extLst xmlns:a="http://schemas.openxmlformats.org/drawingml/2006/main">
              <a:ext uri="{FF2B5EF4-FFF2-40B4-BE49-F238E27FC236}">
                <a16:creationId xmlns:a16="http://schemas.microsoft.com/office/drawing/2014/main" id="{A76C8054-532C-4962-97F1-F058BA9BA804}"/>
              </a:ext>
            </a:extLst>
          </p:cNvPr>
          <p:cNvSpPr>
            <a:spLocks xmlns:a="http://schemas.openxmlformats.org/drawingml/2006/main" noGrp="1"/>
          </p:cNvSpPr>
          <p:nvPr/>
        </p:nvSpPr>
        <p:spPr>
          <a:xfrm xmlns:a="http://schemas.openxmlformats.org/drawingml/2006/main">
            <a:off x="685800" y="3924300"/>
            <a:ext cx="5143500" cy="876300"/>
          </a:xfrm>
          <a:prstGeom xmlns:a="http://schemas.openxmlformats.org/drawingml/2006/main" prst="roundRect">
            <a:avLst>
              <a:gd name="adj" fmla="val 13043"/>
            </a:avLst>
          </a:prstGeom>
          <a:solidFill xmlns:a="http://schemas.openxmlformats.org/drawingml/2006/main">
            <a:srgbClr val="0D1D31"/>
          </a:solidFill>
          <a:ln xmlns:a="http://schemas.openxmlformats.org/drawingml/2006/main" w="9525">
            <a:solidFill>
              <a:srgbClr val="244563"/>
            </a:solidFill>
            <a:prstDash val="solid"/>
          </a:ln>
        </p:spPr>
      </p:sp>
      <p:sp>
        <p:nvSpPr>
          <p:cNvPr id="16" name="win-dot">
            <a:extLst xmlns:a="http://schemas.openxmlformats.org/drawingml/2006/main">
              <a:ext uri="{FF2B5EF4-FFF2-40B4-BE49-F238E27FC236}">
                <a16:creationId xmlns:a16="http://schemas.microsoft.com/office/drawing/2014/main" id="{B1C8E024-C739-428A-87CF-7B75F2AD3D90}"/>
              </a:ext>
            </a:extLst>
          </p:cNvPr>
          <p:cNvSpPr>
            <a:spLocks xmlns:a="http://schemas.openxmlformats.org/drawingml/2006/main" noGrp="1"/>
          </p:cNvSpPr>
          <p:nvPr/>
        </p:nvSpPr>
        <p:spPr>
          <a:xfrm xmlns:a="http://schemas.openxmlformats.org/drawingml/2006/main">
            <a:off x="895350" y="4152900"/>
            <a:ext cx="419100" cy="419100"/>
          </a:xfrm>
          <a:prstGeom xmlns:a="http://schemas.openxmlformats.org/drawingml/2006/main" prst="ellipse">
            <a:avLst/>
          </a:prstGeom>
          <a:solidFill xmlns:a="http://schemas.openxmlformats.org/drawingml/2006/main">
            <a:srgbClr val="66B3FF"/>
          </a:solidFill>
          <a:ln xmlns:a="http://schemas.openxmlformats.org/drawingml/2006/main" w="9525">
            <a:solidFill>
              <a:srgbClr val="66B3FF"/>
            </a:solidFill>
            <a:prstDash val="solid"/>
          </a:ln>
        </p:spPr>
      </p:sp>
      <p:sp>
        <p:nvSpPr>
          <p:cNvPr id="17" name="win-num">
            <a:extLst xmlns:a="http://schemas.openxmlformats.org/drawingml/2006/main">
              <a:ext uri="{FF2B5EF4-FFF2-40B4-BE49-F238E27FC236}">
                <a16:creationId xmlns:a16="http://schemas.microsoft.com/office/drawing/2014/main" id="{AD0ED9A1-A14C-497D-8002-F08D846AF3A9}"/>
              </a:ext>
            </a:extLst>
          </p:cNvPr>
          <p:cNvSpPr>
            <a:spLocks xmlns:a="http://schemas.openxmlformats.org/drawingml/2006/main" noGrp="1"/>
          </p:cNvSpPr>
          <p:nvPr/>
        </p:nvSpPr>
        <p:spPr>
          <a:xfrm xmlns:a="http://schemas.openxmlformats.org/drawingml/2006/main">
            <a:off x="1047750" y="427672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07111F"/>
                </a:solidFill>
              </a:defRPr>
            </a:pPr>
            <a:r>
              <a:rPr sz="1125" b="1">
                <a:solidFill>
                  <a:srgbClr val="07111F"/>
                </a:solidFill>
              </a:rPr>
              <a:t>3</a:t>
            </a:r>
          </a:p>
        </p:txBody>
      </p:sp>
      <p:sp>
        <p:nvSpPr>
          <p:cNvPr id="18" name="win-head">
            <a:extLst xmlns:a="http://schemas.openxmlformats.org/drawingml/2006/main">
              <a:ext uri="{FF2B5EF4-FFF2-40B4-BE49-F238E27FC236}">
                <a16:creationId xmlns:a16="http://schemas.microsoft.com/office/drawing/2014/main" id="{0F91A99A-FC78-4E4D-B198-FE57BDF25140}"/>
              </a:ext>
            </a:extLst>
          </p:cNvPr>
          <p:cNvSpPr>
            <a:spLocks xmlns:a="http://schemas.openxmlformats.org/drawingml/2006/main" noGrp="1"/>
          </p:cNvSpPr>
          <p:nvPr/>
        </p:nvSpPr>
        <p:spPr>
          <a:xfrm xmlns:a="http://schemas.openxmlformats.org/drawingml/2006/main">
            <a:off x="1524000" y="41338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66B3FF"/>
                </a:solidFill>
              </a:defRPr>
            </a:pPr>
            <a:r>
              <a:rPr sz="1350" b="1">
                <a:solidFill>
                  <a:srgbClr val="66B3FF"/>
                </a:solidFill>
              </a:rPr>
              <a:t>Safety</a:t>
            </a:r>
          </a:p>
        </p:txBody>
      </p:sp>
      <p:sp>
        <p:nvSpPr>
          <p:cNvPr id="19" name="win-copy">
            <a:extLst xmlns:a="http://schemas.openxmlformats.org/drawingml/2006/main">
              <a:ext uri="{FF2B5EF4-FFF2-40B4-BE49-F238E27FC236}">
                <a16:creationId xmlns:a16="http://schemas.microsoft.com/office/drawing/2014/main" id="{250A9F66-7C97-423C-9193-A66538C32657}"/>
              </a:ext>
            </a:extLst>
          </p:cNvPr>
          <p:cNvSpPr>
            <a:spLocks xmlns:a="http://schemas.openxmlformats.org/drawingml/2006/main" noGrp="1"/>
          </p:cNvSpPr>
          <p:nvPr/>
        </p:nvSpPr>
        <p:spPr>
          <a:xfrm xmlns:a="http://schemas.openxmlformats.org/drawingml/2006/main">
            <a:off x="1524000" y="44005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0">
                <a:solidFill>
                  <a:srgbClr val="F5F8FC"/>
                </a:solidFill>
              </a:defRPr>
            </a:pPr>
            <a:r>
              <a:rPr sz="1125" b="0">
                <a:solidFill>
                  <a:srgbClr val="F5F8FC"/>
                </a:solidFill>
              </a:rPr>
              <a:t>When the answer must be no recommendation yet</a:t>
            </a:r>
          </a:p>
        </p:txBody>
      </p:sp>
      <p:sp>
        <p:nvSpPr>
          <p:cNvPr id="20" name="win-point">
            <a:extLst xmlns:a="http://schemas.openxmlformats.org/drawingml/2006/main">
              <a:ext uri="{FF2B5EF4-FFF2-40B4-BE49-F238E27FC236}">
                <a16:creationId xmlns:a16="http://schemas.microsoft.com/office/drawing/2014/main" id="{37CA35F2-6586-4AE4-9FE8-96E35315A063}"/>
              </a:ext>
            </a:extLst>
          </p:cNvPr>
          <p:cNvSpPr>
            <a:spLocks xmlns:a="http://schemas.openxmlformats.org/drawingml/2006/main" noGrp="1"/>
          </p:cNvSpPr>
          <p:nvPr/>
        </p:nvSpPr>
        <p:spPr>
          <a:xfrm xmlns:a="http://schemas.openxmlformats.org/drawingml/2006/main">
            <a:off x="6096000" y="3924300"/>
            <a:ext cx="5143500" cy="876300"/>
          </a:xfrm>
          <a:prstGeom xmlns:a="http://schemas.openxmlformats.org/drawingml/2006/main" prst="roundRect">
            <a:avLst>
              <a:gd name="adj" fmla="val 13043"/>
            </a:avLst>
          </a:prstGeom>
          <a:solidFill xmlns:a="http://schemas.openxmlformats.org/drawingml/2006/main">
            <a:srgbClr val="0D1D31"/>
          </a:solidFill>
          <a:ln xmlns:a="http://schemas.openxmlformats.org/drawingml/2006/main" w="9525">
            <a:solidFill>
              <a:srgbClr val="244563"/>
            </a:solidFill>
            <a:prstDash val="solid"/>
          </a:ln>
        </p:spPr>
      </p:sp>
      <p:sp>
        <p:nvSpPr>
          <p:cNvPr id="21" name="win-dot">
            <a:extLst xmlns:a="http://schemas.openxmlformats.org/drawingml/2006/main">
              <a:ext uri="{FF2B5EF4-FFF2-40B4-BE49-F238E27FC236}">
                <a16:creationId xmlns:a16="http://schemas.microsoft.com/office/drawing/2014/main" id="{61C79F45-7169-4A25-B50A-FFEB2769509C}"/>
              </a:ext>
            </a:extLst>
          </p:cNvPr>
          <p:cNvSpPr>
            <a:spLocks xmlns:a="http://schemas.openxmlformats.org/drawingml/2006/main" noGrp="1"/>
          </p:cNvSpPr>
          <p:nvPr/>
        </p:nvSpPr>
        <p:spPr>
          <a:xfrm xmlns:a="http://schemas.openxmlformats.org/drawingml/2006/main">
            <a:off x="6305550" y="4152900"/>
            <a:ext cx="419100" cy="419100"/>
          </a:xfrm>
          <a:prstGeom xmlns:a="http://schemas.openxmlformats.org/drawingml/2006/main" prst="ellipse">
            <a:avLst/>
          </a:prstGeom>
          <a:solidFill xmlns:a="http://schemas.openxmlformats.org/drawingml/2006/main">
            <a:srgbClr val="86E5B6"/>
          </a:solidFill>
          <a:ln xmlns:a="http://schemas.openxmlformats.org/drawingml/2006/main" w="9525">
            <a:solidFill>
              <a:srgbClr val="86E5B6"/>
            </a:solidFill>
            <a:prstDash val="solid"/>
          </a:ln>
        </p:spPr>
      </p:sp>
      <p:sp>
        <p:nvSpPr>
          <p:cNvPr id="22" name="win-num">
            <a:extLst xmlns:a="http://schemas.openxmlformats.org/drawingml/2006/main">
              <a:ext uri="{FF2B5EF4-FFF2-40B4-BE49-F238E27FC236}">
                <a16:creationId xmlns:a16="http://schemas.microsoft.com/office/drawing/2014/main" id="{33FDF606-C000-4EA7-90B1-1749545A6BEF}"/>
              </a:ext>
            </a:extLst>
          </p:cNvPr>
          <p:cNvSpPr>
            <a:spLocks xmlns:a="http://schemas.openxmlformats.org/drawingml/2006/main" noGrp="1"/>
          </p:cNvSpPr>
          <p:nvPr/>
        </p:nvSpPr>
        <p:spPr>
          <a:xfrm xmlns:a="http://schemas.openxmlformats.org/drawingml/2006/main">
            <a:off x="6457950" y="4276725"/>
            <a:ext cx="133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07111F"/>
                </a:solidFill>
              </a:defRPr>
            </a:pPr>
            <a:r>
              <a:rPr sz="1125" b="1">
                <a:solidFill>
                  <a:srgbClr val="07111F"/>
                </a:solidFill>
              </a:rPr>
              <a:t>4</a:t>
            </a:r>
          </a:p>
        </p:txBody>
      </p:sp>
      <p:sp>
        <p:nvSpPr>
          <p:cNvPr id="23" name="win-head">
            <a:extLst xmlns:a="http://schemas.openxmlformats.org/drawingml/2006/main">
              <a:ext uri="{FF2B5EF4-FFF2-40B4-BE49-F238E27FC236}">
                <a16:creationId xmlns:a16="http://schemas.microsoft.com/office/drawing/2014/main" id="{B37F2D58-C46F-43AE-A9B6-5A98F0A2F9EF}"/>
              </a:ext>
            </a:extLst>
          </p:cNvPr>
          <p:cNvSpPr>
            <a:spLocks xmlns:a="http://schemas.openxmlformats.org/drawingml/2006/main" noGrp="1"/>
          </p:cNvSpPr>
          <p:nvPr/>
        </p:nvSpPr>
        <p:spPr>
          <a:xfrm xmlns:a="http://schemas.openxmlformats.org/drawingml/2006/main">
            <a:off x="6934200" y="41338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6E5B6"/>
                </a:solidFill>
              </a:defRPr>
            </a:pPr>
            <a:r>
              <a:rPr sz="1350" b="1">
                <a:solidFill>
                  <a:srgbClr val="86E5B6"/>
                </a:solidFill>
              </a:rPr>
              <a:t>Accountability</a:t>
            </a:r>
          </a:p>
        </p:txBody>
      </p:sp>
      <p:sp>
        <p:nvSpPr>
          <p:cNvPr id="24" name="win-copy">
            <a:extLst xmlns:a="http://schemas.openxmlformats.org/drawingml/2006/main">
              <a:ext uri="{FF2B5EF4-FFF2-40B4-BE49-F238E27FC236}">
                <a16:creationId xmlns:a16="http://schemas.microsoft.com/office/drawing/2014/main" id="{5E081615-251F-48E5-B7FE-36E9B0D7E172}"/>
              </a:ext>
            </a:extLst>
          </p:cNvPr>
          <p:cNvSpPr>
            <a:spLocks xmlns:a="http://schemas.openxmlformats.org/drawingml/2006/main" noGrp="1"/>
          </p:cNvSpPr>
          <p:nvPr/>
        </p:nvSpPr>
        <p:spPr>
          <a:xfrm xmlns:a="http://schemas.openxmlformats.org/drawingml/2006/main">
            <a:off x="6934200" y="44005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0">
                <a:solidFill>
                  <a:srgbClr val="F5F8FC"/>
                </a:solidFill>
              </a:defRPr>
            </a:pPr>
            <a:r>
              <a:rPr sz="1125" b="0">
                <a:solidFill>
                  <a:srgbClr val="F5F8FC"/>
                </a:solidFill>
              </a:rPr>
              <a:t>What a human executive should approve</a:t>
            </a:r>
          </a:p>
        </p:txBody>
      </p:sp>
      <p:sp>
        <p:nvSpPr>
          <p:cNvPr id="25" name="closing-line">
            <a:extLst xmlns:a="http://schemas.openxmlformats.org/drawingml/2006/main">
              <a:ext uri="{FF2B5EF4-FFF2-40B4-BE49-F238E27FC236}">
                <a16:creationId xmlns:a16="http://schemas.microsoft.com/office/drawing/2014/main" id="{B1F0B211-1B1B-460F-82D3-58D30D2EE48B}"/>
              </a:ext>
            </a:extLst>
          </p:cNvPr>
          <p:cNvSpPr>
            <a:spLocks xmlns:a="http://schemas.openxmlformats.org/drawingml/2006/main" noGrp="1"/>
          </p:cNvSpPr>
          <p:nvPr/>
        </p:nvSpPr>
        <p:spPr>
          <a:xfrm xmlns:a="http://schemas.openxmlformats.org/drawingml/2006/main">
            <a:off x="685800" y="5429250"/>
            <a:ext cx="971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550" b="1">
                <a:solidFill>
                  <a:srgbClr val="F5F8FC"/>
                </a:solidFill>
              </a:defRPr>
            </a:pPr>
            <a:r>
              <a:rPr sz="2550" b="1">
                <a:solidFill>
                  <a:srgbClr val="F5F8FC"/>
                </a:solidFill>
              </a:rPr>
              <a:t>One case. Safe action before the response window closes.</a:t>
            </a:r>
          </a:p>
        </p:txBody>
      </p:sp>
      <p:sp>
        <p:nvSpPr>
          <p:cNvPr id="26" name="chip">
            <a:extLst xmlns:a="http://schemas.openxmlformats.org/drawingml/2006/main">
              <a:ext uri="{FF2B5EF4-FFF2-40B4-BE49-F238E27FC236}">
                <a16:creationId xmlns:a16="http://schemas.microsoft.com/office/drawing/2014/main" id="{4100ACDB-346C-4163-B2AF-6A3D0B6F9DB1}"/>
              </a:ext>
            </a:extLst>
          </p:cNvPr>
          <p:cNvSpPr>
            <a:spLocks xmlns:a="http://schemas.openxmlformats.org/drawingml/2006/main" noGrp="1"/>
          </p:cNvSpPr>
          <p:nvPr/>
        </p:nvSpPr>
        <p:spPr>
          <a:xfrm xmlns:a="http://schemas.openxmlformats.org/drawingml/2006/main">
            <a:off x="685800" y="6191250"/>
            <a:ext cx="13716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51E5D6"/>
            </a:solidFill>
            <a:prstDash val="solid"/>
          </a:ln>
        </p:spPr>
        <p:txBody>
          <a:bodyPr xmlns:a="http://schemas.openxmlformats.org/drawingml/2006/main"/>
          <a:lstStyle xmlns:a="http://schemas.openxmlformats.org/drawingml/2006/main"/>
          <a:p xmlns:a="http://schemas.openxmlformats.org/drawingml/2006/main">
            <a:pPr>
              <a:buNone/>
              <a:defRPr sz="900" b="1">
                <a:solidFill>
                  <a:srgbClr val="51E5D6"/>
                </a:solidFill>
              </a:defRPr>
            </a:pPr>
            <a:r>
              <a:rPr sz="900" b="1">
                <a:solidFill>
                  <a:srgbClr val="51E5D6"/>
                </a:solidFill>
              </a:rPr>
              <a:t>EVIDENCE-FIRST</a:t>
            </a:r>
          </a:p>
        </p:txBody>
      </p:sp>
      <p:sp>
        <p:nvSpPr>
          <p:cNvPr id="27" name="chip">
            <a:extLst xmlns:a="http://schemas.openxmlformats.org/drawingml/2006/main">
              <a:ext uri="{FF2B5EF4-FFF2-40B4-BE49-F238E27FC236}">
                <a16:creationId xmlns:a16="http://schemas.microsoft.com/office/drawing/2014/main" id="{6B7D7E19-73C3-4174-A4A8-730D41E6431F}"/>
              </a:ext>
            </a:extLst>
          </p:cNvPr>
          <p:cNvSpPr>
            <a:spLocks xmlns:a="http://schemas.openxmlformats.org/drawingml/2006/main" noGrp="1"/>
          </p:cNvSpPr>
          <p:nvPr/>
        </p:nvSpPr>
        <p:spPr>
          <a:xfrm xmlns:a="http://schemas.openxmlformats.org/drawingml/2006/main">
            <a:off x="2209800" y="6191250"/>
            <a:ext cx="1638300" cy="285750"/>
          </a:xfrm>
          <a:prstGeom xmlns:a="http://schemas.openxmlformats.org/drawingml/2006/main" prst="roundRect">
            <a:avLst>
              <a:gd name="adj" fmla="val 50000"/>
            </a:avLst>
          </a:prstGeom>
          <a:solidFill xmlns:a="http://schemas.openxmlformats.org/drawingml/2006/main">
            <a:srgbClr val="102B47"/>
          </a:solidFill>
          <a:ln xmlns:a="http://schemas.openxmlformats.org/drawingml/2006/main" w="9525">
            <a:solidFill>
              <a:srgbClr val="86E5B6"/>
            </a:solidFill>
            <a:prstDash val="solid"/>
          </a:ln>
        </p:spPr>
        <p:txBody>
          <a:bodyPr xmlns:a="http://schemas.openxmlformats.org/drawingml/2006/main"/>
          <a:lstStyle xmlns:a="http://schemas.openxmlformats.org/drawingml/2006/main"/>
          <a:p xmlns:a="http://schemas.openxmlformats.org/drawingml/2006/main">
            <a:pPr>
              <a:buNone/>
              <a:defRPr sz="900" b="1">
                <a:solidFill>
                  <a:srgbClr val="86E5B6"/>
                </a:solidFill>
              </a:defRPr>
            </a:pPr>
            <a:r>
              <a:rPr sz="900" b="1">
                <a:solidFill>
                  <a:srgbClr val="86E5B6"/>
                </a:solidFill>
              </a:rPr>
              <a:t>HUMAN-CONTROLLED</a:t>
            </a:r>
          </a:p>
        </p:txBody>
      </p:sp>
      <p:sp>
        <p:nvSpPr>
          <p:cNvPr id="28" name="">
            <a:extLst xmlns:a="http://schemas.openxmlformats.org/drawingml/2006/main">
              <a:ext uri="{FF2B5EF4-FFF2-40B4-BE49-F238E27FC236}">
                <a16:creationId xmlns:a16="http://schemas.microsoft.com/office/drawing/2014/main" id="{415CED3B-32B9-47A6-A156-CC7637852B3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244563"/>
            </a:solidFill>
            <a:prstDash val="solid"/>
          </a:ln>
        </p:spPr>
      </p:sp>
      <p:sp>
        <p:nvSpPr>
          <p:cNvPr id="29" name="footer">
            <a:extLst xmlns:a="http://schemas.openxmlformats.org/drawingml/2006/main">
              <a:ext uri="{FF2B5EF4-FFF2-40B4-BE49-F238E27FC236}">
                <a16:creationId xmlns:a16="http://schemas.microsoft.com/office/drawing/2014/main" id="{4ED29261-3F13-46BE-8D47-B9F1818DCA5B}"/>
              </a:ext>
            </a:extLst>
          </p:cNvPr>
          <p:cNvSpPr>
            <a:spLocks xmlns:a="http://schemas.openxmlformats.org/drawingml/2006/main" noGrp="1"/>
          </p:cNvSpPr>
          <p:nvPr/>
        </p:nvSpPr>
        <p:spPr>
          <a:xfrm xmlns:a="http://schemas.openxmlformats.org/drawingml/2006/main">
            <a:off x="685800" y="64865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825" b="1">
                <a:solidFill>
                  <a:srgbClr val="AABFD2"/>
                </a:solidFill>
              </a:defRPr>
            </a:pPr>
            <a:r>
              <a:rPr sz="825" b="1">
                <a:solidFill>
                  <a:srgbClr val="AABFD2"/>
                </a:solidFill>
              </a:rPr>
              <a:t>PETRAVIGIL · DECISION INTELLIGENCE FOR ENERGY RESILIENCE</a:t>
            </a:r>
          </a:p>
        </p:txBody>
      </p:sp>
    </p:spTree>
    <p:extLst>
      <p:ext uri="{BB962C8B-B14F-4D97-AF65-F5344CB8AC3E}">
        <p14:creationId xmlns:p14="http://schemas.microsoft.com/office/powerpoint/2010/main" val="1039352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2026-07-21T20:26:51.6380000Z</dcterms:created>
  <dcterms:modified xsi:type="dcterms:W3CDTF">2026-07-21T20:26:51.6380000Z</dcterms:modified>
</coreProperties>
</file>