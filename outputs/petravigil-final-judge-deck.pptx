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7ae306d5b94770" /><Relationship Type="http://schemas.openxmlformats.org/officeDocument/2006/relationships/extended-properties" Target="/docProps/app.xml" Id="R018385d9bb77440a" /><Relationship Type="http://schemas.openxmlformats.org/officeDocument/2006/relationships/officeDocument" Target="/ppt/presentation.xml" Id="R395e660e8ee8487a" /></Relationships>
</file>

<file path=ppt/presentation.xml><?xml version="1.0" encoding="utf-8"?>
<p:presentation xmlns:p="http://schemas.openxmlformats.org/presentationml/2006/main">
  <p:sldMasterIdLst>
    <p:sldMasterId xmlns:r="http://schemas.openxmlformats.org/officeDocument/2006/relationships" id="2147483648" r:id="R7304c8ac2b4c4f0b"/>
  </p:sldMasterIdLst>
  <p:notesMasterIdLst>
    <p:notesMasterId xmlns:r="http://schemas.openxmlformats.org/officeDocument/2006/relationships" r:id="Rbaf81bfa9b9c4775"/>
  </p:notesMasterIdLst>
  <p:sldIdLst>
    <p:sldId xmlns:r="http://schemas.openxmlformats.org/officeDocument/2006/relationships" id="256" r:id="R6d3dcdf174f64dec"/>
    <p:sldId xmlns:r="http://schemas.openxmlformats.org/officeDocument/2006/relationships" id="257" r:id="R798b55eb06ca4189"/>
    <p:sldId xmlns:r="http://schemas.openxmlformats.org/officeDocument/2006/relationships" id="258" r:id="Rd08cd66670f84070"/>
    <p:sldId xmlns:r="http://schemas.openxmlformats.org/officeDocument/2006/relationships" id="259" r:id="Rfb552b34aa5545c0"/>
    <p:sldId xmlns:r="http://schemas.openxmlformats.org/officeDocument/2006/relationships" id="260" r:id="R51dd53d9e236485b"/>
    <p:sldId xmlns:r="http://schemas.openxmlformats.org/officeDocument/2006/relationships" id="261" r:id="Ra46c84e82f3740df"/>
    <p:sldId xmlns:r="http://schemas.openxmlformats.org/officeDocument/2006/relationships" id="262" r:id="R1ab8a5b3c9ac4684"/>
    <p:sldId xmlns:r="http://schemas.openxmlformats.org/officeDocument/2006/relationships" id="263" r:id="R18d2c79c986246c4"/>
    <p:sldId xmlns:r="http://schemas.openxmlformats.org/officeDocument/2006/relationships" id="264" r:id="R8c038bfe78a04f28"/>
    <p:sldId xmlns:r="http://schemas.openxmlformats.org/officeDocument/2006/relationships" id="265" r:id="Rc0dc9579960546a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7c2372e4ad4c2a" /><Relationship Type="http://schemas.openxmlformats.org/officeDocument/2006/relationships/slideMaster" Target="/ppt/slideMasters/slideMaster1.xml" Id="R7304c8ac2b4c4f0b" /><Relationship Type="http://schemas.openxmlformats.org/officeDocument/2006/relationships/notesMaster" Target="/ppt/notesMasters/notesMaster1.xml" Id="Rbaf81bfa9b9c4775" /><Relationship Type="http://schemas.openxmlformats.org/officeDocument/2006/relationships/presProps" Target="/ppt/presProps.xml" Id="R619f181d05ef4d93" /><Relationship Type="http://schemas.openxmlformats.org/officeDocument/2006/relationships/tableStyles" Target="/ppt/tableStyles.xml" Id="Rfd58ecd60c184507" /><Relationship Type="http://schemas.openxmlformats.org/officeDocument/2006/relationships/slide" Target="/ppt/slides/slide1.xml" Id="R6d3dcdf174f64dec" /><Relationship Type="http://schemas.openxmlformats.org/officeDocument/2006/relationships/slide" Target="/ppt/slides/slide2.xml" Id="R798b55eb06ca4189" /><Relationship Type="http://schemas.openxmlformats.org/officeDocument/2006/relationships/slide" Target="/ppt/slides/slide3.xml" Id="Rd08cd66670f84070" /><Relationship Type="http://schemas.openxmlformats.org/officeDocument/2006/relationships/slide" Target="/ppt/slides/slide4.xml" Id="Rfb552b34aa5545c0" /><Relationship Type="http://schemas.openxmlformats.org/officeDocument/2006/relationships/slide" Target="/ppt/slides/slide5.xml" Id="R51dd53d9e236485b" /><Relationship Type="http://schemas.openxmlformats.org/officeDocument/2006/relationships/slide" Target="/ppt/slides/slide6.xml" Id="Ra46c84e82f3740df" /><Relationship Type="http://schemas.openxmlformats.org/officeDocument/2006/relationships/slide" Target="/ppt/slides/slide7.xml" Id="R1ab8a5b3c9ac4684" /><Relationship Type="http://schemas.openxmlformats.org/officeDocument/2006/relationships/slide" Target="/ppt/slides/slide8.xml" Id="R18d2c79c986246c4" /><Relationship Type="http://schemas.openxmlformats.org/officeDocument/2006/relationships/slide" Target="/ppt/slides/slide9.xml" Id="R8c038bfe78a04f28" /><Relationship Type="http://schemas.openxmlformats.org/officeDocument/2006/relationships/slide" Target="/ppt/slides/slide10.xml" Id="Rc0dc9579960546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d2835038cb4f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3a3c4567654c04" /><Relationship Type="http://schemas.openxmlformats.org/officeDocument/2006/relationships/notesMaster" Target="/ppt/notesMasters/notesMaster1.xml" Id="R277c2755cb434c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65899e1cda4239" /><Relationship Type="http://schemas.openxmlformats.org/officeDocument/2006/relationships/notesMaster" Target="/ppt/notesMasters/notesMaster1.xml" Id="R2a7f7bb49ff449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17cf9eda644e7e" /><Relationship Type="http://schemas.openxmlformats.org/officeDocument/2006/relationships/notesMaster" Target="/ppt/notesMasters/notesMaster1.xml" Id="R3a8be793457e45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3ac4e22f7b4ef7" /><Relationship Type="http://schemas.openxmlformats.org/officeDocument/2006/relationships/notesMaster" Target="/ppt/notesMasters/notesMaster1.xml" Id="Rf33ededb7ad94d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9518e2df39446e" /><Relationship Type="http://schemas.openxmlformats.org/officeDocument/2006/relationships/notesMaster" Target="/ppt/notesMasters/notesMaster1.xml" Id="Rcd3f9d942aa940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e81f9ec5c54639" /><Relationship Type="http://schemas.openxmlformats.org/officeDocument/2006/relationships/notesMaster" Target="/ppt/notesMasters/notesMaster1.xml" Id="Rd0bf1d431a384f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9fd8a6b43e42b3" /><Relationship Type="http://schemas.openxmlformats.org/officeDocument/2006/relationships/notesMaster" Target="/ppt/notesMasters/notesMaster1.xml" Id="Ree7090c55e4643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dcff87e63e4f5b" /><Relationship Type="http://schemas.openxmlformats.org/officeDocument/2006/relationships/notesMaster" Target="/ppt/notesMasters/notesMaster1.xml" Id="Rf1ab3ad691724f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9c2c309a4f46ac" /><Relationship Type="http://schemas.openxmlformats.org/officeDocument/2006/relationships/notesMaster" Target="/ppt/notesMasters/notesMaster1.xml" Id="R928bd70d15bd4f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7c401b361e4c91" /><Relationship Type="http://schemas.openxmlformats.org/officeDocument/2006/relationships/notesMaster" Target="/ppt/notesMasters/notesMaster1.xml" Id="R5dcc361e363042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PetraVigil is built for the moment a shipping signal changes the decision clock. Instead of giving a team another alert or an opaque recommendation, it creates a visible path from the signal to a constrained procurement choice. Every data state is labeled, every scenario assumption is reviewable, and the final call remains with a human. This is evidence-first energy supply resilience: not autonomous buying, but faster, safer preparation for disruption.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problem is not simply detecting a geopolitical event. It is compressing the time it takes to turn an uncertain signal into an action a procurement leader can defend. Our current simulated Hormuz fixture makes the stakes tangible: 1.2 million barrels per day of supply impact at the median, 48.2 million dollars of additional import cost per day, over a visible 21-day assumption. These are not live forecasts; they are deliberately labeled scenario outputs. The product attacks the decision bottleneck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product in one line. A user enters a source-labeled signal. Gemini structures it. The backend resolves only entities that exist in the seeded network and computes an explainable corridor score. Then the workflow stops. An analyst reviews and confirms the scenario assumptions before Monte Carlo simulation and constrained portfolio optimization run. The result is explained and finally recorded as a local human decision. Each stage is linked to the prior persisted output. There is no shortcut from alert to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innovation here is not asking an LLM to pretend it understands supply procurement. Gemini has two bounded jobs: it turns unstructured text into a validated proposal, and it explains an already selected portfolio. The deterministic system owns the things that must be correct: entity resolution, risk scoring, Monte Carlo distributions, and OR-Tools constraints. The UI exposes confidence, assumptions, and unknowns rather than hiding them. And even after a recommendation is produced, human approval is required. That is meaningful AI: useful without becoming unaccountable.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reflects what is actually present today. The analyst experience is a Next.js workbench over FastAPI, with strict Pydantic contracts. Behind it are the Gemini integration, signal mesh, NumPy scenario engine, OR-Tools optimizer, and a local SQLite repository for workflow and decision records. The supply network runs from a historical JSON projection, so the prototype can operate offline. PostgreSQL, Neo4j, and Redis are included in docker-compose as enterprise scaffolding, but we label them as not active runtime dependencies. That distinction is intentional and builds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moment we would show live. We paste the demo shipping advisory and immediately see its provenance as user-entered. The app extracts and resolves the signal, displays the corridor risk, and stops for analyst confirmation. The judge can change closure severity, duration, alternative-route capacity, elasticity, run count, and seed. After confirmation, the system runs one thousand reproducible scenarios, compares four portfolios, and explains the selected option. Only then can a user record an approval—and that record is local only. This is a complete workflow, not a static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innovations judges should remember because they solve real adoption blockers. First, provenance cannot be spoofed: pasted input cannot call itself a live feed. Second, assumptions are not hidden inside a model; they are editable and stored with the scenario request, including a reproducibility seed. Third, the optimizer does not output one magical answer; it returns four clearly differentiated postures. Finally, the approval record is linked to the recommendation actually produced by the workflow. Each innovation combines implementation discipline with a practical business consequence: people can trust and govern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case starts with an operating decision, not a software feature list. Procurement leads need to choose a feasible posture early. Risk and trading teams need to understand distributional exposure. Refinery operators need alternatives that fit their crude diet. Public-sector planners need a shared, reviewable playbook. Today’s MVP delivers a scenario-led decision workflow with explicit provenance, uncertainty, and approval. The roadmap is deliberately clear: connect live AIS, news, prices, commercial availability, maps, and graph services. We are not claiming those live integrations exist today; we are showing the credible path to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strongest results are behavioral, because this is a decision-support product. The current suite has 22 passing backend tests. It protects six linked workflow stages, a default of one thousand reproducible scenario runs, and four constrained procurement portfolios. Crucially, it also tests failure modes: no execution without a known proposal, no fabricated corridor for unrelated text, escalation to maximum resilience when simulated economics demand it, and no external execution from approval. The product remains usable when Gemini is unavailable through an explicit deterministic fallback—not a silent degradation. This is reliability by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PetraVigil deserves to win because it treats the hard part of AI decision-making seriously. It understands that a disruption is not just a prediction problem; it is a signal-to-decision bottleneck. It uses AI where AI helps—structuring uncertain input and explaining results—and uses deterministic engineering where feasibility matters. It is typed, tested, reproducible, and constrained. And it is viable because it respects human authority and states its limits. The outcome we are building toward is simple: make resilience a rehearsed decision, not a crisis improvisation.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aac549ea7f4a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851b601e7543d5" /><Relationship Type="http://schemas.openxmlformats.org/officeDocument/2006/relationships/slideLayout" Target="/ppt/slideLayouts/slideLayout1.xml" Id="R9e35b973e3da4c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35b973e3da4c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e15556373d495a" /><Relationship Type="http://schemas.openxmlformats.org/officeDocument/2006/relationships/notesSlide" Target="/ppt/notesSlides/notesSlide1.xml" Id="R2fe53564649245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bd97fd1edb406c" /><Relationship Type="http://schemas.openxmlformats.org/officeDocument/2006/relationships/notesSlide" Target="/ppt/notesSlides/notesSlide2.xml" Id="Rc0488afc317a43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a53036e7274cf9" /><Relationship Type="http://schemas.openxmlformats.org/officeDocument/2006/relationships/notesSlide" Target="/ppt/notesSlides/notesSlide3.xml" Id="R188cd5c2420949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e9dd11c2de4f54" /><Relationship Type="http://schemas.openxmlformats.org/officeDocument/2006/relationships/notesSlide" Target="/ppt/notesSlides/notesSlide4.xml" Id="R68ac8e6ca4d449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fa1d95a69545bc" /><Relationship Type="http://schemas.openxmlformats.org/officeDocument/2006/relationships/notesSlide" Target="/ppt/notesSlides/notesSlide5.xml" Id="R55c526c7ce024a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9c0e33a4b747dd" /><Relationship Type="http://schemas.openxmlformats.org/officeDocument/2006/relationships/notesSlide" Target="/ppt/notesSlides/notesSlide6.xml" Id="R311dc495e5af45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1d9f06a9684d42" /><Relationship Type="http://schemas.openxmlformats.org/officeDocument/2006/relationships/notesSlide" Target="/ppt/notesSlides/notesSlide7.xml" Id="R4163ae4ff8124e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512b1b820a4315" /><Relationship Type="http://schemas.openxmlformats.org/officeDocument/2006/relationships/notesSlide" Target="/ppt/notesSlides/notesSlide8.xml" Id="R3a552d03035741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794bdc3f1c54208" /><Relationship Type="http://schemas.openxmlformats.org/officeDocument/2006/relationships/notesSlide" Target="/ppt/notesSlides/notesSlide9.xml" Id="R799d6bf8774740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c705774a514552" /><Relationship Type="http://schemas.openxmlformats.org/officeDocument/2006/relationships/notesSlide" Target="/ppt/notesSlides/notesSlide10.xml" Id="Rdbe6b332ddc34c88" /></Relationships>
</file>

<file path=ppt/slides/slide1.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91108DD-8673-408C-9F0D-E192F915D2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D"/>
          </a:solidFill>
          <a:ln xmlns:a="http://schemas.openxmlformats.org/drawingml/2006/main" w="0">
            <a:solidFill>
              <a:srgbClr val="090A0D"/>
            </a:solidFill>
            <a:prstDash val="solid"/>
          </a:ln>
        </p:spPr>
      </p:sp>
      <p:sp>
        <p:nvSpPr>
          <p:cNvPr id="2" name="">
            <a:extLst xmlns:a="http://schemas.openxmlformats.org/drawingml/2006/main">
              <a:ext uri="{FF2B5EF4-FFF2-40B4-BE49-F238E27FC236}">
                <a16:creationId xmlns:a16="http://schemas.microsoft.com/office/drawing/2014/main" id="{A8D1F28F-E02E-4B38-A26C-37A29EF9F82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3" name="">
            <a:extLst xmlns:a="http://schemas.openxmlformats.org/drawingml/2006/main">
              <a:ext uri="{FF2B5EF4-FFF2-40B4-BE49-F238E27FC236}">
                <a16:creationId xmlns:a16="http://schemas.microsoft.com/office/drawing/2014/main" id="{7D2C81F1-190D-407D-856D-F0D7FC201738}"/>
              </a:ext>
            </a:extLst>
          </p:cNvPr>
          <p:cNvSpPr>
            <a:spLocks xmlns:a="http://schemas.openxmlformats.org/drawingml/2006/main" noGrp="1"/>
          </p:cNvSpPr>
          <p:nvPr/>
        </p:nvSpPr>
        <p:spPr>
          <a:xfrm xmlns:a="http://schemas.openxmlformats.org/drawingml/2006/main">
            <a:off x="685800" y="5905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78AAFF"/>
                </a:solidFill>
              </a:defRPr>
            </a:pPr>
            <a:r>
              <a:rPr sz="1125" b="1">
                <a:solidFill>
                  <a:srgbClr val="78AAFF"/>
                </a:solidFill>
              </a:rPr>
              <a:t>PETRAVIGIL</a:t>
            </a:r>
          </a:p>
        </p:txBody>
      </p:sp>
      <p:sp>
        <p:nvSpPr>
          <p:cNvPr id="4" name="">
            <a:extLst xmlns:a="http://schemas.openxmlformats.org/drawingml/2006/main">
              <a:ext uri="{FF2B5EF4-FFF2-40B4-BE49-F238E27FC236}">
                <a16:creationId xmlns:a16="http://schemas.microsoft.com/office/drawing/2014/main" id="{11FBB60B-048C-4204-A538-67F1A51D2117}"/>
              </a:ext>
            </a:extLst>
          </p:cNvPr>
          <p:cNvSpPr>
            <a:spLocks xmlns:a="http://schemas.openxmlformats.org/drawingml/2006/main" noGrp="1"/>
          </p:cNvSpPr>
          <p:nvPr/>
        </p:nvSpPr>
        <p:spPr>
          <a:xfrm xmlns:a="http://schemas.openxmlformats.org/drawingml/2006/main">
            <a:off x="685800" y="981075"/>
            <a:ext cx="1371600" cy="247650"/>
          </a:xfrm>
          <a:prstGeom xmlns:a="http://schemas.openxmlformats.org/drawingml/2006/main" prst="roundRect">
            <a:avLst>
              <a:gd name="adj" fmla="val 19231"/>
            </a:avLst>
          </a:prstGeom>
          <a:solidFill xmlns:a="http://schemas.openxmlformats.org/drawingml/2006/main">
            <a:srgbClr val="101B30"/>
          </a:solidFill>
          <a:ln xmlns:a="http://schemas.openxmlformats.org/drawingml/2006/main" w="9525">
            <a:solidFill>
              <a:srgbClr val="39404D"/>
            </a:solidFill>
            <a:prstDash val="solid"/>
          </a:ln>
        </p:spPr>
      </p:sp>
      <p:sp>
        <p:nvSpPr>
          <p:cNvPr id="5" name="">
            <a:extLst xmlns:a="http://schemas.openxmlformats.org/drawingml/2006/main">
              <a:ext uri="{FF2B5EF4-FFF2-40B4-BE49-F238E27FC236}">
                <a16:creationId xmlns:a16="http://schemas.microsoft.com/office/drawing/2014/main" id="{B76E80B9-916C-442A-BB0E-74C950805FE5}"/>
              </a:ext>
            </a:extLst>
          </p:cNvPr>
          <p:cNvSpPr>
            <a:spLocks xmlns:a="http://schemas.openxmlformats.org/drawingml/2006/main" noGrp="1"/>
          </p:cNvSpPr>
          <p:nvPr/>
        </p:nvSpPr>
        <p:spPr>
          <a:xfrm xmlns:a="http://schemas.openxmlformats.org/drawingml/2006/main">
            <a:off x="762000" y="100965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78AAFF"/>
                </a:solidFill>
              </a:defRPr>
            </a:pPr>
            <a:r>
              <a:rPr sz="825" b="1">
                <a:solidFill>
                  <a:srgbClr val="78AAFF"/>
                </a:solidFill>
              </a:rPr>
              <a:t>HACKATHON FINAL</a:t>
            </a:r>
          </a:p>
        </p:txBody>
      </p:sp>
      <p:sp>
        <p:nvSpPr>
          <p:cNvPr id="6" name="">
            <a:extLst xmlns:a="http://schemas.openxmlformats.org/drawingml/2006/main">
              <a:ext uri="{FF2B5EF4-FFF2-40B4-BE49-F238E27FC236}">
                <a16:creationId xmlns:a16="http://schemas.microsoft.com/office/drawing/2014/main" id="{5A08F870-E70D-4B5A-8EAE-701C3FCE6223}"/>
              </a:ext>
            </a:extLst>
          </p:cNvPr>
          <p:cNvSpPr>
            <a:spLocks xmlns:a="http://schemas.openxmlformats.org/drawingml/2006/main" noGrp="1"/>
          </p:cNvSpPr>
          <p:nvPr/>
        </p:nvSpPr>
        <p:spPr>
          <a:xfrm xmlns:a="http://schemas.openxmlformats.org/drawingml/2006/main">
            <a:off x="685800" y="1457325"/>
            <a:ext cx="61912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F7F9FC"/>
                </a:solidFill>
              </a:defRPr>
            </a:pPr>
            <a:r>
              <a:rPr sz="4050" b="1">
                <a:solidFill>
                  <a:srgbClr val="F7F9FC"/>
                </a:solidFill>
              </a:rPr>
              <a:t>When a maritime signal</a:t>
            </a:r>
          </a:p>
          <a:p xmlns:a="http://schemas.openxmlformats.org/drawingml/2006/main">
            <a:pPr algn="l">
              <a:defRPr sz="4050" b="1">
                <a:solidFill>
                  <a:srgbClr val="F7F9FC"/>
                </a:solidFill>
              </a:defRPr>
            </a:pPr>
            <a:r>
              <a:rPr sz="4050" b="1">
                <a:solidFill>
                  <a:srgbClr val="F7F9FC"/>
                </a:solidFill>
              </a:rPr>
              <a:t>changes, procurement</a:t>
            </a:r>
          </a:p>
          <a:p xmlns:a="http://schemas.openxmlformats.org/drawingml/2006/main">
            <a:pPr algn="l">
              <a:defRPr sz="4050" b="1">
                <a:solidFill>
                  <a:srgbClr val="F7F9FC"/>
                </a:solidFill>
              </a:defRPr>
            </a:pPr>
            <a:r>
              <a:rPr sz="4050" b="1">
                <a:solidFill>
                  <a:srgbClr val="F7F9FC"/>
                </a:solidFill>
              </a:rPr>
              <a:t>should not improvise.</a:t>
            </a:r>
          </a:p>
        </p:txBody>
      </p:sp>
      <p:sp>
        <p:nvSpPr>
          <p:cNvPr id="7" name="">
            <a:extLst xmlns:a="http://schemas.openxmlformats.org/drawingml/2006/main">
              <a:ext uri="{FF2B5EF4-FFF2-40B4-BE49-F238E27FC236}">
                <a16:creationId xmlns:a16="http://schemas.microsoft.com/office/drawing/2014/main" id="{B4E64ED1-DFBF-46D0-86AA-FFE006F750CD}"/>
              </a:ext>
            </a:extLst>
          </p:cNvPr>
          <p:cNvSpPr>
            <a:spLocks xmlns:a="http://schemas.openxmlformats.org/drawingml/2006/main" noGrp="1"/>
          </p:cNvSpPr>
          <p:nvPr/>
        </p:nvSpPr>
        <p:spPr>
          <a:xfrm xmlns:a="http://schemas.openxmlformats.org/drawingml/2006/main">
            <a:off x="723900" y="3752850"/>
            <a:ext cx="556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98A1AF"/>
                </a:solidFill>
              </a:defRPr>
            </a:pPr>
            <a:r>
              <a:rPr sz="1500" b="0">
                <a:solidFill>
                  <a:srgbClr val="98A1AF"/>
                </a:solidFill>
              </a:rPr>
              <a:t>Evidence-first energy supply resilience for India’s crude-oil supply chain.</a:t>
            </a:r>
          </a:p>
        </p:txBody>
      </p:sp>
      <p:sp>
        <p:nvSpPr>
          <p:cNvPr id="8" name="">
            <a:extLst xmlns:a="http://schemas.openxmlformats.org/drawingml/2006/main">
              <a:ext uri="{FF2B5EF4-FFF2-40B4-BE49-F238E27FC236}">
                <a16:creationId xmlns:a16="http://schemas.microsoft.com/office/drawing/2014/main" id="{CE011D2D-8A08-43F2-A531-69CABF45F3F7}"/>
              </a:ext>
            </a:extLst>
          </p:cNvPr>
          <p:cNvSpPr>
            <a:spLocks xmlns:a="http://schemas.openxmlformats.org/drawingml/2006/main" noGrp="1"/>
          </p:cNvSpPr>
          <p:nvPr/>
        </p:nvSpPr>
        <p:spPr>
          <a:xfrm xmlns:a="http://schemas.openxmlformats.org/drawingml/2006/main">
            <a:off x="723900" y="4524375"/>
            <a:ext cx="502920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9" name="">
            <a:extLst xmlns:a="http://schemas.openxmlformats.org/drawingml/2006/main">
              <a:ext uri="{FF2B5EF4-FFF2-40B4-BE49-F238E27FC236}">
                <a16:creationId xmlns:a16="http://schemas.microsoft.com/office/drawing/2014/main" id="{33CC525A-3025-408F-B28E-0A18342FB3A3}"/>
              </a:ext>
            </a:extLst>
          </p:cNvPr>
          <p:cNvSpPr>
            <a:spLocks xmlns:a="http://schemas.openxmlformats.org/drawingml/2006/main" noGrp="1"/>
          </p:cNvSpPr>
          <p:nvPr/>
        </p:nvSpPr>
        <p:spPr>
          <a:xfrm xmlns:a="http://schemas.openxmlformats.org/drawingml/2006/main">
            <a:off x="723900" y="4733925"/>
            <a:ext cx="518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F7F9FC"/>
                </a:solidFill>
              </a:defRPr>
            </a:pPr>
            <a:r>
              <a:rPr sz="1275" b="0">
                <a:solidFill>
                  <a:srgbClr val="F7F9FC"/>
                </a:solidFill>
              </a:rPr>
              <a:t>Mission: turn uncertain disruption signals into an auditable, human-approved decision path.</a:t>
            </a:r>
          </a:p>
        </p:txBody>
      </p:sp>
      <p:sp>
        <p:nvSpPr>
          <p:cNvPr id="10" name="">
            <a:extLst xmlns:a="http://schemas.openxmlformats.org/drawingml/2006/main">
              <a:ext uri="{FF2B5EF4-FFF2-40B4-BE49-F238E27FC236}">
                <a16:creationId xmlns:a16="http://schemas.microsoft.com/office/drawing/2014/main" id="{DAAD11FF-A98A-4501-8258-A21015A64E25}"/>
              </a:ext>
            </a:extLst>
          </p:cNvPr>
          <p:cNvSpPr>
            <a:spLocks xmlns:a="http://schemas.openxmlformats.org/drawingml/2006/main" noGrp="1"/>
          </p:cNvSpPr>
          <p:nvPr/>
        </p:nvSpPr>
        <p:spPr>
          <a:xfrm xmlns:a="http://schemas.openxmlformats.org/drawingml/2006/main">
            <a:off x="685800" y="6172200"/>
            <a:ext cx="561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SIMULATED SCENARIOS · HISTORICAL SEED NETWORK · LOCAL APPROVALS</a:t>
            </a:r>
          </a:p>
        </p:txBody>
      </p:sp>
      <p:sp>
        <p:nvSpPr>
          <p:cNvPr id="11" name="">
            <a:extLst xmlns:a="http://schemas.openxmlformats.org/drawingml/2006/main">
              <a:ext uri="{FF2B5EF4-FFF2-40B4-BE49-F238E27FC236}">
                <a16:creationId xmlns:a16="http://schemas.microsoft.com/office/drawing/2014/main" id="{90148B6C-9353-43D9-9ADE-BFA60C82ABC5}"/>
              </a:ext>
            </a:extLst>
          </p:cNvPr>
          <p:cNvSpPr>
            <a:spLocks xmlns:a="http://schemas.openxmlformats.org/drawingml/2006/main" noGrp="1"/>
          </p:cNvSpPr>
          <p:nvPr/>
        </p:nvSpPr>
        <p:spPr>
          <a:xfrm xmlns:a="http://schemas.openxmlformats.org/drawingml/2006/main">
            <a:off x="7410450" y="742950"/>
            <a:ext cx="4667250" cy="4667250"/>
          </a:xfrm>
          <a:prstGeom xmlns:a="http://schemas.openxmlformats.org/drawingml/2006/main" prst="ellipse">
            <a:avLst/>
          </a:prstGeom>
          <a:solidFill xmlns:a="http://schemas.openxmlformats.org/drawingml/2006/main">
            <a:srgbClr val="0D1729"/>
          </a:solidFill>
          <a:ln xmlns:a="http://schemas.openxmlformats.org/drawingml/2006/main" w="9525">
            <a:solidFill>
              <a:srgbClr val="1D365B"/>
            </a:solidFill>
            <a:prstDash val="solid"/>
          </a:ln>
        </p:spPr>
      </p:sp>
      <p:sp>
        <p:nvSpPr>
          <p:cNvPr id="12" name="">
            <a:extLst xmlns:a="http://schemas.openxmlformats.org/drawingml/2006/main">
              <a:ext uri="{FF2B5EF4-FFF2-40B4-BE49-F238E27FC236}">
                <a16:creationId xmlns:a16="http://schemas.microsoft.com/office/drawing/2014/main" id="{C65F43A9-CE5C-4AC3-A10D-703A1E233A70}"/>
              </a:ext>
            </a:extLst>
          </p:cNvPr>
          <p:cNvSpPr>
            <a:spLocks xmlns:a="http://schemas.openxmlformats.org/drawingml/2006/main" noGrp="1"/>
          </p:cNvSpPr>
          <p:nvPr/>
        </p:nvSpPr>
        <p:spPr>
          <a:xfrm xmlns:a="http://schemas.openxmlformats.org/drawingml/2006/main">
            <a:off x="7972425" y="1314450"/>
            <a:ext cx="3810000" cy="3810000"/>
          </a:xfrm>
          <a:prstGeom xmlns:a="http://schemas.openxmlformats.org/drawingml/2006/main" prst="ellipse">
            <a:avLst/>
          </a:prstGeom>
          <a:noFill xmlns:a="http://schemas.openxmlformats.org/drawingml/2006/main"/>
          <a:ln xmlns:a="http://schemas.openxmlformats.org/drawingml/2006/main" w="9525">
            <a:solidFill>
              <a:srgbClr val="24436B"/>
            </a:solidFill>
            <a:prstDash val="solid"/>
          </a:ln>
        </p:spPr>
      </p:sp>
      <p:sp>
        <p:nvSpPr>
          <p:cNvPr id="13" name="">
            <a:extLst xmlns:a="http://schemas.openxmlformats.org/drawingml/2006/main">
              <a:ext uri="{FF2B5EF4-FFF2-40B4-BE49-F238E27FC236}">
                <a16:creationId xmlns:a16="http://schemas.microsoft.com/office/drawing/2014/main" id="{2874E13E-A099-4F57-BEFD-FAEA7F903EDE}"/>
              </a:ext>
            </a:extLst>
          </p:cNvPr>
          <p:cNvSpPr>
            <a:spLocks xmlns:a="http://schemas.openxmlformats.org/drawingml/2006/main" noGrp="1"/>
          </p:cNvSpPr>
          <p:nvPr/>
        </p:nvSpPr>
        <p:spPr>
          <a:xfrm xmlns:a="http://schemas.openxmlformats.org/drawingml/2006/main">
            <a:off x="8705850" y="2047875"/>
            <a:ext cx="2362200" cy="2362200"/>
          </a:xfrm>
          <a:prstGeom xmlns:a="http://schemas.openxmlformats.org/drawingml/2006/main" prst="ellipse">
            <a:avLst/>
          </a:prstGeom>
          <a:noFill xmlns:a="http://schemas.openxmlformats.org/drawingml/2006/main"/>
          <a:ln xmlns:a="http://schemas.openxmlformats.org/drawingml/2006/main" w="9525">
            <a:solidFill>
              <a:srgbClr val="2E5487"/>
            </a:solidFill>
            <a:prstDash val="solid"/>
          </a:ln>
        </p:spPr>
      </p:sp>
      <p:sp>
        <p:nvSpPr>
          <p:cNvPr id="14" name="">
            <a:extLst xmlns:a="http://schemas.openxmlformats.org/drawingml/2006/main">
              <a:ext uri="{FF2B5EF4-FFF2-40B4-BE49-F238E27FC236}">
                <a16:creationId xmlns:a16="http://schemas.microsoft.com/office/drawing/2014/main" id="{5CE1BD54-0016-44A5-B9BE-1DEFC2C33ECF}"/>
              </a:ext>
            </a:extLst>
          </p:cNvPr>
          <p:cNvSpPr>
            <a:spLocks xmlns:a="http://schemas.openxmlformats.org/drawingml/2006/main" noGrp="1"/>
          </p:cNvSpPr>
          <p:nvPr/>
        </p:nvSpPr>
        <p:spPr>
          <a:xfrm xmlns:a="http://schemas.openxmlformats.org/drawingml/2006/main">
            <a:off x="7429500" y="2133600"/>
            <a:ext cx="3829050" cy="1866900"/>
          </a:xfrm>
          <a:prstGeom xmlns:a="http://schemas.openxmlformats.org/drawingml/2006/main" prst="line">
            <a:avLst/>
          </a:prstGeom>
          <a:noFill xmlns:a="http://schemas.openxmlformats.org/drawingml/2006/main"/>
          <a:ln xmlns:a="http://schemas.openxmlformats.org/drawingml/2006/main" w="19050">
            <a:solidFill>
              <a:srgbClr val="4D8DFF"/>
            </a:solidFill>
            <a:prstDash val="solid"/>
          </a:ln>
        </p:spPr>
      </p:sp>
      <p:sp>
        <p:nvSpPr>
          <p:cNvPr id="15" name="">
            <a:extLst xmlns:a="http://schemas.openxmlformats.org/drawingml/2006/main">
              <a:ext uri="{FF2B5EF4-FFF2-40B4-BE49-F238E27FC236}">
                <a16:creationId xmlns:a16="http://schemas.microsoft.com/office/drawing/2014/main" id="{3B6E336A-57CD-4779-8015-3C79B2BF7D2F}"/>
              </a:ext>
            </a:extLst>
          </p:cNvPr>
          <p:cNvSpPr>
            <a:spLocks xmlns:a="http://schemas.openxmlformats.org/drawingml/2006/main" noGrp="1"/>
          </p:cNvSpPr>
          <p:nvPr/>
        </p:nvSpPr>
        <p:spPr>
          <a:xfrm xmlns:a="http://schemas.openxmlformats.org/drawingml/2006/main">
            <a:off x="8877300" y="2190750"/>
            <a:ext cx="1809750" cy="2400300"/>
          </a:xfrm>
          <a:prstGeom xmlns:a="http://schemas.openxmlformats.org/drawingml/2006/main" prst="line">
            <a:avLst/>
          </a:prstGeom>
          <a:noFill xmlns:a="http://schemas.openxmlformats.org/drawingml/2006/main"/>
          <a:ln xmlns:a="http://schemas.openxmlformats.org/drawingml/2006/main" w="19050">
            <a:solidFill>
              <a:srgbClr val="54D2C5"/>
            </a:solidFill>
            <a:prstDash val="solid"/>
          </a:ln>
        </p:spPr>
      </p:sp>
      <p:sp>
        <p:nvSpPr>
          <p:cNvPr id="16" name="">
            <a:extLst xmlns:a="http://schemas.openxmlformats.org/drawingml/2006/main">
              <a:ext uri="{FF2B5EF4-FFF2-40B4-BE49-F238E27FC236}">
                <a16:creationId xmlns:a16="http://schemas.microsoft.com/office/drawing/2014/main" id="{CF4F1190-2536-4098-BEBE-9DD9DDCD2404}"/>
              </a:ext>
            </a:extLst>
          </p:cNvPr>
          <p:cNvSpPr>
            <a:spLocks xmlns:a="http://schemas.openxmlformats.org/drawingml/2006/main" noGrp="1"/>
          </p:cNvSpPr>
          <p:nvPr/>
        </p:nvSpPr>
        <p:spPr>
          <a:xfrm xmlns:a="http://schemas.openxmlformats.org/drawingml/2006/main">
            <a:off x="7800975" y="2971800"/>
            <a:ext cx="2847975" cy="428625"/>
          </a:xfrm>
          <a:prstGeom xmlns:a="http://schemas.openxmlformats.org/drawingml/2006/main" prst="line">
            <a:avLst/>
          </a:prstGeom>
          <a:noFill xmlns:a="http://schemas.openxmlformats.org/drawingml/2006/main"/>
          <a:ln xmlns:a="http://schemas.openxmlformats.org/drawingml/2006/main" w="19050">
            <a:solidFill>
              <a:srgbClr val="E2A447"/>
            </a:solidFill>
            <a:prstDash val="solid"/>
          </a:ln>
        </p:spPr>
      </p:sp>
      <p:sp>
        <p:nvSpPr>
          <p:cNvPr id="17" name="">
            <a:extLst xmlns:a="http://schemas.openxmlformats.org/drawingml/2006/main">
              <a:ext uri="{FF2B5EF4-FFF2-40B4-BE49-F238E27FC236}">
                <a16:creationId xmlns:a16="http://schemas.microsoft.com/office/drawing/2014/main" id="{5C4BD93D-FA8B-4E22-BDD7-BC6756AFED2A}"/>
              </a:ext>
            </a:extLst>
          </p:cNvPr>
          <p:cNvSpPr>
            <a:spLocks xmlns:a="http://schemas.openxmlformats.org/drawingml/2006/main" noGrp="1"/>
          </p:cNvSpPr>
          <p:nvPr/>
        </p:nvSpPr>
        <p:spPr>
          <a:xfrm xmlns:a="http://schemas.openxmlformats.org/drawingml/2006/main">
            <a:off x="7629525" y="3886200"/>
            <a:ext cx="133350" cy="133350"/>
          </a:xfrm>
          <a:prstGeom xmlns:a="http://schemas.openxmlformats.org/drawingml/2006/main" prst="ellipse">
            <a:avLst/>
          </a:prstGeom>
          <a:solidFill xmlns:a="http://schemas.openxmlformats.org/drawingml/2006/main">
            <a:srgbClr val="E2A447"/>
          </a:solidFill>
          <a:ln xmlns:a="http://schemas.openxmlformats.org/drawingml/2006/main" w="0">
            <a:solidFill>
              <a:srgbClr val="E2A447"/>
            </a:solidFill>
            <a:prstDash val="solid"/>
          </a:ln>
        </p:spPr>
      </p:sp>
      <p:sp>
        <p:nvSpPr>
          <p:cNvPr id="18" name="">
            <a:extLst xmlns:a="http://schemas.openxmlformats.org/drawingml/2006/main">
              <a:ext uri="{FF2B5EF4-FFF2-40B4-BE49-F238E27FC236}">
                <a16:creationId xmlns:a16="http://schemas.microsoft.com/office/drawing/2014/main" id="{A8015426-3AC6-4CF5-B1F4-B241E0AB6296}"/>
              </a:ext>
            </a:extLst>
          </p:cNvPr>
          <p:cNvSpPr>
            <a:spLocks xmlns:a="http://schemas.openxmlformats.org/drawingml/2006/main" noGrp="1"/>
          </p:cNvSpPr>
          <p:nvPr/>
        </p:nvSpPr>
        <p:spPr>
          <a:xfrm xmlns:a="http://schemas.openxmlformats.org/drawingml/2006/main">
            <a:off x="8953500" y="4495800"/>
            <a:ext cx="114300" cy="114300"/>
          </a:xfrm>
          <a:prstGeom xmlns:a="http://schemas.openxmlformats.org/drawingml/2006/main" prst="ellipse">
            <a:avLst/>
          </a:prstGeom>
          <a:solidFill xmlns:a="http://schemas.openxmlformats.org/drawingml/2006/main">
            <a:srgbClr val="54D2C5"/>
          </a:solidFill>
          <a:ln xmlns:a="http://schemas.openxmlformats.org/drawingml/2006/main" w="0">
            <a:solidFill>
              <a:srgbClr val="54D2C5"/>
            </a:solidFill>
            <a:prstDash val="solid"/>
          </a:ln>
        </p:spPr>
      </p:sp>
      <p:sp>
        <p:nvSpPr>
          <p:cNvPr id="19" name="">
            <a:extLst xmlns:a="http://schemas.openxmlformats.org/drawingml/2006/main">
              <a:ext uri="{FF2B5EF4-FFF2-40B4-BE49-F238E27FC236}">
                <a16:creationId xmlns:a16="http://schemas.microsoft.com/office/drawing/2014/main" id="{E39D4884-CF8A-4628-BBB9-A491147439FF}"/>
              </a:ext>
            </a:extLst>
          </p:cNvPr>
          <p:cNvSpPr>
            <a:spLocks xmlns:a="http://schemas.openxmlformats.org/drawingml/2006/main" noGrp="1"/>
          </p:cNvSpPr>
          <p:nvPr/>
        </p:nvSpPr>
        <p:spPr>
          <a:xfrm xmlns:a="http://schemas.openxmlformats.org/drawingml/2006/main">
            <a:off x="10582275" y="2190750"/>
            <a:ext cx="152400" cy="152400"/>
          </a:xfrm>
          <a:prstGeom xmlns:a="http://schemas.openxmlformats.org/drawingml/2006/main" prst="ellipse">
            <a:avLst/>
          </a:prstGeom>
          <a:solidFill xmlns:a="http://schemas.openxmlformats.org/drawingml/2006/main">
            <a:srgbClr val="78AAFF"/>
          </a:solidFill>
          <a:ln xmlns:a="http://schemas.openxmlformats.org/drawingml/2006/main" w="0">
            <a:solidFill>
              <a:srgbClr val="78AAFF"/>
            </a:solidFill>
            <a:prstDash val="solid"/>
          </a:ln>
        </p:spPr>
      </p:sp>
      <p:sp>
        <p:nvSpPr>
          <p:cNvPr id="20" name="">
            <a:extLst xmlns:a="http://schemas.openxmlformats.org/drawingml/2006/main">
              <a:ext uri="{FF2B5EF4-FFF2-40B4-BE49-F238E27FC236}">
                <a16:creationId xmlns:a16="http://schemas.microsoft.com/office/drawing/2014/main" id="{56E46751-8CB5-4B31-B50F-4B618A803B20}"/>
              </a:ext>
            </a:extLst>
          </p:cNvPr>
          <p:cNvSpPr>
            <a:spLocks xmlns:a="http://schemas.openxmlformats.org/drawingml/2006/main" noGrp="1"/>
          </p:cNvSpPr>
          <p:nvPr/>
        </p:nvSpPr>
        <p:spPr>
          <a:xfrm xmlns:a="http://schemas.openxmlformats.org/drawingml/2006/main">
            <a:off x="10287000" y="3429000"/>
            <a:ext cx="104775" cy="104775"/>
          </a:xfrm>
          <a:prstGeom xmlns:a="http://schemas.openxmlformats.org/drawingml/2006/main" prst="ellipse">
            <a:avLst/>
          </a:prstGeom>
          <a:solidFill xmlns:a="http://schemas.openxmlformats.org/drawingml/2006/main">
            <a:srgbClr val="4D8DFF"/>
          </a:solidFill>
          <a:ln xmlns:a="http://schemas.openxmlformats.org/drawingml/2006/main" w="0">
            <a:solidFill>
              <a:srgbClr val="4D8DFF"/>
            </a:solidFill>
            <a:prstDash val="solid"/>
          </a:ln>
        </p:spPr>
      </p:sp>
      <p:sp>
        <p:nvSpPr>
          <p:cNvPr id="21" name="">
            <a:extLst xmlns:a="http://schemas.openxmlformats.org/drawingml/2006/main">
              <a:ext uri="{FF2B5EF4-FFF2-40B4-BE49-F238E27FC236}">
                <a16:creationId xmlns:a16="http://schemas.microsoft.com/office/drawing/2014/main" id="{0C55F145-35B9-4FD1-98A6-FC515B0A6F3B}"/>
              </a:ext>
            </a:extLst>
          </p:cNvPr>
          <p:cNvSpPr>
            <a:spLocks xmlns:a="http://schemas.openxmlformats.org/drawingml/2006/main" noGrp="1"/>
          </p:cNvSpPr>
          <p:nvPr/>
        </p:nvSpPr>
        <p:spPr>
          <a:xfrm xmlns:a="http://schemas.openxmlformats.org/drawingml/2006/main">
            <a:off x="8058150" y="4972050"/>
            <a:ext cx="2495550" cy="495300"/>
          </a:xfrm>
          <a:prstGeom xmlns:a="http://schemas.openxmlformats.org/drawingml/2006/main" prst="roundRect">
            <a:avLst>
              <a:gd name="adj" fmla="val 15385"/>
            </a:avLst>
          </a:prstGeom>
          <a:solidFill xmlns:a="http://schemas.openxmlformats.org/drawingml/2006/main">
            <a:srgbClr val="101217"/>
          </a:solidFill>
          <a:ln xmlns:a="http://schemas.openxmlformats.org/drawingml/2006/main" w="9525">
            <a:solidFill>
              <a:srgbClr val="39404D"/>
            </a:solidFill>
            <a:prstDash val="solid"/>
          </a:ln>
        </p:spPr>
      </p:sp>
      <p:sp>
        <p:nvSpPr>
          <p:cNvPr id="22" name="">
            <a:extLst xmlns:a="http://schemas.openxmlformats.org/drawingml/2006/main">
              <a:ext uri="{FF2B5EF4-FFF2-40B4-BE49-F238E27FC236}">
                <a16:creationId xmlns:a16="http://schemas.microsoft.com/office/drawing/2014/main" id="{DABF401D-F1D6-4C72-B585-F3AA9FED24F4}"/>
              </a:ext>
            </a:extLst>
          </p:cNvPr>
          <p:cNvSpPr>
            <a:spLocks xmlns:a="http://schemas.openxmlformats.org/drawingml/2006/main" noGrp="1"/>
          </p:cNvSpPr>
          <p:nvPr/>
        </p:nvSpPr>
        <p:spPr>
          <a:xfrm xmlns:a="http://schemas.openxmlformats.org/drawingml/2006/main">
            <a:off x="8210550" y="50863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78AAFF"/>
                </a:solidFill>
              </a:defRPr>
            </a:pPr>
            <a:r>
              <a:rPr sz="975" b="1">
                <a:solidFill>
                  <a:srgbClr val="78AAFF"/>
                </a:solidFill>
              </a:rPr>
              <a:t>SIGNAL  →  DECISION</a:t>
            </a:r>
          </a:p>
        </p:txBody>
      </p:sp>
    </p:spTree>
    <p:extLst>
      <p:ext uri="{BB962C8B-B14F-4D97-AF65-F5344CB8AC3E}">
        <p14:creationId xmlns:p14="http://schemas.microsoft.com/office/powerpoint/2010/main" val="1033604037"/>
      </p:ext>
    </p:extLst>
  </p:cSld>
</p:sld>
</file>

<file path=ppt/slides/slide2.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0809A8C-1DE8-4EBE-B5CF-7D99FDB43AC8}"/>
              </a:ext>
            </a:extLst>
          </p:cNvPr>
          <p:cNvSpPr>
            <a:spLocks xmlns:a="http://schemas.openxmlformats.org/drawingml/2006/main" noGrp="1"/>
          </p:cNvSpPr>
          <p:nvPr/>
        </p:nvSpPr>
        <p:spPr>
          <a:xfrm xmlns:a="http://schemas.openxmlformats.org/drawingml/2006/main">
            <a:off x="685800" y="3714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PETRAVIGIL</a:t>
            </a:r>
          </a:p>
        </p:txBody>
      </p:sp>
      <p:sp>
        <p:nvSpPr>
          <p:cNvPr id="2" name="">
            <a:extLst xmlns:a="http://schemas.openxmlformats.org/drawingml/2006/main">
              <a:ext uri="{FF2B5EF4-FFF2-40B4-BE49-F238E27FC236}">
                <a16:creationId xmlns:a16="http://schemas.microsoft.com/office/drawing/2014/main" id="{623CCE71-E635-4B22-9668-A01D472A446A}"/>
              </a:ext>
            </a:extLst>
          </p:cNvPr>
          <p:cNvSpPr>
            <a:spLocks xmlns:a="http://schemas.openxmlformats.org/drawingml/2006/main" noGrp="1"/>
          </p:cNvSpPr>
          <p:nvPr/>
        </p:nvSpPr>
        <p:spPr>
          <a:xfrm xmlns:a="http://schemas.openxmlformats.org/drawingml/2006/main">
            <a:off x="685800" y="6286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98A1AF"/>
                </a:solidFill>
              </a:defRPr>
            </a:pPr>
            <a:r>
              <a:rPr sz="900" b="1">
                <a:solidFill>
                  <a:srgbClr val="98A1AF"/>
                </a:solidFill>
              </a:rPr>
              <a:t>THE PROBLEM</a:t>
            </a:r>
          </a:p>
        </p:txBody>
      </p:sp>
      <p:sp>
        <p:nvSpPr>
          <p:cNvPr id="3" name="">
            <a:extLst xmlns:a="http://schemas.openxmlformats.org/drawingml/2006/main">
              <a:ext uri="{FF2B5EF4-FFF2-40B4-BE49-F238E27FC236}">
                <a16:creationId xmlns:a16="http://schemas.microsoft.com/office/drawing/2014/main" id="{CD601B2C-5195-4A2A-99B5-BB1314050CA4}"/>
              </a:ext>
            </a:extLst>
          </p:cNvPr>
          <p:cNvSpPr>
            <a:spLocks xmlns:a="http://schemas.openxmlformats.org/drawingml/2006/main" noGrp="1"/>
          </p:cNvSpPr>
          <p:nvPr/>
        </p:nvSpPr>
        <p:spPr>
          <a:xfrm xmlns:a="http://schemas.openxmlformats.org/drawingml/2006/main">
            <a:off x="685800" y="962025"/>
            <a:ext cx="647700" cy="28575"/>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4" name="">
            <a:extLst xmlns:a="http://schemas.openxmlformats.org/drawingml/2006/main">
              <a:ext uri="{FF2B5EF4-FFF2-40B4-BE49-F238E27FC236}">
                <a16:creationId xmlns:a16="http://schemas.microsoft.com/office/drawing/2014/main" id="{7F330C60-9EFA-4C8E-8706-42A008F96666}"/>
              </a:ext>
            </a:extLst>
          </p:cNvPr>
          <p:cNvSpPr>
            <a:spLocks xmlns:a="http://schemas.openxmlformats.org/drawingml/2006/main" noGrp="1"/>
          </p:cNvSpPr>
          <p:nvPr/>
        </p:nvSpPr>
        <p:spPr>
          <a:xfrm xmlns:a="http://schemas.openxmlformats.org/drawingml/2006/main">
            <a:off x="685800" y="12192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F7F9FC"/>
                </a:solidFill>
              </a:defRPr>
            </a:pPr>
            <a:r>
              <a:rPr sz="3300" b="1">
                <a:solidFill>
                  <a:srgbClr val="F7F9FC"/>
                </a:solidFill>
              </a:rPr>
              <a:t>A supply shock is really a decision-compression problem.</a:t>
            </a:r>
          </a:p>
        </p:txBody>
      </p:sp>
      <p:sp>
        <p:nvSpPr>
          <p:cNvPr id="5" name="">
            <a:extLst xmlns:a="http://schemas.openxmlformats.org/drawingml/2006/main">
              <a:ext uri="{FF2B5EF4-FFF2-40B4-BE49-F238E27FC236}">
                <a16:creationId xmlns:a16="http://schemas.microsoft.com/office/drawing/2014/main" id="{4BFD63BA-29D2-4D9D-8E72-E98DFDBBA7DC}"/>
              </a:ext>
            </a:extLst>
          </p:cNvPr>
          <p:cNvSpPr>
            <a:spLocks xmlns:a="http://schemas.openxmlformats.org/drawingml/2006/main" noGrp="1"/>
          </p:cNvSpPr>
          <p:nvPr/>
        </p:nvSpPr>
        <p:spPr>
          <a:xfrm xmlns:a="http://schemas.openxmlformats.org/drawingml/2006/main">
            <a:off x="10972800" y="61626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0"/>
                </a:solidFill>
              </a:defRPr>
            </a:pPr>
            <a:r>
              <a:rPr sz="975" b="1">
                <a:solidFill>
                  <a:srgbClr val="687180"/>
                </a:solidFill>
              </a:rPr>
              <a:t>02 / 10</a:t>
            </a:r>
          </a:p>
        </p:txBody>
      </p:sp>
      <p:sp>
        <p:nvSpPr>
          <p:cNvPr id="6" name="">
            <a:extLst xmlns:a="http://schemas.openxmlformats.org/drawingml/2006/main">
              <a:ext uri="{FF2B5EF4-FFF2-40B4-BE49-F238E27FC236}">
                <a16:creationId xmlns:a16="http://schemas.microsoft.com/office/drawing/2014/main" id="{CE834659-3BCE-45B4-AACB-A87532FE60B0}"/>
              </a:ext>
            </a:extLst>
          </p:cNvPr>
          <p:cNvSpPr>
            <a:spLocks xmlns:a="http://schemas.openxmlformats.org/drawingml/2006/main" noGrp="1"/>
          </p:cNvSpPr>
          <p:nvPr/>
        </p:nvSpPr>
        <p:spPr>
          <a:xfrm xmlns:a="http://schemas.openxmlformats.org/drawingml/2006/main">
            <a:off x="685800" y="6257925"/>
            <a:ext cx="742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SOURCE: CURRENT SEED NETWORK + SIMULATED HORMUZ FIXTURE</a:t>
            </a:r>
          </a:p>
        </p:txBody>
      </p:sp>
      <p:sp>
        <p:nvSpPr>
          <p:cNvPr id="7" name="">
            <a:extLst xmlns:a="http://schemas.openxmlformats.org/drawingml/2006/main">
              <a:ext uri="{FF2B5EF4-FFF2-40B4-BE49-F238E27FC236}">
                <a16:creationId xmlns:a16="http://schemas.microsoft.com/office/drawing/2014/main" id="{BB3CE818-24DC-4076-9D66-7FE26B002CA5}"/>
              </a:ext>
            </a:extLst>
          </p:cNvPr>
          <p:cNvSpPr>
            <a:spLocks xmlns:a="http://schemas.openxmlformats.org/drawingml/2006/main" noGrp="1"/>
          </p:cNvSpPr>
          <p:nvPr/>
        </p:nvSpPr>
        <p:spPr>
          <a:xfrm xmlns:a="http://schemas.openxmlformats.org/drawingml/2006/main">
            <a:off x="685800" y="238125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98A1AF"/>
                </a:solidFill>
              </a:defRPr>
            </a:pPr>
            <a:r>
              <a:rPr sz="1425" b="0">
                <a:solidFill>
                  <a:srgbClr val="98A1AF"/>
                </a:solidFill>
              </a:rPr>
              <a:t>When a critical corridor is threatened, one team must reconcile signal quality, market exposure, compatible supply, route capacity, and approvals—before the window closes.</a:t>
            </a:r>
          </a:p>
        </p:txBody>
      </p:sp>
      <p:sp>
        <p:nvSpPr>
          <p:cNvPr id="8" name="">
            <a:extLst xmlns:a="http://schemas.openxmlformats.org/drawingml/2006/main">
              <a:ext uri="{FF2B5EF4-FFF2-40B4-BE49-F238E27FC236}">
                <a16:creationId xmlns:a16="http://schemas.microsoft.com/office/drawing/2014/main" id="{426FD8E1-D9A3-4AEE-9A1C-92A1C5CEB0E2}"/>
              </a:ext>
            </a:extLst>
          </p:cNvPr>
          <p:cNvSpPr>
            <a:spLocks xmlns:a="http://schemas.openxmlformats.org/drawingml/2006/main" noGrp="1"/>
          </p:cNvSpPr>
          <p:nvPr/>
        </p:nvSpPr>
        <p:spPr>
          <a:xfrm xmlns:a="http://schemas.openxmlformats.org/drawingml/2006/main">
            <a:off x="685800" y="3467100"/>
            <a:ext cx="219075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9" name="">
            <a:extLst xmlns:a="http://schemas.openxmlformats.org/drawingml/2006/main">
              <a:ext uri="{FF2B5EF4-FFF2-40B4-BE49-F238E27FC236}">
                <a16:creationId xmlns:a16="http://schemas.microsoft.com/office/drawing/2014/main" id="{456274DE-DFD0-42C2-A5EC-609D6ACEB4C0}"/>
              </a:ext>
            </a:extLst>
          </p:cNvPr>
          <p:cNvSpPr>
            <a:spLocks xmlns:a="http://schemas.openxmlformats.org/drawingml/2006/main" noGrp="1"/>
          </p:cNvSpPr>
          <p:nvPr/>
        </p:nvSpPr>
        <p:spPr>
          <a:xfrm xmlns:a="http://schemas.openxmlformats.org/drawingml/2006/main">
            <a:off x="685800" y="363855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E2A447"/>
                </a:solidFill>
              </a:defRPr>
            </a:pPr>
            <a:r>
              <a:rPr sz="2550" b="1">
                <a:solidFill>
                  <a:srgbClr val="E2A447"/>
                </a:solidFill>
              </a:rPr>
              <a:t>0.78</a:t>
            </a:r>
          </a:p>
        </p:txBody>
      </p:sp>
      <p:sp>
        <p:nvSpPr>
          <p:cNvPr id="10" name="">
            <a:extLst xmlns:a="http://schemas.openxmlformats.org/drawingml/2006/main">
              <a:ext uri="{FF2B5EF4-FFF2-40B4-BE49-F238E27FC236}">
                <a16:creationId xmlns:a16="http://schemas.microsoft.com/office/drawing/2014/main" id="{626DC92F-E9B1-421E-935C-9005A530E96B}"/>
              </a:ext>
            </a:extLst>
          </p:cNvPr>
          <p:cNvSpPr>
            <a:spLocks xmlns:a="http://schemas.openxmlformats.org/drawingml/2006/main" noGrp="1"/>
          </p:cNvSpPr>
          <p:nvPr/>
        </p:nvSpPr>
        <p:spPr>
          <a:xfrm xmlns:a="http://schemas.openxmlformats.org/drawingml/2006/main">
            <a:off x="685800" y="4143375"/>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Seeded Hormuz corridor risk score</a:t>
            </a:r>
          </a:p>
        </p:txBody>
      </p:sp>
      <p:sp>
        <p:nvSpPr>
          <p:cNvPr id="11" name="">
            <a:extLst xmlns:a="http://schemas.openxmlformats.org/drawingml/2006/main">
              <a:ext uri="{FF2B5EF4-FFF2-40B4-BE49-F238E27FC236}">
                <a16:creationId xmlns:a16="http://schemas.microsoft.com/office/drawing/2014/main" id="{C06A69B3-C3B7-4E79-B370-58D047A8E70D}"/>
              </a:ext>
            </a:extLst>
          </p:cNvPr>
          <p:cNvSpPr>
            <a:spLocks xmlns:a="http://schemas.openxmlformats.org/drawingml/2006/main" noGrp="1"/>
          </p:cNvSpPr>
          <p:nvPr/>
        </p:nvSpPr>
        <p:spPr>
          <a:xfrm xmlns:a="http://schemas.openxmlformats.org/drawingml/2006/main">
            <a:off x="3371850" y="3467100"/>
            <a:ext cx="219075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12" name="">
            <a:extLst xmlns:a="http://schemas.openxmlformats.org/drawingml/2006/main">
              <a:ext uri="{FF2B5EF4-FFF2-40B4-BE49-F238E27FC236}">
                <a16:creationId xmlns:a16="http://schemas.microsoft.com/office/drawing/2014/main" id="{519E1611-00DC-4F33-8765-DB5167BA517A}"/>
              </a:ext>
            </a:extLst>
          </p:cNvPr>
          <p:cNvSpPr>
            <a:spLocks xmlns:a="http://schemas.openxmlformats.org/drawingml/2006/main" noGrp="1"/>
          </p:cNvSpPr>
          <p:nvPr/>
        </p:nvSpPr>
        <p:spPr>
          <a:xfrm xmlns:a="http://schemas.openxmlformats.org/drawingml/2006/main">
            <a:off x="3371850" y="363855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78AAFF"/>
                </a:solidFill>
              </a:defRPr>
            </a:pPr>
            <a:r>
              <a:rPr sz="2550" b="1">
                <a:solidFill>
                  <a:srgbClr val="78AAFF"/>
                </a:solidFill>
              </a:rPr>
              <a:t>1.2M bpd</a:t>
            </a:r>
          </a:p>
        </p:txBody>
      </p:sp>
      <p:sp>
        <p:nvSpPr>
          <p:cNvPr id="13" name="">
            <a:extLst xmlns:a="http://schemas.openxmlformats.org/drawingml/2006/main">
              <a:ext uri="{FF2B5EF4-FFF2-40B4-BE49-F238E27FC236}">
                <a16:creationId xmlns:a16="http://schemas.microsoft.com/office/drawing/2014/main" id="{48042B70-4207-4745-B954-3A6173FDF7B6}"/>
              </a:ext>
            </a:extLst>
          </p:cNvPr>
          <p:cNvSpPr>
            <a:spLocks xmlns:a="http://schemas.openxmlformats.org/drawingml/2006/main" noGrp="1"/>
          </p:cNvSpPr>
          <p:nvPr/>
        </p:nvSpPr>
        <p:spPr>
          <a:xfrm xmlns:a="http://schemas.openxmlformats.org/drawingml/2006/main">
            <a:off x="3371850" y="4143375"/>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Simulated P50 supply impact</a:t>
            </a:r>
          </a:p>
        </p:txBody>
      </p:sp>
      <p:sp>
        <p:nvSpPr>
          <p:cNvPr id="14" name="">
            <a:extLst xmlns:a="http://schemas.openxmlformats.org/drawingml/2006/main">
              <a:ext uri="{FF2B5EF4-FFF2-40B4-BE49-F238E27FC236}">
                <a16:creationId xmlns:a16="http://schemas.microsoft.com/office/drawing/2014/main" id="{8805E4F1-C380-4718-9CC8-EA92DA6E12FA}"/>
              </a:ext>
            </a:extLst>
          </p:cNvPr>
          <p:cNvSpPr>
            <a:spLocks xmlns:a="http://schemas.openxmlformats.org/drawingml/2006/main" noGrp="1"/>
          </p:cNvSpPr>
          <p:nvPr/>
        </p:nvSpPr>
        <p:spPr>
          <a:xfrm xmlns:a="http://schemas.openxmlformats.org/drawingml/2006/main">
            <a:off x="6057900" y="3467100"/>
            <a:ext cx="219075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15" name="">
            <a:extLst xmlns:a="http://schemas.openxmlformats.org/drawingml/2006/main">
              <a:ext uri="{FF2B5EF4-FFF2-40B4-BE49-F238E27FC236}">
                <a16:creationId xmlns:a16="http://schemas.microsoft.com/office/drawing/2014/main" id="{4014F3AA-08CC-41E8-A20A-265ACB44A980}"/>
              </a:ext>
            </a:extLst>
          </p:cNvPr>
          <p:cNvSpPr>
            <a:spLocks xmlns:a="http://schemas.openxmlformats.org/drawingml/2006/main" noGrp="1"/>
          </p:cNvSpPr>
          <p:nvPr/>
        </p:nvSpPr>
        <p:spPr>
          <a:xfrm xmlns:a="http://schemas.openxmlformats.org/drawingml/2006/main">
            <a:off x="6057900" y="363855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54D2C5"/>
                </a:solidFill>
              </a:defRPr>
            </a:pPr>
            <a:r>
              <a:rPr sz="2550" b="1">
                <a:solidFill>
                  <a:srgbClr val="54D2C5"/>
                </a:solidFill>
              </a:rPr>
              <a:t>$48.2M/day</a:t>
            </a:r>
          </a:p>
        </p:txBody>
      </p:sp>
      <p:sp>
        <p:nvSpPr>
          <p:cNvPr id="16" name="">
            <a:extLst xmlns:a="http://schemas.openxmlformats.org/drawingml/2006/main">
              <a:ext uri="{FF2B5EF4-FFF2-40B4-BE49-F238E27FC236}">
                <a16:creationId xmlns:a16="http://schemas.microsoft.com/office/drawing/2014/main" id="{13939298-9C60-4667-8DDA-4744A537EA7C}"/>
              </a:ext>
            </a:extLst>
          </p:cNvPr>
          <p:cNvSpPr>
            <a:spLocks xmlns:a="http://schemas.openxmlformats.org/drawingml/2006/main" noGrp="1"/>
          </p:cNvSpPr>
          <p:nvPr/>
        </p:nvSpPr>
        <p:spPr>
          <a:xfrm xmlns:a="http://schemas.openxmlformats.org/drawingml/2006/main">
            <a:off x="6057900" y="4143375"/>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Simulated additional import cost</a:t>
            </a:r>
          </a:p>
        </p:txBody>
      </p:sp>
      <p:sp>
        <p:nvSpPr>
          <p:cNvPr id="17" name="">
            <a:extLst xmlns:a="http://schemas.openxmlformats.org/drawingml/2006/main">
              <a:ext uri="{FF2B5EF4-FFF2-40B4-BE49-F238E27FC236}">
                <a16:creationId xmlns:a16="http://schemas.microsoft.com/office/drawing/2014/main" id="{D0A5E45C-296B-40C0-B066-C9E559423460}"/>
              </a:ext>
            </a:extLst>
          </p:cNvPr>
          <p:cNvSpPr>
            <a:spLocks xmlns:a="http://schemas.openxmlformats.org/drawingml/2006/main" noGrp="1"/>
          </p:cNvSpPr>
          <p:nvPr/>
        </p:nvSpPr>
        <p:spPr>
          <a:xfrm xmlns:a="http://schemas.openxmlformats.org/drawingml/2006/main">
            <a:off x="8743950" y="3467100"/>
            <a:ext cx="219075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18" name="">
            <a:extLst xmlns:a="http://schemas.openxmlformats.org/drawingml/2006/main">
              <a:ext uri="{FF2B5EF4-FFF2-40B4-BE49-F238E27FC236}">
                <a16:creationId xmlns:a16="http://schemas.microsoft.com/office/drawing/2014/main" id="{F8936020-5338-49D8-919A-53C06438FD33}"/>
              </a:ext>
            </a:extLst>
          </p:cNvPr>
          <p:cNvSpPr>
            <a:spLocks xmlns:a="http://schemas.openxmlformats.org/drawingml/2006/main" noGrp="1"/>
          </p:cNvSpPr>
          <p:nvPr/>
        </p:nvSpPr>
        <p:spPr>
          <a:xfrm xmlns:a="http://schemas.openxmlformats.org/drawingml/2006/main">
            <a:off x="8743950" y="363855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78AAFF"/>
                </a:solidFill>
              </a:defRPr>
            </a:pPr>
            <a:r>
              <a:rPr sz="2550" b="1">
                <a:solidFill>
                  <a:srgbClr val="78AAFF"/>
                </a:solidFill>
              </a:rPr>
              <a:t>21 days</a:t>
            </a:r>
          </a:p>
        </p:txBody>
      </p:sp>
      <p:sp>
        <p:nvSpPr>
          <p:cNvPr id="19" name="">
            <a:extLst xmlns:a="http://schemas.openxmlformats.org/drawingml/2006/main">
              <a:ext uri="{FF2B5EF4-FFF2-40B4-BE49-F238E27FC236}">
                <a16:creationId xmlns:a16="http://schemas.microsoft.com/office/drawing/2014/main" id="{05CD9D97-D4DC-48F1-AA95-A33F3604CDB3}"/>
              </a:ext>
            </a:extLst>
          </p:cNvPr>
          <p:cNvSpPr>
            <a:spLocks xmlns:a="http://schemas.openxmlformats.org/drawingml/2006/main" noGrp="1"/>
          </p:cNvSpPr>
          <p:nvPr/>
        </p:nvSpPr>
        <p:spPr>
          <a:xfrm xmlns:a="http://schemas.openxmlformats.org/drawingml/2006/main">
            <a:off x="8743950" y="4143375"/>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Visible scenario duration assumption</a:t>
            </a:r>
          </a:p>
        </p:txBody>
      </p:sp>
      <p:sp>
        <p:nvSpPr>
          <p:cNvPr id="20" name="">
            <a:extLst xmlns:a="http://schemas.openxmlformats.org/drawingml/2006/main">
              <a:ext uri="{FF2B5EF4-FFF2-40B4-BE49-F238E27FC236}">
                <a16:creationId xmlns:a16="http://schemas.microsoft.com/office/drawing/2014/main" id="{C4501DCC-7121-40B1-81A6-112A17AD4B34}"/>
              </a:ext>
            </a:extLst>
          </p:cNvPr>
          <p:cNvSpPr>
            <a:spLocks xmlns:a="http://schemas.openxmlformats.org/drawingml/2006/main" noGrp="1"/>
          </p:cNvSpPr>
          <p:nvPr/>
        </p:nvSpPr>
        <p:spPr>
          <a:xfrm xmlns:a="http://schemas.openxmlformats.org/drawingml/2006/main">
            <a:off x="685800" y="5381625"/>
            <a:ext cx="876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7F9FC"/>
                </a:solidFill>
              </a:defRPr>
            </a:pPr>
            <a:r>
              <a:rPr sz="1875" b="1">
                <a:solidFill>
                  <a:srgbClr val="F7F9FC"/>
                </a:solidFill>
              </a:rPr>
              <a:t>The bottleneck is not information. It is defensible action under uncertainty.</a:t>
            </a:r>
          </a:p>
        </p:txBody>
      </p:sp>
      <p:sp>
        <p:nvSpPr>
          <p:cNvPr id="21" name="">
            <a:extLst xmlns:a="http://schemas.openxmlformats.org/drawingml/2006/main">
              <a:ext uri="{FF2B5EF4-FFF2-40B4-BE49-F238E27FC236}">
                <a16:creationId xmlns:a16="http://schemas.microsoft.com/office/drawing/2014/main" id="{83E5BC0B-78C1-4586-9DE7-9983E65F3329}"/>
              </a:ext>
            </a:extLst>
          </p:cNvPr>
          <p:cNvSpPr>
            <a:spLocks xmlns:a="http://schemas.openxmlformats.org/drawingml/2006/main" noGrp="1"/>
          </p:cNvSpPr>
          <p:nvPr/>
        </p:nvSpPr>
        <p:spPr>
          <a:xfrm xmlns:a="http://schemas.openxmlformats.org/drawingml/2006/main">
            <a:off x="9553575" y="5324475"/>
            <a:ext cx="1666875" cy="247650"/>
          </a:xfrm>
          <a:prstGeom xmlns:a="http://schemas.openxmlformats.org/drawingml/2006/main" prst="roundRect">
            <a:avLst>
              <a:gd name="adj" fmla="val 19231"/>
            </a:avLst>
          </a:prstGeom>
          <a:solidFill xmlns:a="http://schemas.openxmlformats.org/drawingml/2006/main">
            <a:srgbClr val="201912"/>
          </a:solidFill>
          <a:ln xmlns:a="http://schemas.openxmlformats.org/drawingml/2006/main" w="9525">
            <a:solidFill>
              <a:srgbClr val="E2A447"/>
            </a:solidFill>
            <a:prstDash val="solid"/>
          </a:ln>
        </p:spPr>
      </p:sp>
      <p:sp>
        <p:nvSpPr>
          <p:cNvPr id="22" name="">
            <a:extLst xmlns:a="http://schemas.openxmlformats.org/drawingml/2006/main">
              <a:ext uri="{FF2B5EF4-FFF2-40B4-BE49-F238E27FC236}">
                <a16:creationId xmlns:a16="http://schemas.microsoft.com/office/drawing/2014/main" id="{E3AA6E74-1728-4AA5-B881-23C2A4251B74}"/>
              </a:ext>
            </a:extLst>
          </p:cNvPr>
          <p:cNvSpPr>
            <a:spLocks xmlns:a="http://schemas.openxmlformats.org/drawingml/2006/main" noGrp="1"/>
          </p:cNvSpPr>
          <p:nvPr/>
        </p:nvSpPr>
        <p:spPr>
          <a:xfrm xmlns:a="http://schemas.openxmlformats.org/drawingml/2006/main">
            <a:off x="9629775" y="5353050"/>
            <a:ext cx="1514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E2A447"/>
                </a:solidFill>
              </a:defRPr>
            </a:pPr>
            <a:r>
              <a:rPr sz="825" b="1">
                <a:solidFill>
                  <a:srgbClr val="E2A447"/>
                </a:solidFill>
              </a:rPr>
              <a:t>ALL FIGURES SIMULATED</a:t>
            </a:r>
          </a:p>
        </p:txBody>
      </p:sp>
    </p:spTree>
    <p:extLst>
      <p:ext uri="{BB962C8B-B14F-4D97-AF65-F5344CB8AC3E}">
        <p14:creationId xmlns:p14="http://schemas.microsoft.com/office/powerpoint/2010/main" val="1541381477"/>
      </p:ext>
    </p:extLst>
  </p:cSld>
</p:sld>
</file>

<file path=ppt/slides/slide3.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FDC6AF15-2473-4C6D-BE5C-1FE1683FE90B}"/>
              </a:ext>
            </a:extLst>
          </p:cNvPr>
          <p:cNvSpPr>
            <a:spLocks xmlns:a="http://schemas.openxmlformats.org/drawingml/2006/main" noGrp="1"/>
          </p:cNvSpPr>
          <p:nvPr/>
        </p:nvSpPr>
        <p:spPr>
          <a:xfrm xmlns:a="http://schemas.openxmlformats.org/drawingml/2006/main">
            <a:off x="685800" y="3714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PETRAVIGIL</a:t>
            </a:r>
          </a:p>
        </p:txBody>
      </p:sp>
      <p:sp>
        <p:nvSpPr>
          <p:cNvPr id="2" name="">
            <a:extLst xmlns:a="http://schemas.openxmlformats.org/drawingml/2006/main">
              <a:ext uri="{FF2B5EF4-FFF2-40B4-BE49-F238E27FC236}">
                <a16:creationId xmlns:a16="http://schemas.microsoft.com/office/drawing/2014/main" id="{9F2AAF95-4136-4DA7-BB06-1FABAF0C85CA}"/>
              </a:ext>
            </a:extLst>
          </p:cNvPr>
          <p:cNvSpPr>
            <a:spLocks xmlns:a="http://schemas.openxmlformats.org/drawingml/2006/main" noGrp="1"/>
          </p:cNvSpPr>
          <p:nvPr/>
        </p:nvSpPr>
        <p:spPr>
          <a:xfrm xmlns:a="http://schemas.openxmlformats.org/drawingml/2006/main">
            <a:off x="685800" y="6286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98A1AF"/>
                </a:solidFill>
              </a:defRPr>
            </a:pPr>
            <a:r>
              <a:rPr sz="900" b="1">
                <a:solidFill>
                  <a:srgbClr val="98A1AF"/>
                </a:solidFill>
              </a:rPr>
              <a:t>OUR SOLUTION</a:t>
            </a:r>
          </a:p>
        </p:txBody>
      </p:sp>
      <p:sp>
        <p:nvSpPr>
          <p:cNvPr id="3" name="">
            <a:extLst xmlns:a="http://schemas.openxmlformats.org/drawingml/2006/main">
              <a:ext uri="{FF2B5EF4-FFF2-40B4-BE49-F238E27FC236}">
                <a16:creationId xmlns:a16="http://schemas.microsoft.com/office/drawing/2014/main" id="{9ECD1FE3-5691-4425-B41A-5E3D4614CE27}"/>
              </a:ext>
            </a:extLst>
          </p:cNvPr>
          <p:cNvSpPr>
            <a:spLocks xmlns:a="http://schemas.openxmlformats.org/drawingml/2006/main" noGrp="1"/>
          </p:cNvSpPr>
          <p:nvPr/>
        </p:nvSpPr>
        <p:spPr>
          <a:xfrm xmlns:a="http://schemas.openxmlformats.org/drawingml/2006/main">
            <a:off x="685800" y="962025"/>
            <a:ext cx="647700" cy="28575"/>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4" name="">
            <a:extLst xmlns:a="http://schemas.openxmlformats.org/drawingml/2006/main">
              <a:ext uri="{FF2B5EF4-FFF2-40B4-BE49-F238E27FC236}">
                <a16:creationId xmlns:a16="http://schemas.microsoft.com/office/drawing/2014/main" id="{7E14B3A4-71CF-4B99-9329-3449735943BD}"/>
              </a:ext>
            </a:extLst>
          </p:cNvPr>
          <p:cNvSpPr>
            <a:spLocks xmlns:a="http://schemas.openxmlformats.org/drawingml/2006/main" noGrp="1"/>
          </p:cNvSpPr>
          <p:nvPr/>
        </p:nvSpPr>
        <p:spPr>
          <a:xfrm xmlns:a="http://schemas.openxmlformats.org/drawingml/2006/main">
            <a:off x="685800" y="12192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F7F9FC"/>
                </a:solidFill>
              </a:defRPr>
            </a:pPr>
            <a:r>
              <a:rPr sz="3300" b="1">
                <a:solidFill>
                  <a:srgbClr val="F7F9FC"/>
                </a:solidFill>
              </a:rPr>
              <a:t>One linked workflow—from signal to accountable action.</a:t>
            </a:r>
          </a:p>
        </p:txBody>
      </p:sp>
      <p:sp>
        <p:nvSpPr>
          <p:cNvPr id="5" name="">
            <a:extLst xmlns:a="http://schemas.openxmlformats.org/drawingml/2006/main">
              <a:ext uri="{FF2B5EF4-FFF2-40B4-BE49-F238E27FC236}">
                <a16:creationId xmlns:a16="http://schemas.microsoft.com/office/drawing/2014/main" id="{028A5E6C-CE55-41F4-832F-DDBDD17410F0}"/>
              </a:ext>
            </a:extLst>
          </p:cNvPr>
          <p:cNvSpPr>
            <a:spLocks xmlns:a="http://schemas.openxmlformats.org/drawingml/2006/main" noGrp="1"/>
          </p:cNvSpPr>
          <p:nvPr/>
        </p:nvSpPr>
        <p:spPr>
          <a:xfrm xmlns:a="http://schemas.openxmlformats.org/drawingml/2006/main">
            <a:off x="10972800" y="61626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0"/>
                </a:solidFill>
              </a:defRPr>
            </a:pPr>
            <a:r>
              <a:rPr sz="975" b="1">
                <a:solidFill>
                  <a:srgbClr val="687180"/>
                </a:solidFill>
              </a:rPr>
              <a:t>03 / 10</a:t>
            </a:r>
          </a:p>
        </p:txBody>
      </p:sp>
      <p:sp>
        <p:nvSpPr>
          <p:cNvPr id="6" name="">
            <a:extLst xmlns:a="http://schemas.openxmlformats.org/drawingml/2006/main">
              <a:ext uri="{FF2B5EF4-FFF2-40B4-BE49-F238E27FC236}">
                <a16:creationId xmlns:a16="http://schemas.microsoft.com/office/drawing/2014/main" id="{E02CD417-3BAF-4D99-BDFF-5557D045E667}"/>
              </a:ext>
            </a:extLst>
          </p:cNvPr>
          <p:cNvSpPr>
            <a:spLocks xmlns:a="http://schemas.openxmlformats.org/drawingml/2006/main" noGrp="1"/>
          </p:cNvSpPr>
          <p:nvPr/>
        </p:nvSpPr>
        <p:spPr>
          <a:xfrm xmlns:a="http://schemas.openxmlformats.org/drawingml/2006/main">
            <a:off x="685800" y="6257925"/>
            <a:ext cx="742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CURRENT REPOSITORY · VERIFIED CAPABILITIES</a:t>
            </a:r>
          </a:p>
        </p:txBody>
      </p:sp>
      <p:sp>
        <p:nvSpPr>
          <p:cNvPr id="7" name="">
            <a:extLst xmlns:a="http://schemas.openxmlformats.org/drawingml/2006/main">
              <a:ext uri="{FF2B5EF4-FFF2-40B4-BE49-F238E27FC236}">
                <a16:creationId xmlns:a16="http://schemas.microsoft.com/office/drawing/2014/main" id="{6251D406-DF7D-4DCA-A3D0-AF769DD05AE3}"/>
              </a:ext>
            </a:extLst>
          </p:cNvPr>
          <p:cNvSpPr>
            <a:spLocks xmlns:a="http://schemas.openxmlformats.org/drawingml/2006/main" noGrp="1"/>
          </p:cNvSpPr>
          <p:nvPr/>
        </p:nvSpPr>
        <p:spPr>
          <a:xfrm xmlns:a="http://schemas.openxmlformats.org/drawingml/2006/main">
            <a:off x="685800" y="23431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98A1AF"/>
                </a:solidFill>
              </a:defRPr>
            </a:pPr>
            <a:r>
              <a:rPr sz="1425" b="0">
                <a:solidFill>
                  <a:srgbClr val="98A1AF"/>
                </a:solidFill>
              </a:rPr>
              <a:t>PetraVigil persists each stage before the next one can run. That turns analysis into a reviewable operational record.</a:t>
            </a:r>
          </a:p>
        </p:txBody>
      </p:sp>
      <p:sp>
        <p:nvSpPr>
          <p:cNvPr id="8" name="">
            <a:extLst xmlns:a="http://schemas.openxmlformats.org/drawingml/2006/main">
              <a:ext uri="{FF2B5EF4-FFF2-40B4-BE49-F238E27FC236}">
                <a16:creationId xmlns:a16="http://schemas.microsoft.com/office/drawing/2014/main" id="{5C6E7D75-1B77-48EF-B1DE-A75A6FE55B61}"/>
              </a:ext>
            </a:extLst>
          </p:cNvPr>
          <p:cNvSpPr>
            <a:spLocks xmlns:a="http://schemas.openxmlformats.org/drawingml/2006/main" noGrp="1"/>
          </p:cNvSpPr>
          <p:nvPr/>
        </p:nvSpPr>
        <p:spPr>
          <a:xfrm xmlns:a="http://schemas.openxmlformats.org/drawingml/2006/main">
            <a:off x="1975757" y="3657600"/>
            <a:ext cx="17145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9" name="">
            <a:extLst xmlns:a="http://schemas.openxmlformats.org/drawingml/2006/main">
              <a:ext uri="{FF2B5EF4-FFF2-40B4-BE49-F238E27FC236}">
                <a16:creationId xmlns:a16="http://schemas.microsoft.com/office/drawing/2014/main" id="{FFE64CC8-B5BC-4C48-B387-6E00DDA9E323}"/>
              </a:ext>
            </a:extLst>
          </p:cNvPr>
          <p:cNvSpPr>
            <a:spLocks xmlns:a="http://schemas.openxmlformats.org/drawingml/2006/main" noGrp="1"/>
          </p:cNvSpPr>
          <p:nvPr/>
        </p:nvSpPr>
        <p:spPr>
          <a:xfrm xmlns:a="http://schemas.openxmlformats.org/drawingml/2006/main">
            <a:off x="3437164" y="3657600"/>
            <a:ext cx="17145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0" name="">
            <a:extLst xmlns:a="http://schemas.openxmlformats.org/drawingml/2006/main">
              <a:ext uri="{FF2B5EF4-FFF2-40B4-BE49-F238E27FC236}">
                <a16:creationId xmlns:a16="http://schemas.microsoft.com/office/drawing/2014/main" id="{3CA1BCDA-C167-49EC-AB8A-3DD35CE9A33F}"/>
              </a:ext>
            </a:extLst>
          </p:cNvPr>
          <p:cNvSpPr>
            <a:spLocks xmlns:a="http://schemas.openxmlformats.org/drawingml/2006/main" noGrp="1"/>
          </p:cNvSpPr>
          <p:nvPr/>
        </p:nvSpPr>
        <p:spPr>
          <a:xfrm xmlns:a="http://schemas.openxmlformats.org/drawingml/2006/main">
            <a:off x="4898571" y="3657600"/>
            <a:ext cx="17145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1" name="">
            <a:extLst xmlns:a="http://schemas.openxmlformats.org/drawingml/2006/main">
              <a:ext uri="{FF2B5EF4-FFF2-40B4-BE49-F238E27FC236}">
                <a16:creationId xmlns:a16="http://schemas.microsoft.com/office/drawing/2014/main" id="{31918E13-0C68-4B8E-8EE6-076F409418F6}"/>
              </a:ext>
            </a:extLst>
          </p:cNvPr>
          <p:cNvSpPr>
            <a:spLocks xmlns:a="http://schemas.openxmlformats.org/drawingml/2006/main" noGrp="1"/>
          </p:cNvSpPr>
          <p:nvPr/>
        </p:nvSpPr>
        <p:spPr>
          <a:xfrm xmlns:a="http://schemas.openxmlformats.org/drawingml/2006/main">
            <a:off x="6359979" y="3657600"/>
            <a:ext cx="17145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2" name="">
            <a:extLst xmlns:a="http://schemas.openxmlformats.org/drawingml/2006/main">
              <a:ext uri="{FF2B5EF4-FFF2-40B4-BE49-F238E27FC236}">
                <a16:creationId xmlns:a16="http://schemas.microsoft.com/office/drawing/2014/main" id="{73B6BCCA-1A0D-4FAE-8E65-5E52966F218C}"/>
              </a:ext>
            </a:extLst>
          </p:cNvPr>
          <p:cNvSpPr>
            <a:spLocks xmlns:a="http://schemas.openxmlformats.org/drawingml/2006/main" noGrp="1"/>
          </p:cNvSpPr>
          <p:nvPr/>
        </p:nvSpPr>
        <p:spPr>
          <a:xfrm xmlns:a="http://schemas.openxmlformats.org/drawingml/2006/main">
            <a:off x="7821386" y="3657600"/>
            <a:ext cx="17145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3" name="">
            <a:extLst xmlns:a="http://schemas.openxmlformats.org/drawingml/2006/main">
              <a:ext uri="{FF2B5EF4-FFF2-40B4-BE49-F238E27FC236}">
                <a16:creationId xmlns:a16="http://schemas.microsoft.com/office/drawing/2014/main" id="{309A7A00-D6B6-4EAC-AF5F-034C6A839E58}"/>
              </a:ext>
            </a:extLst>
          </p:cNvPr>
          <p:cNvSpPr>
            <a:spLocks xmlns:a="http://schemas.openxmlformats.org/drawingml/2006/main" noGrp="1"/>
          </p:cNvSpPr>
          <p:nvPr/>
        </p:nvSpPr>
        <p:spPr>
          <a:xfrm xmlns:a="http://schemas.openxmlformats.org/drawingml/2006/main">
            <a:off x="9282793" y="3657600"/>
            <a:ext cx="17145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4" name="">
            <a:extLst xmlns:a="http://schemas.openxmlformats.org/drawingml/2006/main">
              <a:ext uri="{FF2B5EF4-FFF2-40B4-BE49-F238E27FC236}">
                <a16:creationId xmlns:a16="http://schemas.microsoft.com/office/drawing/2014/main" id="{96197A04-3AE9-4F7B-B737-E8B97184843A}"/>
              </a:ext>
            </a:extLst>
          </p:cNvPr>
          <p:cNvSpPr>
            <a:spLocks xmlns:a="http://schemas.openxmlformats.org/drawingml/2006/main" noGrp="1"/>
          </p:cNvSpPr>
          <p:nvPr/>
        </p:nvSpPr>
        <p:spPr>
          <a:xfrm xmlns:a="http://schemas.openxmlformats.org/drawingml/2006/main">
            <a:off x="685800" y="3295650"/>
            <a:ext cx="1289957" cy="723900"/>
          </a:xfrm>
          <a:prstGeom xmlns:a="http://schemas.openxmlformats.org/drawingml/2006/main" prst="roundRect">
            <a:avLst>
              <a:gd name="adj" fmla="val 10526"/>
            </a:avLst>
          </a:prstGeom>
          <a:solidFill xmlns:a="http://schemas.openxmlformats.org/drawingml/2006/main">
            <a:srgbClr val="101217"/>
          </a:solidFill>
          <a:ln xmlns:a="http://schemas.openxmlformats.org/drawingml/2006/main" w="9525">
            <a:solidFill>
              <a:srgbClr val="39404D"/>
            </a:solidFill>
            <a:prstDash val="solid"/>
          </a:ln>
        </p:spPr>
      </p:sp>
      <p:sp>
        <p:nvSpPr>
          <p:cNvPr id="15" name="">
            <a:extLst xmlns:a="http://schemas.openxmlformats.org/drawingml/2006/main">
              <a:ext uri="{FF2B5EF4-FFF2-40B4-BE49-F238E27FC236}">
                <a16:creationId xmlns:a16="http://schemas.microsoft.com/office/drawing/2014/main" id="{F3418569-DFF3-4B9A-8D8E-C5A02FFB204D}"/>
              </a:ext>
            </a:extLst>
          </p:cNvPr>
          <p:cNvSpPr>
            <a:spLocks xmlns:a="http://schemas.openxmlformats.org/drawingml/2006/main" noGrp="1"/>
          </p:cNvSpPr>
          <p:nvPr/>
        </p:nvSpPr>
        <p:spPr>
          <a:xfrm xmlns:a="http://schemas.openxmlformats.org/drawingml/2006/main">
            <a:off x="819150" y="33909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78AAFF"/>
                </a:solidFill>
              </a:defRPr>
            </a:pPr>
            <a:r>
              <a:rPr sz="825" b="1">
                <a:solidFill>
                  <a:srgbClr val="78AAFF"/>
                </a:solidFill>
              </a:rPr>
              <a:t>1</a:t>
            </a:r>
          </a:p>
        </p:txBody>
      </p:sp>
      <p:sp>
        <p:nvSpPr>
          <p:cNvPr id="16" name="">
            <a:extLst xmlns:a="http://schemas.openxmlformats.org/drawingml/2006/main">
              <a:ext uri="{FF2B5EF4-FFF2-40B4-BE49-F238E27FC236}">
                <a16:creationId xmlns:a16="http://schemas.microsoft.com/office/drawing/2014/main" id="{5A10A566-CF70-40C9-A4A7-1F1964C5225E}"/>
              </a:ext>
            </a:extLst>
          </p:cNvPr>
          <p:cNvSpPr>
            <a:spLocks xmlns:a="http://schemas.openxmlformats.org/drawingml/2006/main" noGrp="1"/>
          </p:cNvSpPr>
          <p:nvPr/>
        </p:nvSpPr>
        <p:spPr>
          <a:xfrm xmlns:a="http://schemas.openxmlformats.org/drawingml/2006/main">
            <a:off x="819150" y="3590925"/>
            <a:ext cx="1023257"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7F9FC"/>
                </a:solidFill>
              </a:defRPr>
            </a:pPr>
            <a:r>
              <a:rPr sz="1200" b="1">
                <a:solidFill>
                  <a:srgbClr val="F7F9FC"/>
                </a:solidFill>
              </a:rPr>
              <a:t>Signal</a:t>
            </a:r>
          </a:p>
        </p:txBody>
      </p:sp>
      <p:sp>
        <p:nvSpPr>
          <p:cNvPr id="17" name="">
            <a:extLst xmlns:a="http://schemas.openxmlformats.org/drawingml/2006/main">
              <a:ext uri="{FF2B5EF4-FFF2-40B4-BE49-F238E27FC236}">
                <a16:creationId xmlns:a16="http://schemas.microsoft.com/office/drawing/2014/main" id="{98E487DC-2E96-4B52-8850-985BFD180320}"/>
              </a:ext>
            </a:extLst>
          </p:cNvPr>
          <p:cNvSpPr>
            <a:spLocks xmlns:a="http://schemas.openxmlformats.org/drawingml/2006/main" noGrp="1"/>
          </p:cNvSpPr>
          <p:nvPr/>
        </p:nvSpPr>
        <p:spPr>
          <a:xfrm xmlns:a="http://schemas.openxmlformats.org/drawingml/2006/main">
            <a:off x="2147207" y="3295650"/>
            <a:ext cx="1289957" cy="723900"/>
          </a:xfrm>
          <a:prstGeom xmlns:a="http://schemas.openxmlformats.org/drawingml/2006/main" prst="roundRect">
            <a:avLst>
              <a:gd name="adj" fmla="val 10526"/>
            </a:avLst>
          </a:prstGeom>
          <a:solidFill xmlns:a="http://schemas.openxmlformats.org/drawingml/2006/main">
            <a:srgbClr val="101217"/>
          </a:solidFill>
          <a:ln xmlns:a="http://schemas.openxmlformats.org/drawingml/2006/main" w="9525">
            <a:solidFill>
              <a:srgbClr val="39404D"/>
            </a:solidFill>
            <a:prstDash val="solid"/>
          </a:ln>
        </p:spPr>
      </p:sp>
      <p:sp>
        <p:nvSpPr>
          <p:cNvPr id="18" name="">
            <a:extLst xmlns:a="http://schemas.openxmlformats.org/drawingml/2006/main">
              <a:ext uri="{FF2B5EF4-FFF2-40B4-BE49-F238E27FC236}">
                <a16:creationId xmlns:a16="http://schemas.microsoft.com/office/drawing/2014/main" id="{03CC3919-45C3-462E-8123-35AF26B04F30}"/>
              </a:ext>
            </a:extLst>
          </p:cNvPr>
          <p:cNvSpPr>
            <a:spLocks xmlns:a="http://schemas.openxmlformats.org/drawingml/2006/main" noGrp="1"/>
          </p:cNvSpPr>
          <p:nvPr/>
        </p:nvSpPr>
        <p:spPr>
          <a:xfrm xmlns:a="http://schemas.openxmlformats.org/drawingml/2006/main">
            <a:off x="2280557" y="33909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78AAFF"/>
                </a:solidFill>
              </a:defRPr>
            </a:pPr>
            <a:r>
              <a:rPr sz="825" b="1">
                <a:solidFill>
                  <a:srgbClr val="78AAFF"/>
                </a:solidFill>
              </a:rPr>
              <a:t>2</a:t>
            </a:r>
          </a:p>
        </p:txBody>
      </p:sp>
      <p:sp>
        <p:nvSpPr>
          <p:cNvPr id="19" name="">
            <a:extLst xmlns:a="http://schemas.openxmlformats.org/drawingml/2006/main">
              <a:ext uri="{FF2B5EF4-FFF2-40B4-BE49-F238E27FC236}">
                <a16:creationId xmlns:a16="http://schemas.microsoft.com/office/drawing/2014/main" id="{8BB9EFBD-A261-40D2-A4D2-FF291B426D17}"/>
              </a:ext>
            </a:extLst>
          </p:cNvPr>
          <p:cNvSpPr>
            <a:spLocks xmlns:a="http://schemas.openxmlformats.org/drawingml/2006/main" noGrp="1"/>
          </p:cNvSpPr>
          <p:nvPr/>
        </p:nvSpPr>
        <p:spPr>
          <a:xfrm xmlns:a="http://schemas.openxmlformats.org/drawingml/2006/main">
            <a:off x="2280557" y="3590925"/>
            <a:ext cx="1023257"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7F9FC"/>
                </a:solidFill>
              </a:defRPr>
            </a:pPr>
            <a:r>
              <a:rPr sz="1200" b="1">
                <a:solidFill>
                  <a:srgbClr val="F7F9FC"/>
                </a:solidFill>
              </a:rPr>
              <a:t>Structure</a:t>
            </a:r>
          </a:p>
        </p:txBody>
      </p:sp>
      <p:sp>
        <p:nvSpPr>
          <p:cNvPr id="20" name="">
            <a:extLst xmlns:a="http://schemas.openxmlformats.org/drawingml/2006/main">
              <a:ext uri="{FF2B5EF4-FFF2-40B4-BE49-F238E27FC236}">
                <a16:creationId xmlns:a16="http://schemas.microsoft.com/office/drawing/2014/main" id="{D0AA4B19-37C8-4F96-8339-92C68934B5AA}"/>
              </a:ext>
            </a:extLst>
          </p:cNvPr>
          <p:cNvSpPr>
            <a:spLocks xmlns:a="http://schemas.openxmlformats.org/drawingml/2006/main" noGrp="1"/>
          </p:cNvSpPr>
          <p:nvPr/>
        </p:nvSpPr>
        <p:spPr>
          <a:xfrm xmlns:a="http://schemas.openxmlformats.org/drawingml/2006/main">
            <a:off x="3608614" y="3295650"/>
            <a:ext cx="1289957" cy="723900"/>
          </a:xfrm>
          <a:prstGeom xmlns:a="http://schemas.openxmlformats.org/drawingml/2006/main" prst="roundRect">
            <a:avLst>
              <a:gd name="adj" fmla="val 10526"/>
            </a:avLst>
          </a:prstGeom>
          <a:solidFill xmlns:a="http://schemas.openxmlformats.org/drawingml/2006/main">
            <a:srgbClr val="101217"/>
          </a:solidFill>
          <a:ln xmlns:a="http://schemas.openxmlformats.org/drawingml/2006/main" w="9525">
            <a:solidFill>
              <a:srgbClr val="39404D"/>
            </a:solidFill>
            <a:prstDash val="solid"/>
          </a:ln>
        </p:spPr>
      </p:sp>
      <p:sp>
        <p:nvSpPr>
          <p:cNvPr id="21" name="">
            <a:extLst xmlns:a="http://schemas.openxmlformats.org/drawingml/2006/main">
              <a:ext uri="{FF2B5EF4-FFF2-40B4-BE49-F238E27FC236}">
                <a16:creationId xmlns:a16="http://schemas.microsoft.com/office/drawing/2014/main" id="{16680429-E5AD-4F6D-A69C-58E513D1615D}"/>
              </a:ext>
            </a:extLst>
          </p:cNvPr>
          <p:cNvSpPr>
            <a:spLocks xmlns:a="http://schemas.openxmlformats.org/drawingml/2006/main" noGrp="1"/>
          </p:cNvSpPr>
          <p:nvPr/>
        </p:nvSpPr>
        <p:spPr>
          <a:xfrm xmlns:a="http://schemas.openxmlformats.org/drawingml/2006/main">
            <a:off x="3741964" y="33909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78AAFF"/>
                </a:solidFill>
              </a:defRPr>
            </a:pPr>
            <a:r>
              <a:rPr sz="825" b="1">
                <a:solidFill>
                  <a:srgbClr val="78AAFF"/>
                </a:solidFill>
              </a:rPr>
              <a:t>3</a:t>
            </a:r>
          </a:p>
        </p:txBody>
      </p:sp>
      <p:sp>
        <p:nvSpPr>
          <p:cNvPr id="22" name="">
            <a:extLst xmlns:a="http://schemas.openxmlformats.org/drawingml/2006/main">
              <a:ext uri="{FF2B5EF4-FFF2-40B4-BE49-F238E27FC236}">
                <a16:creationId xmlns:a16="http://schemas.microsoft.com/office/drawing/2014/main" id="{78441F6F-B06B-4992-9CEF-D1AC70B8C3BC}"/>
              </a:ext>
            </a:extLst>
          </p:cNvPr>
          <p:cNvSpPr>
            <a:spLocks xmlns:a="http://schemas.openxmlformats.org/drawingml/2006/main" noGrp="1"/>
          </p:cNvSpPr>
          <p:nvPr/>
        </p:nvSpPr>
        <p:spPr>
          <a:xfrm xmlns:a="http://schemas.openxmlformats.org/drawingml/2006/main">
            <a:off x="3741964" y="3590925"/>
            <a:ext cx="1023257"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7F9FC"/>
                </a:solidFill>
              </a:defRPr>
            </a:pPr>
            <a:r>
              <a:rPr sz="1200" b="1">
                <a:solidFill>
                  <a:srgbClr val="F7F9FC"/>
                </a:solidFill>
              </a:rPr>
              <a:t>Score</a:t>
            </a:r>
          </a:p>
        </p:txBody>
      </p:sp>
      <p:sp>
        <p:nvSpPr>
          <p:cNvPr id="23" name="">
            <a:extLst xmlns:a="http://schemas.openxmlformats.org/drawingml/2006/main">
              <a:ext uri="{FF2B5EF4-FFF2-40B4-BE49-F238E27FC236}">
                <a16:creationId xmlns:a16="http://schemas.microsoft.com/office/drawing/2014/main" id="{729C1D57-046A-45A8-A6DE-815896A8310F}"/>
              </a:ext>
            </a:extLst>
          </p:cNvPr>
          <p:cNvSpPr>
            <a:spLocks xmlns:a="http://schemas.openxmlformats.org/drawingml/2006/main" noGrp="1"/>
          </p:cNvSpPr>
          <p:nvPr/>
        </p:nvSpPr>
        <p:spPr>
          <a:xfrm xmlns:a="http://schemas.openxmlformats.org/drawingml/2006/main">
            <a:off x="5070021" y="3295650"/>
            <a:ext cx="1289957" cy="723900"/>
          </a:xfrm>
          <a:prstGeom xmlns:a="http://schemas.openxmlformats.org/drawingml/2006/main" prst="roundRect">
            <a:avLst>
              <a:gd name="adj" fmla="val 10526"/>
            </a:avLst>
          </a:prstGeom>
          <a:solidFill xmlns:a="http://schemas.openxmlformats.org/drawingml/2006/main">
            <a:srgbClr val="101217"/>
          </a:solidFill>
          <a:ln xmlns:a="http://schemas.openxmlformats.org/drawingml/2006/main" w="9525">
            <a:solidFill>
              <a:srgbClr val="39404D"/>
            </a:solidFill>
            <a:prstDash val="solid"/>
          </a:ln>
        </p:spPr>
      </p:sp>
      <p:sp>
        <p:nvSpPr>
          <p:cNvPr id="24" name="">
            <a:extLst xmlns:a="http://schemas.openxmlformats.org/drawingml/2006/main">
              <a:ext uri="{FF2B5EF4-FFF2-40B4-BE49-F238E27FC236}">
                <a16:creationId xmlns:a16="http://schemas.microsoft.com/office/drawing/2014/main" id="{C57F6117-8098-4B8C-BDE6-9340C79E2C61}"/>
              </a:ext>
            </a:extLst>
          </p:cNvPr>
          <p:cNvSpPr>
            <a:spLocks xmlns:a="http://schemas.openxmlformats.org/drawingml/2006/main" noGrp="1"/>
          </p:cNvSpPr>
          <p:nvPr/>
        </p:nvSpPr>
        <p:spPr>
          <a:xfrm xmlns:a="http://schemas.openxmlformats.org/drawingml/2006/main">
            <a:off x="5203371" y="33909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78AAFF"/>
                </a:solidFill>
              </a:defRPr>
            </a:pPr>
            <a:r>
              <a:rPr sz="825" b="1">
                <a:solidFill>
                  <a:srgbClr val="78AAFF"/>
                </a:solidFill>
              </a:rPr>
              <a:t>4</a:t>
            </a:r>
          </a:p>
        </p:txBody>
      </p:sp>
      <p:sp>
        <p:nvSpPr>
          <p:cNvPr id="25" name="">
            <a:extLst xmlns:a="http://schemas.openxmlformats.org/drawingml/2006/main">
              <a:ext uri="{FF2B5EF4-FFF2-40B4-BE49-F238E27FC236}">
                <a16:creationId xmlns:a16="http://schemas.microsoft.com/office/drawing/2014/main" id="{A3416133-CD27-46EE-B745-FD57DC57CFD5}"/>
              </a:ext>
            </a:extLst>
          </p:cNvPr>
          <p:cNvSpPr>
            <a:spLocks xmlns:a="http://schemas.openxmlformats.org/drawingml/2006/main" noGrp="1"/>
          </p:cNvSpPr>
          <p:nvPr/>
        </p:nvSpPr>
        <p:spPr>
          <a:xfrm xmlns:a="http://schemas.openxmlformats.org/drawingml/2006/main">
            <a:off x="5203371" y="3590925"/>
            <a:ext cx="1023257"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7F9FC"/>
                </a:solidFill>
              </a:defRPr>
            </a:pPr>
            <a:r>
              <a:rPr sz="1200" b="1">
                <a:solidFill>
                  <a:srgbClr val="F7F9FC"/>
                </a:solidFill>
              </a:rPr>
              <a:t>Confirm</a:t>
            </a:r>
          </a:p>
        </p:txBody>
      </p:sp>
      <p:sp>
        <p:nvSpPr>
          <p:cNvPr id="26" name="">
            <a:extLst xmlns:a="http://schemas.openxmlformats.org/drawingml/2006/main">
              <a:ext uri="{FF2B5EF4-FFF2-40B4-BE49-F238E27FC236}">
                <a16:creationId xmlns:a16="http://schemas.microsoft.com/office/drawing/2014/main" id="{9DA2EA8A-0563-4AB1-9D70-5C181E3DF257}"/>
              </a:ext>
            </a:extLst>
          </p:cNvPr>
          <p:cNvSpPr>
            <a:spLocks xmlns:a="http://schemas.openxmlformats.org/drawingml/2006/main" noGrp="1"/>
          </p:cNvSpPr>
          <p:nvPr/>
        </p:nvSpPr>
        <p:spPr>
          <a:xfrm xmlns:a="http://schemas.openxmlformats.org/drawingml/2006/main">
            <a:off x="6531429" y="3295650"/>
            <a:ext cx="1289957" cy="723900"/>
          </a:xfrm>
          <a:prstGeom xmlns:a="http://schemas.openxmlformats.org/drawingml/2006/main" prst="roundRect">
            <a:avLst>
              <a:gd name="adj" fmla="val 10526"/>
            </a:avLst>
          </a:prstGeom>
          <a:solidFill xmlns:a="http://schemas.openxmlformats.org/drawingml/2006/main">
            <a:srgbClr val="101217"/>
          </a:solidFill>
          <a:ln xmlns:a="http://schemas.openxmlformats.org/drawingml/2006/main" w="9525">
            <a:solidFill>
              <a:srgbClr val="39404D"/>
            </a:solidFill>
            <a:prstDash val="solid"/>
          </a:ln>
        </p:spPr>
      </p:sp>
      <p:sp>
        <p:nvSpPr>
          <p:cNvPr id="27" name="">
            <a:extLst xmlns:a="http://schemas.openxmlformats.org/drawingml/2006/main">
              <a:ext uri="{FF2B5EF4-FFF2-40B4-BE49-F238E27FC236}">
                <a16:creationId xmlns:a16="http://schemas.microsoft.com/office/drawing/2014/main" id="{FD8A5D17-2999-4C51-B11F-1A6ADAB8C3BD}"/>
              </a:ext>
            </a:extLst>
          </p:cNvPr>
          <p:cNvSpPr>
            <a:spLocks xmlns:a="http://schemas.openxmlformats.org/drawingml/2006/main" noGrp="1"/>
          </p:cNvSpPr>
          <p:nvPr/>
        </p:nvSpPr>
        <p:spPr>
          <a:xfrm xmlns:a="http://schemas.openxmlformats.org/drawingml/2006/main">
            <a:off x="6664779" y="33909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78AAFF"/>
                </a:solidFill>
              </a:defRPr>
            </a:pPr>
            <a:r>
              <a:rPr sz="825" b="1">
                <a:solidFill>
                  <a:srgbClr val="78AAFF"/>
                </a:solidFill>
              </a:rPr>
              <a:t>5</a:t>
            </a:r>
          </a:p>
        </p:txBody>
      </p:sp>
      <p:sp>
        <p:nvSpPr>
          <p:cNvPr id="28" name="">
            <a:extLst xmlns:a="http://schemas.openxmlformats.org/drawingml/2006/main">
              <a:ext uri="{FF2B5EF4-FFF2-40B4-BE49-F238E27FC236}">
                <a16:creationId xmlns:a16="http://schemas.microsoft.com/office/drawing/2014/main" id="{980A7A82-57A7-4C9D-8FD5-0454C4F70BD4}"/>
              </a:ext>
            </a:extLst>
          </p:cNvPr>
          <p:cNvSpPr>
            <a:spLocks xmlns:a="http://schemas.openxmlformats.org/drawingml/2006/main" noGrp="1"/>
          </p:cNvSpPr>
          <p:nvPr/>
        </p:nvSpPr>
        <p:spPr>
          <a:xfrm xmlns:a="http://schemas.openxmlformats.org/drawingml/2006/main">
            <a:off x="6664779" y="3590925"/>
            <a:ext cx="1023257"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7F9FC"/>
                </a:solidFill>
              </a:defRPr>
            </a:pPr>
            <a:r>
              <a:rPr sz="1200" b="1">
                <a:solidFill>
                  <a:srgbClr val="F7F9FC"/>
                </a:solidFill>
              </a:rPr>
              <a:t>Simulate</a:t>
            </a:r>
          </a:p>
        </p:txBody>
      </p:sp>
      <p:sp>
        <p:nvSpPr>
          <p:cNvPr id="29" name="">
            <a:extLst xmlns:a="http://schemas.openxmlformats.org/drawingml/2006/main">
              <a:ext uri="{FF2B5EF4-FFF2-40B4-BE49-F238E27FC236}">
                <a16:creationId xmlns:a16="http://schemas.microsoft.com/office/drawing/2014/main" id="{34B7B2F2-11D2-44CC-9BE4-15DC39301F9B}"/>
              </a:ext>
            </a:extLst>
          </p:cNvPr>
          <p:cNvSpPr>
            <a:spLocks xmlns:a="http://schemas.openxmlformats.org/drawingml/2006/main" noGrp="1"/>
          </p:cNvSpPr>
          <p:nvPr/>
        </p:nvSpPr>
        <p:spPr>
          <a:xfrm xmlns:a="http://schemas.openxmlformats.org/drawingml/2006/main">
            <a:off x="7992836" y="3295650"/>
            <a:ext cx="1289957" cy="723900"/>
          </a:xfrm>
          <a:prstGeom xmlns:a="http://schemas.openxmlformats.org/drawingml/2006/main" prst="roundRect">
            <a:avLst>
              <a:gd name="adj" fmla="val 10526"/>
            </a:avLst>
          </a:prstGeom>
          <a:solidFill xmlns:a="http://schemas.openxmlformats.org/drawingml/2006/main">
            <a:srgbClr val="101217"/>
          </a:solidFill>
          <a:ln xmlns:a="http://schemas.openxmlformats.org/drawingml/2006/main" w="9525">
            <a:solidFill>
              <a:srgbClr val="39404D"/>
            </a:solidFill>
            <a:prstDash val="solid"/>
          </a:ln>
        </p:spPr>
      </p:sp>
      <p:sp>
        <p:nvSpPr>
          <p:cNvPr id="30" name="">
            <a:extLst xmlns:a="http://schemas.openxmlformats.org/drawingml/2006/main">
              <a:ext uri="{FF2B5EF4-FFF2-40B4-BE49-F238E27FC236}">
                <a16:creationId xmlns:a16="http://schemas.microsoft.com/office/drawing/2014/main" id="{B4CA19BA-7F2E-4E9D-9CB2-BC8E77B1D916}"/>
              </a:ext>
            </a:extLst>
          </p:cNvPr>
          <p:cNvSpPr>
            <a:spLocks xmlns:a="http://schemas.openxmlformats.org/drawingml/2006/main" noGrp="1"/>
          </p:cNvSpPr>
          <p:nvPr/>
        </p:nvSpPr>
        <p:spPr>
          <a:xfrm xmlns:a="http://schemas.openxmlformats.org/drawingml/2006/main">
            <a:off x="8126186" y="33909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78AAFF"/>
                </a:solidFill>
              </a:defRPr>
            </a:pPr>
            <a:r>
              <a:rPr sz="825" b="1">
                <a:solidFill>
                  <a:srgbClr val="78AAFF"/>
                </a:solidFill>
              </a:rPr>
              <a:t>6</a:t>
            </a:r>
          </a:p>
        </p:txBody>
      </p:sp>
      <p:sp>
        <p:nvSpPr>
          <p:cNvPr id="31" name="">
            <a:extLst xmlns:a="http://schemas.openxmlformats.org/drawingml/2006/main">
              <a:ext uri="{FF2B5EF4-FFF2-40B4-BE49-F238E27FC236}">
                <a16:creationId xmlns:a16="http://schemas.microsoft.com/office/drawing/2014/main" id="{E939FFE0-9E8D-4245-A0D3-3A132CF0E0FE}"/>
              </a:ext>
            </a:extLst>
          </p:cNvPr>
          <p:cNvSpPr>
            <a:spLocks xmlns:a="http://schemas.openxmlformats.org/drawingml/2006/main" noGrp="1"/>
          </p:cNvSpPr>
          <p:nvPr/>
        </p:nvSpPr>
        <p:spPr>
          <a:xfrm xmlns:a="http://schemas.openxmlformats.org/drawingml/2006/main">
            <a:off x="8126186" y="3590925"/>
            <a:ext cx="1023257"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7F9FC"/>
                </a:solidFill>
              </a:defRPr>
            </a:pPr>
            <a:r>
              <a:rPr sz="1200" b="1">
                <a:solidFill>
                  <a:srgbClr val="F7F9FC"/>
                </a:solidFill>
              </a:rPr>
              <a:t>Optimize</a:t>
            </a:r>
          </a:p>
        </p:txBody>
      </p:sp>
      <p:sp>
        <p:nvSpPr>
          <p:cNvPr id="32" name="">
            <a:extLst xmlns:a="http://schemas.openxmlformats.org/drawingml/2006/main">
              <a:ext uri="{FF2B5EF4-FFF2-40B4-BE49-F238E27FC236}">
                <a16:creationId xmlns:a16="http://schemas.microsoft.com/office/drawing/2014/main" id="{C1BC9920-B665-43E7-827F-F216177888CD}"/>
              </a:ext>
            </a:extLst>
          </p:cNvPr>
          <p:cNvSpPr>
            <a:spLocks xmlns:a="http://schemas.openxmlformats.org/drawingml/2006/main" noGrp="1"/>
          </p:cNvSpPr>
          <p:nvPr/>
        </p:nvSpPr>
        <p:spPr>
          <a:xfrm xmlns:a="http://schemas.openxmlformats.org/drawingml/2006/main">
            <a:off x="9454243" y="3295650"/>
            <a:ext cx="1289957" cy="723900"/>
          </a:xfrm>
          <a:prstGeom xmlns:a="http://schemas.openxmlformats.org/drawingml/2006/main" prst="roundRect">
            <a:avLst>
              <a:gd name="adj" fmla="val 10526"/>
            </a:avLst>
          </a:prstGeom>
          <a:solidFill xmlns:a="http://schemas.openxmlformats.org/drawingml/2006/main">
            <a:srgbClr val="101217"/>
          </a:solidFill>
          <a:ln xmlns:a="http://schemas.openxmlformats.org/drawingml/2006/main" w="9525">
            <a:solidFill>
              <a:srgbClr val="39404D"/>
            </a:solidFill>
            <a:prstDash val="solid"/>
          </a:ln>
        </p:spPr>
      </p:sp>
      <p:sp>
        <p:nvSpPr>
          <p:cNvPr id="33" name="">
            <a:extLst xmlns:a="http://schemas.openxmlformats.org/drawingml/2006/main">
              <a:ext uri="{FF2B5EF4-FFF2-40B4-BE49-F238E27FC236}">
                <a16:creationId xmlns:a16="http://schemas.microsoft.com/office/drawing/2014/main" id="{E77AD8C0-579A-4E0A-8D95-EC144083146E}"/>
              </a:ext>
            </a:extLst>
          </p:cNvPr>
          <p:cNvSpPr>
            <a:spLocks xmlns:a="http://schemas.openxmlformats.org/drawingml/2006/main" noGrp="1"/>
          </p:cNvSpPr>
          <p:nvPr/>
        </p:nvSpPr>
        <p:spPr>
          <a:xfrm xmlns:a="http://schemas.openxmlformats.org/drawingml/2006/main">
            <a:off x="9587593" y="339090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78AAFF"/>
                </a:solidFill>
              </a:defRPr>
            </a:pPr>
            <a:r>
              <a:rPr sz="825" b="1">
                <a:solidFill>
                  <a:srgbClr val="78AAFF"/>
                </a:solidFill>
              </a:rPr>
              <a:t>7</a:t>
            </a:r>
          </a:p>
        </p:txBody>
      </p:sp>
      <p:sp>
        <p:nvSpPr>
          <p:cNvPr id="34" name="">
            <a:extLst xmlns:a="http://schemas.openxmlformats.org/drawingml/2006/main">
              <a:ext uri="{FF2B5EF4-FFF2-40B4-BE49-F238E27FC236}">
                <a16:creationId xmlns:a16="http://schemas.microsoft.com/office/drawing/2014/main" id="{5498DC4E-EB15-42EB-B464-4EB5046419AC}"/>
              </a:ext>
            </a:extLst>
          </p:cNvPr>
          <p:cNvSpPr>
            <a:spLocks xmlns:a="http://schemas.openxmlformats.org/drawingml/2006/main" noGrp="1"/>
          </p:cNvSpPr>
          <p:nvPr/>
        </p:nvSpPr>
        <p:spPr>
          <a:xfrm xmlns:a="http://schemas.openxmlformats.org/drawingml/2006/main">
            <a:off x="9587593" y="3590925"/>
            <a:ext cx="1023257"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7F9FC"/>
                </a:solidFill>
              </a:defRPr>
            </a:pPr>
            <a:r>
              <a:rPr sz="1200" b="1">
                <a:solidFill>
                  <a:srgbClr val="F7F9FC"/>
                </a:solidFill>
              </a:rPr>
              <a:t>Approve</a:t>
            </a:r>
          </a:p>
        </p:txBody>
      </p:sp>
      <p:sp>
        <p:nvSpPr>
          <p:cNvPr id="35" name="">
            <a:extLst xmlns:a="http://schemas.openxmlformats.org/drawingml/2006/main">
              <a:ext uri="{FF2B5EF4-FFF2-40B4-BE49-F238E27FC236}">
                <a16:creationId xmlns:a16="http://schemas.microsoft.com/office/drawing/2014/main" id="{8A4B7DCB-FBA6-4069-8E07-58CA01DDF2DC}"/>
              </a:ext>
            </a:extLst>
          </p:cNvPr>
          <p:cNvSpPr>
            <a:spLocks xmlns:a="http://schemas.openxmlformats.org/drawingml/2006/main" noGrp="1"/>
          </p:cNvSpPr>
          <p:nvPr/>
        </p:nvSpPr>
        <p:spPr>
          <a:xfrm xmlns:a="http://schemas.openxmlformats.org/drawingml/2006/main">
            <a:off x="838200" y="41910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87180"/>
                </a:solidFill>
              </a:defRPr>
            </a:pPr>
            <a:r>
              <a:rPr sz="975" b="1">
                <a:solidFill>
                  <a:srgbClr val="687180"/>
                </a:solidFill>
              </a:rPr>
              <a:t>User-entered</a:t>
            </a:r>
          </a:p>
        </p:txBody>
      </p:sp>
      <p:sp>
        <p:nvSpPr>
          <p:cNvPr id="36" name="">
            <a:extLst xmlns:a="http://schemas.openxmlformats.org/drawingml/2006/main">
              <a:ext uri="{FF2B5EF4-FFF2-40B4-BE49-F238E27FC236}">
                <a16:creationId xmlns:a16="http://schemas.microsoft.com/office/drawing/2014/main" id="{CB980908-092A-4A50-A996-B407F33D9CD2}"/>
              </a:ext>
            </a:extLst>
          </p:cNvPr>
          <p:cNvSpPr>
            <a:spLocks xmlns:a="http://schemas.openxmlformats.org/drawingml/2006/main" noGrp="1"/>
          </p:cNvSpPr>
          <p:nvPr/>
        </p:nvSpPr>
        <p:spPr>
          <a:xfrm xmlns:a="http://schemas.openxmlformats.org/drawingml/2006/main">
            <a:off x="2133600" y="41910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87180"/>
                </a:solidFill>
              </a:defRPr>
            </a:pPr>
            <a:r>
              <a:rPr sz="975" b="1">
                <a:solidFill>
                  <a:srgbClr val="687180"/>
                </a:solidFill>
              </a:rPr>
              <a:t>Gemini + schema</a:t>
            </a:r>
          </a:p>
        </p:txBody>
      </p:sp>
      <p:sp>
        <p:nvSpPr>
          <p:cNvPr id="37" name="">
            <a:extLst xmlns:a="http://schemas.openxmlformats.org/drawingml/2006/main">
              <a:ext uri="{FF2B5EF4-FFF2-40B4-BE49-F238E27FC236}">
                <a16:creationId xmlns:a16="http://schemas.microsoft.com/office/drawing/2014/main" id="{D772290F-C3AC-46A1-9D3A-E27C51EAF537}"/>
              </a:ext>
            </a:extLst>
          </p:cNvPr>
          <p:cNvSpPr>
            <a:spLocks xmlns:a="http://schemas.openxmlformats.org/drawingml/2006/main" noGrp="1"/>
          </p:cNvSpPr>
          <p:nvPr/>
        </p:nvSpPr>
        <p:spPr>
          <a:xfrm xmlns:a="http://schemas.openxmlformats.org/drawingml/2006/main">
            <a:off x="3552825" y="41910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87180"/>
                </a:solidFill>
              </a:defRPr>
            </a:pPr>
            <a:r>
              <a:rPr sz="975" b="1">
                <a:solidFill>
                  <a:srgbClr val="687180"/>
                </a:solidFill>
              </a:rPr>
              <a:t>Deterministic DPS</a:t>
            </a:r>
          </a:p>
        </p:txBody>
      </p:sp>
      <p:sp>
        <p:nvSpPr>
          <p:cNvPr id="38" name="">
            <a:extLst xmlns:a="http://schemas.openxmlformats.org/drawingml/2006/main">
              <a:ext uri="{FF2B5EF4-FFF2-40B4-BE49-F238E27FC236}">
                <a16:creationId xmlns:a16="http://schemas.microsoft.com/office/drawing/2014/main" id="{B32582AE-10A5-4A53-A994-BF829B375760}"/>
              </a:ext>
            </a:extLst>
          </p:cNvPr>
          <p:cNvSpPr>
            <a:spLocks xmlns:a="http://schemas.openxmlformats.org/drawingml/2006/main" noGrp="1"/>
          </p:cNvSpPr>
          <p:nvPr/>
        </p:nvSpPr>
        <p:spPr>
          <a:xfrm xmlns:a="http://schemas.openxmlformats.org/drawingml/2006/main">
            <a:off x="4981575" y="41910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87180"/>
                </a:solidFill>
              </a:defRPr>
            </a:pPr>
            <a:r>
              <a:rPr sz="975" b="1">
                <a:solidFill>
                  <a:srgbClr val="687180"/>
                </a:solidFill>
              </a:rPr>
              <a:t>Analyst gate</a:t>
            </a:r>
          </a:p>
        </p:txBody>
      </p:sp>
      <p:sp>
        <p:nvSpPr>
          <p:cNvPr id="39" name="">
            <a:extLst xmlns:a="http://schemas.openxmlformats.org/drawingml/2006/main">
              <a:ext uri="{FF2B5EF4-FFF2-40B4-BE49-F238E27FC236}">
                <a16:creationId xmlns:a16="http://schemas.microsoft.com/office/drawing/2014/main" id="{152E4F51-59C6-43E8-B819-382570276173}"/>
              </a:ext>
            </a:extLst>
          </p:cNvPr>
          <p:cNvSpPr>
            <a:spLocks xmlns:a="http://schemas.openxmlformats.org/drawingml/2006/main" noGrp="1"/>
          </p:cNvSpPr>
          <p:nvPr/>
        </p:nvSpPr>
        <p:spPr>
          <a:xfrm xmlns:a="http://schemas.openxmlformats.org/drawingml/2006/main">
            <a:off x="6419850" y="41910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87180"/>
                </a:solidFill>
              </a:defRPr>
            </a:pPr>
            <a:r>
              <a:rPr sz="975" b="1">
                <a:solidFill>
                  <a:srgbClr val="687180"/>
                </a:solidFill>
              </a:rPr>
              <a:t>Monte Carlo</a:t>
            </a:r>
          </a:p>
        </p:txBody>
      </p:sp>
      <p:sp>
        <p:nvSpPr>
          <p:cNvPr id="40" name="">
            <a:extLst xmlns:a="http://schemas.openxmlformats.org/drawingml/2006/main">
              <a:ext uri="{FF2B5EF4-FFF2-40B4-BE49-F238E27FC236}">
                <a16:creationId xmlns:a16="http://schemas.microsoft.com/office/drawing/2014/main" id="{0A44984A-0648-4DE3-B780-A1ED0E36131B}"/>
              </a:ext>
            </a:extLst>
          </p:cNvPr>
          <p:cNvSpPr>
            <a:spLocks xmlns:a="http://schemas.openxmlformats.org/drawingml/2006/main" noGrp="1"/>
          </p:cNvSpPr>
          <p:nvPr/>
        </p:nvSpPr>
        <p:spPr>
          <a:xfrm xmlns:a="http://schemas.openxmlformats.org/drawingml/2006/main">
            <a:off x="7848600" y="41910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87180"/>
                </a:solidFill>
              </a:defRPr>
            </a:pPr>
            <a:r>
              <a:rPr sz="975" b="1">
                <a:solidFill>
                  <a:srgbClr val="687180"/>
                </a:solidFill>
              </a:rPr>
              <a:t>OR-Tools</a:t>
            </a:r>
          </a:p>
        </p:txBody>
      </p:sp>
      <p:sp>
        <p:nvSpPr>
          <p:cNvPr id="41" name="">
            <a:extLst xmlns:a="http://schemas.openxmlformats.org/drawingml/2006/main">
              <a:ext uri="{FF2B5EF4-FFF2-40B4-BE49-F238E27FC236}">
                <a16:creationId xmlns:a16="http://schemas.microsoft.com/office/drawing/2014/main" id="{6E28B009-A159-49FB-8150-A4DC0A1C30E1}"/>
              </a:ext>
            </a:extLst>
          </p:cNvPr>
          <p:cNvSpPr>
            <a:spLocks xmlns:a="http://schemas.openxmlformats.org/drawingml/2006/main" noGrp="1"/>
          </p:cNvSpPr>
          <p:nvPr/>
        </p:nvSpPr>
        <p:spPr>
          <a:xfrm xmlns:a="http://schemas.openxmlformats.org/drawingml/2006/main">
            <a:off x="9277350" y="41910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87180"/>
                </a:solidFill>
              </a:defRPr>
            </a:pPr>
            <a:r>
              <a:rPr sz="975" b="1">
                <a:solidFill>
                  <a:srgbClr val="687180"/>
                </a:solidFill>
              </a:rPr>
              <a:t>Local only</a:t>
            </a:r>
          </a:p>
        </p:txBody>
      </p:sp>
      <p:sp>
        <p:nvSpPr>
          <p:cNvPr id="42" name="">
            <a:extLst xmlns:a="http://schemas.openxmlformats.org/drawingml/2006/main">
              <a:ext uri="{FF2B5EF4-FFF2-40B4-BE49-F238E27FC236}">
                <a16:creationId xmlns:a16="http://schemas.microsoft.com/office/drawing/2014/main" id="{CD251B7A-84ED-4158-9531-B9B18BF08D28}"/>
              </a:ext>
            </a:extLst>
          </p:cNvPr>
          <p:cNvSpPr>
            <a:spLocks xmlns:a="http://schemas.openxmlformats.org/drawingml/2006/main" noGrp="1"/>
          </p:cNvSpPr>
          <p:nvPr/>
        </p:nvSpPr>
        <p:spPr>
          <a:xfrm xmlns:a="http://schemas.openxmlformats.org/drawingml/2006/main">
            <a:off x="685800" y="4886325"/>
            <a:ext cx="1005840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43" name="">
            <a:extLst xmlns:a="http://schemas.openxmlformats.org/drawingml/2006/main">
              <a:ext uri="{FF2B5EF4-FFF2-40B4-BE49-F238E27FC236}">
                <a16:creationId xmlns:a16="http://schemas.microsoft.com/office/drawing/2014/main" id="{BDCFD99D-D033-4EDA-9162-21C41B41BA2B}"/>
              </a:ext>
            </a:extLst>
          </p:cNvPr>
          <p:cNvSpPr>
            <a:spLocks xmlns:a="http://schemas.openxmlformats.org/drawingml/2006/main" noGrp="1"/>
          </p:cNvSpPr>
          <p:nvPr/>
        </p:nvSpPr>
        <p:spPr>
          <a:xfrm xmlns:a="http://schemas.openxmlformats.org/drawingml/2006/main">
            <a:off x="685800" y="514350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8AAFF"/>
                </a:solidFill>
              </a:defRPr>
            </a:pPr>
            <a:r>
              <a:rPr sz="1050" b="1">
                <a:solidFill>
                  <a:srgbClr val="78AAFF"/>
                </a:solidFill>
              </a:rPr>
              <a:t>Key insight</a:t>
            </a:r>
          </a:p>
        </p:txBody>
      </p:sp>
      <p:sp>
        <p:nvSpPr>
          <p:cNvPr id="44" name="">
            <a:extLst xmlns:a="http://schemas.openxmlformats.org/drawingml/2006/main">
              <a:ext uri="{FF2B5EF4-FFF2-40B4-BE49-F238E27FC236}">
                <a16:creationId xmlns:a16="http://schemas.microsoft.com/office/drawing/2014/main" id="{EC2C4EDD-DC4D-4576-862D-C011C6A4674B}"/>
              </a:ext>
            </a:extLst>
          </p:cNvPr>
          <p:cNvSpPr>
            <a:spLocks xmlns:a="http://schemas.openxmlformats.org/drawingml/2006/main" noGrp="1"/>
          </p:cNvSpPr>
          <p:nvPr/>
        </p:nvSpPr>
        <p:spPr>
          <a:xfrm xmlns:a="http://schemas.openxmlformats.org/drawingml/2006/main">
            <a:off x="2143125" y="50863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7F9FC"/>
                </a:solidFill>
              </a:defRPr>
            </a:pPr>
            <a:r>
              <a:rPr sz="1725" b="1">
                <a:solidFill>
                  <a:srgbClr val="F7F9FC"/>
                </a:solidFill>
              </a:rPr>
              <a:t>The system never turns a raw signal directly into a purchase order.</a:t>
            </a:r>
          </a:p>
        </p:txBody>
      </p:sp>
    </p:spTree>
    <p:extLst>
      <p:ext uri="{BB962C8B-B14F-4D97-AF65-F5344CB8AC3E}">
        <p14:creationId xmlns:p14="http://schemas.microsoft.com/office/powerpoint/2010/main" val="1167572295"/>
      </p:ext>
    </p:extLst>
  </p:cSld>
</p:sld>
</file>

<file path=ppt/slides/slide4.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BB5F73F-557C-49F1-9C68-A5DA3237574A}"/>
              </a:ext>
            </a:extLst>
          </p:cNvPr>
          <p:cNvSpPr>
            <a:spLocks xmlns:a="http://schemas.openxmlformats.org/drawingml/2006/main" noGrp="1"/>
          </p:cNvSpPr>
          <p:nvPr/>
        </p:nvSpPr>
        <p:spPr>
          <a:xfrm xmlns:a="http://schemas.openxmlformats.org/drawingml/2006/main">
            <a:off x="685800" y="3714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PETRAVIGIL</a:t>
            </a:r>
          </a:p>
        </p:txBody>
      </p:sp>
      <p:sp>
        <p:nvSpPr>
          <p:cNvPr id="2" name="">
            <a:extLst xmlns:a="http://schemas.openxmlformats.org/drawingml/2006/main">
              <a:ext uri="{FF2B5EF4-FFF2-40B4-BE49-F238E27FC236}">
                <a16:creationId xmlns:a16="http://schemas.microsoft.com/office/drawing/2014/main" id="{F10D08CC-1466-4F3E-A002-50DEFEE572A3}"/>
              </a:ext>
            </a:extLst>
          </p:cNvPr>
          <p:cNvSpPr>
            <a:spLocks xmlns:a="http://schemas.openxmlformats.org/drawingml/2006/main" noGrp="1"/>
          </p:cNvSpPr>
          <p:nvPr/>
        </p:nvSpPr>
        <p:spPr>
          <a:xfrm xmlns:a="http://schemas.openxmlformats.org/drawingml/2006/main">
            <a:off x="685800" y="6286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98A1AF"/>
                </a:solidFill>
              </a:defRPr>
            </a:pPr>
            <a:r>
              <a:rPr sz="900" b="1">
                <a:solidFill>
                  <a:srgbClr val="98A1AF"/>
                </a:solidFill>
              </a:rPr>
              <a:t>AI INNOVATION</a:t>
            </a:r>
          </a:p>
        </p:txBody>
      </p:sp>
      <p:sp>
        <p:nvSpPr>
          <p:cNvPr id="3" name="">
            <a:extLst xmlns:a="http://schemas.openxmlformats.org/drawingml/2006/main">
              <a:ext uri="{FF2B5EF4-FFF2-40B4-BE49-F238E27FC236}">
                <a16:creationId xmlns:a16="http://schemas.microsoft.com/office/drawing/2014/main" id="{342FF3AC-D63C-4BA2-8448-ACBD2D0D0EE9}"/>
              </a:ext>
            </a:extLst>
          </p:cNvPr>
          <p:cNvSpPr>
            <a:spLocks xmlns:a="http://schemas.openxmlformats.org/drawingml/2006/main" noGrp="1"/>
          </p:cNvSpPr>
          <p:nvPr/>
        </p:nvSpPr>
        <p:spPr>
          <a:xfrm xmlns:a="http://schemas.openxmlformats.org/drawingml/2006/main">
            <a:off x="685800" y="962025"/>
            <a:ext cx="647700" cy="28575"/>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4" name="">
            <a:extLst xmlns:a="http://schemas.openxmlformats.org/drawingml/2006/main">
              <a:ext uri="{FF2B5EF4-FFF2-40B4-BE49-F238E27FC236}">
                <a16:creationId xmlns:a16="http://schemas.microsoft.com/office/drawing/2014/main" id="{C3EA7673-2ECD-4108-843A-EBEC67F99DA2}"/>
              </a:ext>
            </a:extLst>
          </p:cNvPr>
          <p:cNvSpPr>
            <a:spLocks xmlns:a="http://schemas.openxmlformats.org/drawingml/2006/main" noGrp="1"/>
          </p:cNvSpPr>
          <p:nvPr/>
        </p:nvSpPr>
        <p:spPr>
          <a:xfrm xmlns:a="http://schemas.openxmlformats.org/drawingml/2006/main">
            <a:off x="685800" y="12192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F7F9FC"/>
                </a:solidFill>
              </a:defRPr>
            </a:pPr>
            <a:r>
              <a:rPr sz="3300" b="1">
                <a:solidFill>
                  <a:srgbClr val="F7F9FC"/>
                </a:solidFill>
              </a:rPr>
              <a:t>AI interprets uncertainty. Engineering decides what is feasible.</a:t>
            </a:r>
          </a:p>
        </p:txBody>
      </p:sp>
      <p:sp>
        <p:nvSpPr>
          <p:cNvPr id="5" name="">
            <a:extLst xmlns:a="http://schemas.openxmlformats.org/drawingml/2006/main">
              <a:ext uri="{FF2B5EF4-FFF2-40B4-BE49-F238E27FC236}">
                <a16:creationId xmlns:a16="http://schemas.microsoft.com/office/drawing/2014/main" id="{8BA2A125-10CD-4A75-BD7A-58ACA7105BA5}"/>
              </a:ext>
            </a:extLst>
          </p:cNvPr>
          <p:cNvSpPr>
            <a:spLocks xmlns:a="http://schemas.openxmlformats.org/drawingml/2006/main" noGrp="1"/>
          </p:cNvSpPr>
          <p:nvPr/>
        </p:nvSpPr>
        <p:spPr>
          <a:xfrm xmlns:a="http://schemas.openxmlformats.org/drawingml/2006/main">
            <a:off x="10972800" y="61626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0"/>
                </a:solidFill>
              </a:defRPr>
            </a:pPr>
            <a:r>
              <a:rPr sz="975" b="1">
                <a:solidFill>
                  <a:srgbClr val="687180"/>
                </a:solidFill>
              </a:rPr>
              <a:t>04 / 10</a:t>
            </a:r>
          </a:p>
        </p:txBody>
      </p:sp>
      <p:sp>
        <p:nvSpPr>
          <p:cNvPr id="6" name="">
            <a:extLst xmlns:a="http://schemas.openxmlformats.org/drawingml/2006/main">
              <a:ext uri="{FF2B5EF4-FFF2-40B4-BE49-F238E27FC236}">
                <a16:creationId xmlns:a16="http://schemas.microsoft.com/office/drawing/2014/main" id="{C4051428-E70D-452B-997C-167569D91731}"/>
              </a:ext>
            </a:extLst>
          </p:cNvPr>
          <p:cNvSpPr>
            <a:spLocks xmlns:a="http://schemas.openxmlformats.org/drawingml/2006/main" noGrp="1"/>
          </p:cNvSpPr>
          <p:nvPr/>
        </p:nvSpPr>
        <p:spPr>
          <a:xfrm xmlns:a="http://schemas.openxmlformats.org/drawingml/2006/main">
            <a:off x="685800" y="6257925"/>
            <a:ext cx="742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CURRENT REPOSITORY · VERIFIED CAPABILITIES</a:t>
            </a:r>
          </a:p>
        </p:txBody>
      </p:sp>
      <p:sp>
        <p:nvSpPr>
          <p:cNvPr id="7" name="">
            <a:extLst xmlns:a="http://schemas.openxmlformats.org/drawingml/2006/main">
              <a:ext uri="{FF2B5EF4-FFF2-40B4-BE49-F238E27FC236}">
                <a16:creationId xmlns:a16="http://schemas.microsoft.com/office/drawing/2014/main" id="{4B065884-73A4-4897-A90C-0FD9297D2B2D}"/>
              </a:ext>
            </a:extLst>
          </p:cNvPr>
          <p:cNvSpPr>
            <a:spLocks xmlns:a="http://schemas.openxmlformats.org/drawingml/2006/main" noGrp="1"/>
          </p:cNvSpPr>
          <p:nvPr/>
        </p:nvSpPr>
        <p:spPr>
          <a:xfrm xmlns:a="http://schemas.openxmlformats.org/drawingml/2006/main">
            <a:off x="685800" y="2333625"/>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98A1AF"/>
                </a:solidFill>
              </a:defRPr>
            </a:pPr>
            <a:r>
              <a:rPr sz="1350" b="0">
                <a:solidFill>
                  <a:srgbClr val="98A1AF"/>
                </a:solidFill>
              </a:rPr>
              <a:t>Gemini is deliberately narrow: structured extraction and executive explanation. It never supplies the decisive numbers, constraints, or approval.</a:t>
            </a:r>
          </a:p>
        </p:txBody>
      </p:sp>
      <p:sp>
        <p:nvSpPr>
          <p:cNvPr id="8" name="">
            <a:extLst xmlns:a="http://schemas.openxmlformats.org/drawingml/2006/main">
              <a:ext uri="{FF2B5EF4-FFF2-40B4-BE49-F238E27FC236}">
                <a16:creationId xmlns:a16="http://schemas.microsoft.com/office/drawing/2014/main" id="{8832FDEF-ABDA-4B8C-BAEE-3FB71ABB157B}"/>
              </a:ext>
            </a:extLst>
          </p:cNvPr>
          <p:cNvSpPr>
            <a:spLocks xmlns:a="http://schemas.openxmlformats.org/drawingml/2006/main" noGrp="1"/>
          </p:cNvSpPr>
          <p:nvPr/>
        </p:nvSpPr>
        <p:spPr>
          <a:xfrm xmlns:a="http://schemas.openxmlformats.org/drawingml/2006/main">
            <a:off x="5676900" y="3238500"/>
            <a:ext cx="80010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9" name="">
            <a:extLst xmlns:a="http://schemas.openxmlformats.org/drawingml/2006/main">
              <a:ext uri="{FF2B5EF4-FFF2-40B4-BE49-F238E27FC236}">
                <a16:creationId xmlns:a16="http://schemas.microsoft.com/office/drawing/2014/main" id="{A9BF8344-0712-4C93-AAB2-6C68EDA224C9}"/>
              </a:ext>
            </a:extLst>
          </p:cNvPr>
          <p:cNvSpPr>
            <a:spLocks xmlns:a="http://schemas.openxmlformats.org/drawingml/2006/main" noGrp="1"/>
          </p:cNvSpPr>
          <p:nvPr/>
        </p:nvSpPr>
        <p:spPr>
          <a:xfrm xmlns:a="http://schemas.openxmlformats.org/drawingml/2006/main">
            <a:off x="685800" y="3181350"/>
            <a:ext cx="4419600" cy="1695450"/>
          </a:xfrm>
          <a:prstGeom xmlns:a="http://schemas.openxmlformats.org/drawingml/2006/main" prst="roundRect">
            <a:avLst>
              <a:gd name="adj" fmla="val 5618"/>
            </a:avLst>
          </a:prstGeom>
          <a:solidFill xmlns:a="http://schemas.openxmlformats.org/drawingml/2006/main">
            <a:srgbClr val="101217"/>
          </a:solidFill>
          <a:ln xmlns:a="http://schemas.openxmlformats.org/drawingml/2006/main" w="9525">
            <a:solidFill>
              <a:srgbClr val="39404D"/>
            </a:solidFill>
            <a:prstDash val="solid"/>
          </a:ln>
        </p:spPr>
      </p:sp>
      <p:sp>
        <p:nvSpPr>
          <p:cNvPr id="10" name="">
            <a:extLst xmlns:a="http://schemas.openxmlformats.org/drawingml/2006/main">
              <a:ext uri="{FF2B5EF4-FFF2-40B4-BE49-F238E27FC236}">
                <a16:creationId xmlns:a16="http://schemas.microsoft.com/office/drawing/2014/main" id="{7AC97AC7-9FE0-41F1-848E-71A772F44ADF}"/>
              </a:ext>
            </a:extLst>
          </p:cNvPr>
          <p:cNvSpPr>
            <a:spLocks xmlns:a="http://schemas.openxmlformats.org/drawingml/2006/main" noGrp="1"/>
          </p:cNvSpPr>
          <p:nvPr/>
        </p:nvSpPr>
        <p:spPr>
          <a:xfrm xmlns:a="http://schemas.openxmlformats.org/drawingml/2006/main">
            <a:off x="685800" y="3181350"/>
            <a:ext cx="47625" cy="1695450"/>
          </a:xfrm>
          <a:prstGeom xmlns:a="http://schemas.openxmlformats.org/drawingml/2006/main" prst="roundRect">
            <a:avLst>
              <a:gd name="adj" fmla="val 50000"/>
            </a:avLst>
          </a:prstGeom>
          <a:solidFill xmlns:a="http://schemas.openxmlformats.org/drawingml/2006/main">
            <a:srgbClr val="4D8DFF"/>
          </a:solidFill>
          <a:ln xmlns:a="http://schemas.openxmlformats.org/drawingml/2006/main" w="0">
            <a:solidFill>
              <a:srgbClr val="4D8DFF"/>
            </a:solidFill>
            <a:prstDash val="solid"/>
          </a:ln>
        </p:spPr>
      </p:sp>
      <p:sp>
        <p:nvSpPr>
          <p:cNvPr id="11" name="">
            <a:extLst xmlns:a="http://schemas.openxmlformats.org/drawingml/2006/main">
              <a:ext uri="{FF2B5EF4-FFF2-40B4-BE49-F238E27FC236}">
                <a16:creationId xmlns:a16="http://schemas.microsoft.com/office/drawing/2014/main" id="{BEFD24D8-D668-4D74-A088-A12535810B85}"/>
              </a:ext>
            </a:extLst>
          </p:cNvPr>
          <p:cNvSpPr>
            <a:spLocks xmlns:a="http://schemas.openxmlformats.org/drawingml/2006/main" noGrp="1"/>
          </p:cNvSpPr>
          <p:nvPr/>
        </p:nvSpPr>
        <p:spPr>
          <a:xfrm xmlns:a="http://schemas.openxmlformats.org/drawingml/2006/main">
            <a:off x="895350" y="3352800"/>
            <a:ext cx="405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Gemini 2.5 Flash</a:t>
            </a:r>
          </a:p>
        </p:txBody>
      </p:sp>
      <p:sp>
        <p:nvSpPr>
          <p:cNvPr id="12" name="">
            <a:extLst xmlns:a="http://schemas.openxmlformats.org/drawingml/2006/main">
              <a:ext uri="{FF2B5EF4-FFF2-40B4-BE49-F238E27FC236}">
                <a16:creationId xmlns:a16="http://schemas.microsoft.com/office/drawing/2014/main" id="{61F37A05-3D22-47F9-BBD8-099BC7627A75}"/>
              </a:ext>
            </a:extLst>
          </p:cNvPr>
          <p:cNvSpPr>
            <a:spLocks xmlns:a="http://schemas.openxmlformats.org/drawingml/2006/main" noGrp="1"/>
          </p:cNvSpPr>
          <p:nvPr/>
        </p:nvSpPr>
        <p:spPr>
          <a:xfrm xmlns:a="http://schemas.openxmlformats.org/drawingml/2006/main">
            <a:off x="895350" y="3667125"/>
            <a:ext cx="409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 Extracts an unverified event proposal</a:t>
            </a:r>
          </a:p>
          <a:p xmlns:a="http://schemas.openxmlformats.org/drawingml/2006/main">
            <a:pPr algn="l">
              <a:defRPr sz="1050" b="0">
                <a:solidFill>
                  <a:srgbClr val="98A1AF"/>
                </a:solidFill>
              </a:defRPr>
            </a:pPr>
            <a:r>
              <a:rPr sz="1050" b="0">
                <a:solidFill>
                  <a:srgbClr val="98A1AF"/>
                </a:solidFill>
              </a:rPr>
              <a:t>• Produces constrained executive language</a:t>
            </a:r>
          </a:p>
          <a:p xmlns:a="http://schemas.openxmlformats.org/drawingml/2006/main">
            <a:pPr algn="l">
              <a:defRPr sz="1050" b="0">
                <a:solidFill>
                  <a:srgbClr val="98A1AF"/>
                </a:solidFill>
              </a:defRPr>
            </a:pPr>
            <a:r>
              <a:rPr sz="1050" b="0">
                <a:solidFill>
                  <a:srgbClr val="98A1AF"/>
                </a:solidFill>
              </a:rPr>
              <a:t>• Falls back to explicit cached demo results</a:t>
            </a:r>
          </a:p>
        </p:txBody>
      </p:sp>
      <p:sp>
        <p:nvSpPr>
          <p:cNvPr id="13" name="">
            <a:extLst xmlns:a="http://schemas.openxmlformats.org/drawingml/2006/main">
              <a:ext uri="{FF2B5EF4-FFF2-40B4-BE49-F238E27FC236}">
                <a16:creationId xmlns:a16="http://schemas.microsoft.com/office/drawing/2014/main" id="{1B2D72CB-3675-4870-B548-2244234AC664}"/>
              </a:ext>
            </a:extLst>
          </p:cNvPr>
          <p:cNvSpPr>
            <a:spLocks xmlns:a="http://schemas.openxmlformats.org/drawingml/2006/main" noGrp="1"/>
          </p:cNvSpPr>
          <p:nvPr/>
        </p:nvSpPr>
        <p:spPr>
          <a:xfrm xmlns:a="http://schemas.openxmlformats.org/drawingml/2006/main">
            <a:off x="6477000" y="3181350"/>
            <a:ext cx="4419600" cy="1695450"/>
          </a:xfrm>
          <a:prstGeom xmlns:a="http://schemas.openxmlformats.org/drawingml/2006/main" prst="roundRect">
            <a:avLst>
              <a:gd name="adj" fmla="val 5618"/>
            </a:avLst>
          </a:prstGeom>
          <a:solidFill xmlns:a="http://schemas.openxmlformats.org/drawingml/2006/main">
            <a:srgbClr val="101217"/>
          </a:solidFill>
          <a:ln xmlns:a="http://schemas.openxmlformats.org/drawingml/2006/main" w="9525">
            <a:solidFill>
              <a:srgbClr val="39404D"/>
            </a:solidFill>
            <a:prstDash val="solid"/>
          </a:ln>
        </p:spPr>
      </p:sp>
      <p:sp>
        <p:nvSpPr>
          <p:cNvPr id="14" name="">
            <a:extLst xmlns:a="http://schemas.openxmlformats.org/drawingml/2006/main">
              <a:ext uri="{FF2B5EF4-FFF2-40B4-BE49-F238E27FC236}">
                <a16:creationId xmlns:a16="http://schemas.microsoft.com/office/drawing/2014/main" id="{B3570F48-7DC8-419B-A702-996B97025D96}"/>
              </a:ext>
            </a:extLst>
          </p:cNvPr>
          <p:cNvSpPr>
            <a:spLocks xmlns:a="http://schemas.openxmlformats.org/drawingml/2006/main" noGrp="1"/>
          </p:cNvSpPr>
          <p:nvPr/>
        </p:nvSpPr>
        <p:spPr>
          <a:xfrm xmlns:a="http://schemas.openxmlformats.org/drawingml/2006/main">
            <a:off x="6477000" y="3181350"/>
            <a:ext cx="47625" cy="1695450"/>
          </a:xfrm>
          <a:prstGeom xmlns:a="http://schemas.openxmlformats.org/drawingml/2006/main" prst="roundRect">
            <a:avLst>
              <a:gd name="adj" fmla="val 50000"/>
            </a:avLst>
          </a:prstGeom>
          <a:solidFill xmlns:a="http://schemas.openxmlformats.org/drawingml/2006/main">
            <a:srgbClr val="54D2C5"/>
          </a:solidFill>
          <a:ln xmlns:a="http://schemas.openxmlformats.org/drawingml/2006/main" w="0">
            <a:solidFill>
              <a:srgbClr val="54D2C5"/>
            </a:solidFill>
            <a:prstDash val="solid"/>
          </a:ln>
        </p:spPr>
      </p:sp>
      <p:sp>
        <p:nvSpPr>
          <p:cNvPr id="15" name="">
            <a:extLst xmlns:a="http://schemas.openxmlformats.org/drawingml/2006/main">
              <a:ext uri="{FF2B5EF4-FFF2-40B4-BE49-F238E27FC236}">
                <a16:creationId xmlns:a16="http://schemas.microsoft.com/office/drawing/2014/main" id="{61A70984-3B3B-4FF7-96C6-4F5779A4AAB0}"/>
              </a:ext>
            </a:extLst>
          </p:cNvPr>
          <p:cNvSpPr>
            <a:spLocks xmlns:a="http://schemas.openxmlformats.org/drawingml/2006/main" noGrp="1"/>
          </p:cNvSpPr>
          <p:nvPr/>
        </p:nvSpPr>
        <p:spPr>
          <a:xfrm xmlns:a="http://schemas.openxmlformats.org/drawingml/2006/main">
            <a:off x="6686550" y="3352800"/>
            <a:ext cx="405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Deterministic decision services</a:t>
            </a:r>
          </a:p>
        </p:txBody>
      </p:sp>
      <p:sp>
        <p:nvSpPr>
          <p:cNvPr id="16" name="">
            <a:extLst xmlns:a="http://schemas.openxmlformats.org/drawingml/2006/main">
              <a:ext uri="{FF2B5EF4-FFF2-40B4-BE49-F238E27FC236}">
                <a16:creationId xmlns:a16="http://schemas.microsoft.com/office/drawing/2014/main" id="{B1D404B2-E392-4874-8BC0-5861340DF6B1}"/>
              </a:ext>
            </a:extLst>
          </p:cNvPr>
          <p:cNvSpPr>
            <a:spLocks xmlns:a="http://schemas.openxmlformats.org/drawingml/2006/main" noGrp="1"/>
          </p:cNvSpPr>
          <p:nvPr/>
        </p:nvSpPr>
        <p:spPr>
          <a:xfrm xmlns:a="http://schemas.openxmlformats.org/drawingml/2006/main">
            <a:off x="6686550" y="3667125"/>
            <a:ext cx="409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 Validate schemas and resolve seeded entities</a:t>
            </a:r>
          </a:p>
          <a:p xmlns:a="http://schemas.openxmlformats.org/drawingml/2006/main">
            <a:pPr algn="l">
              <a:defRPr sz="1050" b="0">
                <a:solidFill>
                  <a:srgbClr val="98A1AF"/>
                </a:solidFill>
              </a:defRPr>
            </a:pPr>
            <a:r>
              <a:rPr sz="1050" b="0">
                <a:solidFill>
                  <a:srgbClr val="98A1AF"/>
                </a:solidFill>
              </a:rPr>
              <a:t>• Score corridor risk, simulate distributions</a:t>
            </a:r>
          </a:p>
          <a:p xmlns:a="http://schemas.openxmlformats.org/drawingml/2006/main">
            <a:pPr algn="l">
              <a:defRPr sz="1050" b="0">
                <a:solidFill>
                  <a:srgbClr val="98A1AF"/>
                </a:solidFill>
              </a:defRPr>
            </a:pPr>
            <a:r>
              <a:rPr sz="1050" b="0">
                <a:solidFill>
                  <a:srgbClr val="98A1AF"/>
                </a:solidFill>
              </a:rPr>
              <a:t>• Solve capacity and compatibility constraints</a:t>
            </a:r>
          </a:p>
        </p:txBody>
      </p:sp>
      <p:sp>
        <p:nvSpPr>
          <p:cNvPr id="17" name="">
            <a:extLst xmlns:a="http://schemas.openxmlformats.org/drawingml/2006/main">
              <a:ext uri="{FF2B5EF4-FFF2-40B4-BE49-F238E27FC236}">
                <a16:creationId xmlns:a16="http://schemas.microsoft.com/office/drawing/2014/main" id="{21A68062-01D7-45C5-A625-376924584C05}"/>
              </a:ext>
            </a:extLst>
          </p:cNvPr>
          <p:cNvSpPr>
            <a:spLocks xmlns:a="http://schemas.openxmlformats.org/drawingml/2006/main" noGrp="1"/>
          </p:cNvSpPr>
          <p:nvPr/>
        </p:nvSpPr>
        <p:spPr>
          <a:xfrm xmlns:a="http://schemas.openxmlformats.org/drawingml/2006/main">
            <a:off x="685800" y="5324475"/>
            <a:ext cx="1562100" cy="247650"/>
          </a:xfrm>
          <a:prstGeom xmlns:a="http://schemas.openxmlformats.org/drawingml/2006/main" prst="roundRect">
            <a:avLst>
              <a:gd name="adj" fmla="val 19231"/>
            </a:avLst>
          </a:prstGeom>
          <a:solidFill xmlns:a="http://schemas.openxmlformats.org/drawingml/2006/main">
            <a:srgbClr val="101B30"/>
          </a:solidFill>
          <a:ln xmlns:a="http://schemas.openxmlformats.org/drawingml/2006/main" w="9525">
            <a:solidFill>
              <a:srgbClr val="39404D"/>
            </a:solidFill>
            <a:prstDash val="solid"/>
          </a:ln>
        </p:spPr>
      </p:sp>
      <p:sp>
        <p:nvSpPr>
          <p:cNvPr id="18" name="">
            <a:extLst xmlns:a="http://schemas.openxmlformats.org/drawingml/2006/main">
              <a:ext uri="{FF2B5EF4-FFF2-40B4-BE49-F238E27FC236}">
                <a16:creationId xmlns:a16="http://schemas.microsoft.com/office/drawing/2014/main" id="{A2732A62-D4F6-443B-8A76-EF7DF56C9A3C}"/>
              </a:ext>
            </a:extLst>
          </p:cNvPr>
          <p:cNvSpPr>
            <a:spLocks xmlns:a="http://schemas.openxmlformats.org/drawingml/2006/main" noGrp="1"/>
          </p:cNvSpPr>
          <p:nvPr/>
        </p:nvSpPr>
        <p:spPr>
          <a:xfrm xmlns:a="http://schemas.openxmlformats.org/drawingml/2006/main">
            <a:off x="762000" y="53530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78AAFF"/>
                </a:solidFill>
              </a:defRPr>
            </a:pPr>
            <a:r>
              <a:rPr sz="825" b="1">
                <a:solidFill>
                  <a:srgbClr val="78AAFF"/>
                </a:solidFill>
              </a:rPr>
              <a:t>VISIBLE CONFIDENCE</a:t>
            </a:r>
          </a:p>
        </p:txBody>
      </p:sp>
      <p:sp>
        <p:nvSpPr>
          <p:cNvPr id="19" name="">
            <a:extLst xmlns:a="http://schemas.openxmlformats.org/drawingml/2006/main">
              <a:ext uri="{FF2B5EF4-FFF2-40B4-BE49-F238E27FC236}">
                <a16:creationId xmlns:a16="http://schemas.microsoft.com/office/drawing/2014/main" id="{547D4407-B567-43AA-8EA2-ECD0A08B6451}"/>
              </a:ext>
            </a:extLst>
          </p:cNvPr>
          <p:cNvSpPr>
            <a:spLocks xmlns:a="http://schemas.openxmlformats.org/drawingml/2006/main" noGrp="1"/>
          </p:cNvSpPr>
          <p:nvPr/>
        </p:nvSpPr>
        <p:spPr>
          <a:xfrm xmlns:a="http://schemas.openxmlformats.org/drawingml/2006/main">
            <a:off x="2457450" y="5324475"/>
            <a:ext cx="1676400" cy="247650"/>
          </a:xfrm>
          <a:prstGeom xmlns:a="http://schemas.openxmlformats.org/drawingml/2006/main" prst="roundRect">
            <a:avLst>
              <a:gd name="adj" fmla="val 19231"/>
            </a:avLst>
          </a:prstGeom>
          <a:solidFill xmlns:a="http://schemas.openxmlformats.org/drawingml/2006/main">
            <a:srgbClr val="101B30"/>
          </a:solidFill>
          <a:ln xmlns:a="http://schemas.openxmlformats.org/drawingml/2006/main" w="9525">
            <a:solidFill>
              <a:srgbClr val="39404D"/>
            </a:solidFill>
            <a:prstDash val="solid"/>
          </a:ln>
        </p:spPr>
      </p:sp>
      <p:sp>
        <p:nvSpPr>
          <p:cNvPr id="20" name="">
            <a:extLst xmlns:a="http://schemas.openxmlformats.org/drawingml/2006/main">
              <a:ext uri="{FF2B5EF4-FFF2-40B4-BE49-F238E27FC236}">
                <a16:creationId xmlns:a16="http://schemas.microsoft.com/office/drawing/2014/main" id="{17B6199C-A999-4A27-9E52-5FE10760BBD8}"/>
              </a:ext>
            </a:extLst>
          </p:cNvPr>
          <p:cNvSpPr>
            <a:spLocks xmlns:a="http://schemas.openxmlformats.org/drawingml/2006/main" noGrp="1"/>
          </p:cNvSpPr>
          <p:nvPr/>
        </p:nvSpPr>
        <p:spPr>
          <a:xfrm xmlns:a="http://schemas.openxmlformats.org/drawingml/2006/main">
            <a:off x="2533650" y="5353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78AAFF"/>
                </a:solidFill>
              </a:defRPr>
            </a:pPr>
            <a:r>
              <a:rPr sz="825" b="1">
                <a:solidFill>
                  <a:srgbClr val="78AAFF"/>
                </a:solidFill>
              </a:rPr>
              <a:t>VISIBLE ASSUMPTIONS</a:t>
            </a:r>
          </a:p>
        </p:txBody>
      </p:sp>
      <p:sp>
        <p:nvSpPr>
          <p:cNvPr id="21" name="">
            <a:extLst xmlns:a="http://schemas.openxmlformats.org/drawingml/2006/main">
              <a:ext uri="{FF2B5EF4-FFF2-40B4-BE49-F238E27FC236}">
                <a16:creationId xmlns:a16="http://schemas.microsoft.com/office/drawing/2014/main" id="{40C6B63C-D691-4FC2-8C41-CF0067FCDF3B}"/>
              </a:ext>
            </a:extLst>
          </p:cNvPr>
          <p:cNvSpPr>
            <a:spLocks xmlns:a="http://schemas.openxmlformats.org/drawingml/2006/main" noGrp="1"/>
          </p:cNvSpPr>
          <p:nvPr/>
        </p:nvSpPr>
        <p:spPr>
          <a:xfrm xmlns:a="http://schemas.openxmlformats.org/drawingml/2006/main">
            <a:off x="4343400" y="5324475"/>
            <a:ext cx="1485900" cy="247650"/>
          </a:xfrm>
          <a:prstGeom xmlns:a="http://schemas.openxmlformats.org/drawingml/2006/main" prst="roundRect">
            <a:avLst>
              <a:gd name="adj" fmla="val 19231"/>
            </a:avLst>
          </a:prstGeom>
          <a:solidFill xmlns:a="http://schemas.openxmlformats.org/drawingml/2006/main">
            <a:srgbClr val="101B30"/>
          </a:solidFill>
          <a:ln xmlns:a="http://schemas.openxmlformats.org/drawingml/2006/main" w="9525">
            <a:solidFill>
              <a:srgbClr val="39404D"/>
            </a:solidFill>
            <a:prstDash val="solid"/>
          </a:ln>
        </p:spPr>
      </p:sp>
      <p:sp>
        <p:nvSpPr>
          <p:cNvPr id="22" name="">
            <a:extLst xmlns:a="http://schemas.openxmlformats.org/drawingml/2006/main">
              <a:ext uri="{FF2B5EF4-FFF2-40B4-BE49-F238E27FC236}">
                <a16:creationId xmlns:a16="http://schemas.microsoft.com/office/drawing/2014/main" id="{4146114A-53F5-4080-99C9-1A1EC6F7F4FA}"/>
              </a:ext>
            </a:extLst>
          </p:cNvPr>
          <p:cNvSpPr>
            <a:spLocks xmlns:a="http://schemas.openxmlformats.org/drawingml/2006/main" noGrp="1"/>
          </p:cNvSpPr>
          <p:nvPr/>
        </p:nvSpPr>
        <p:spPr>
          <a:xfrm xmlns:a="http://schemas.openxmlformats.org/drawingml/2006/main">
            <a:off x="4419600" y="53530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78AAFF"/>
                </a:solidFill>
              </a:defRPr>
            </a:pPr>
            <a:r>
              <a:rPr sz="825" b="1">
                <a:solidFill>
                  <a:srgbClr val="78AAFF"/>
                </a:solidFill>
              </a:rPr>
              <a:t>VISIBLE UNKNOWNS</a:t>
            </a:r>
          </a:p>
        </p:txBody>
      </p:sp>
      <p:sp>
        <p:nvSpPr>
          <p:cNvPr id="23" name="">
            <a:extLst xmlns:a="http://schemas.openxmlformats.org/drawingml/2006/main">
              <a:ext uri="{FF2B5EF4-FFF2-40B4-BE49-F238E27FC236}">
                <a16:creationId xmlns:a16="http://schemas.microsoft.com/office/drawing/2014/main" id="{F7075B1D-FB43-47D5-8C05-44EB17A4A4C2}"/>
              </a:ext>
            </a:extLst>
          </p:cNvPr>
          <p:cNvSpPr>
            <a:spLocks xmlns:a="http://schemas.openxmlformats.org/drawingml/2006/main" noGrp="1"/>
          </p:cNvSpPr>
          <p:nvPr/>
        </p:nvSpPr>
        <p:spPr>
          <a:xfrm xmlns:a="http://schemas.openxmlformats.org/drawingml/2006/main">
            <a:off x="7105650" y="5324475"/>
            <a:ext cx="2152650" cy="247650"/>
          </a:xfrm>
          <a:prstGeom xmlns:a="http://schemas.openxmlformats.org/drawingml/2006/main" prst="roundRect">
            <a:avLst>
              <a:gd name="adj" fmla="val 19231"/>
            </a:avLst>
          </a:prstGeom>
          <a:solidFill xmlns:a="http://schemas.openxmlformats.org/drawingml/2006/main">
            <a:srgbClr val="16191F"/>
          </a:solidFill>
          <a:ln xmlns:a="http://schemas.openxmlformats.org/drawingml/2006/main" w="9525">
            <a:solidFill>
              <a:srgbClr val="39404D"/>
            </a:solidFill>
            <a:prstDash val="solid"/>
          </a:ln>
        </p:spPr>
      </p:sp>
      <p:sp>
        <p:nvSpPr>
          <p:cNvPr id="24" name="">
            <a:extLst xmlns:a="http://schemas.openxmlformats.org/drawingml/2006/main">
              <a:ext uri="{FF2B5EF4-FFF2-40B4-BE49-F238E27FC236}">
                <a16:creationId xmlns:a16="http://schemas.microsoft.com/office/drawing/2014/main" id="{943D744E-A52C-4E63-A461-7820BE3105AB}"/>
              </a:ext>
            </a:extLst>
          </p:cNvPr>
          <p:cNvSpPr>
            <a:spLocks xmlns:a="http://schemas.openxmlformats.org/drawingml/2006/main" noGrp="1"/>
          </p:cNvSpPr>
          <p:nvPr/>
        </p:nvSpPr>
        <p:spPr>
          <a:xfrm xmlns:a="http://schemas.openxmlformats.org/drawingml/2006/main">
            <a:off x="7181850" y="5353050"/>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7F9FC"/>
                </a:solidFill>
              </a:defRPr>
            </a:pPr>
            <a:r>
              <a:rPr sz="825" b="1">
                <a:solidFill>
                  <a:srgbClr val="F7F9FC"/>
                </a:solidFill>
              </a:rPr>
              <a:t>HUMAN APPROVAL REQUIRED</a:t>
            </a:r>
          </a:p>
        </p:txBody>
      </p:sp>
    </p:spTree>
    <p:extLst>
      <p:ext uri="{BB962C8B-B14F-4D97-AF65-F5344CB8AC3E}">
        <p14:creationId xmlns:p14="http://schemas.microsoft.com/office/powerpoint/2010/main" val="1645242359"/>
      </p:ext>
    </p:extLst>
  </p:cSld>
</p:sld>
</file>

<file path=ppt/slides/slide5.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073FF6C-6572-4137-B3A1-F820C18A6E8E}"/>
              </a:ext>
            </a:extLst>
          </p:cNvPr>
          <p:cNvSpPr>
            <a:spLocks xmlns:a="http://schemas.openxmlformats.org/drawingml/2006/main" noGrp="1"/>
          </p:cNvSpPr>
          <p:nvPr/>
        </p:nvSpPr>
        <p:spPr>
          <a:xfrm xmlns:a="http://schemas.openxmlformats.org/drawingml/2006/main">
            <a:off x="685800" y="3714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PETRAVIGIL</a:t>
            </a:r>
          </a:p>
        </p:txBody>
      </p:sp>
      <p:sp>
        <p:nvSpPr>
          <p:cNvPr id="2" name="">
            <a:extLst xmlns:a="http://schemas.openxmlformats.org/drawingml/2006/main">
              <a:ext uri="{FF2B5EF4-FFF2-40B4-BE49-F238E27FC236}">
                <a16:creationId xmlns:a16="http://schemas.microsoft.com/office/drawing/2014/main" id="{11CE5A57-C4C1-4D4E-90AD-0472A66BDB8F}"/>
              </a:ext>
            </a:extLst>
          </p:cNvPr>
          <p:cNvSpPr>
            <a:spLocks xmlns:a="http://schemas.openxmlformats.org/drawingml/2006/main" noGrp="1"/>
          </p:cNvSpPr>
          <p:nvPr/>
        </p:nvSpPr>
        <p:spPr>
          <a:xfrm xmlns:a="http://schemas.openxmlformats.org/drawingml/2006/main">
            <a:off x="685800" y="6286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98A1AF"/>
                </a:solidFill>
              </a:defRPr>
            </a:pPr>
            <a:r>
              <a:rPr sz="900" b="1">
                <a:solidFill>
                  <a:srgbClr val="98A1AF"/>
                </a:solidFill>
              </a:rPr>
              <a:t>SYSTEM ARCHITECTURE</a:t>
            </a:r>
          </a:p>
        </p:txBody>
      </p:sp>
      <p:sp>
        <p:nvSpPr>
          <p:cNvPr id="3" name="">
            <a:extLst xmlns:a="http://schemas.openxmlformats.org/drawingml/2006/main">
              <a:ext uri="{FF2B5EF4-FFF2-40B4-BE49-F238E27FC236}">
                <a16:creationId xmlns:a16="http://schemas.microsoft.com/office/drawing/2014/main" id="{97CEF37F-DD02-4BCB-B295-F271255BC506}"/>
              </a:ext>
            </a:extLst>
          </p:cNvPr>
          <p:cNvSpPr>
            <a:spLocks xmlns:a="http://schemas.openxmlformats.org/drawingml/2006/main" noGrp="1"/>
          </p:cNvSpPr>
          <p:nvPr/>
        </p:nvSpPr>
        <p:spPr>
          <a:xfrm xmlns:a="http://schemas.openxmlformats.org/drawingml/2006/main">
            <a:off x="685800" y="962025"/>
            <a:ext cx="647700" cy="28575"/>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4" name="">
            <a:extLst xmlns:a="http://schemas.openxmlformats.org/drawingml/2006/main">
              <a:ext uri="{FF2B5EF4-FFF2-40B4-BE49-F238E27FC236}">
                <a16:creationId xmlns:a16="http://schemas.microsoft.com/office/drawing/2014/main" id="{91B8CF18-8BA8-45E5-9A46-574FDCC9B63C}"/>
              </a:ext>
            </a:extLst>
          </p:cNvPr>
          <p:cNvSpPr>
            <a:spLocks xmlns:a="http://schemas.openxmlformats.org/drawingml/2006/main" noGrp="1"/>
          </p:cNvSpPr>
          <p:nvPr/>
        </p:nvSpPr>
        <p:spPr>
          <a:xfrm xmlns:a="http://schemas.openxmlformats.org/drawingml/2006/main">
            <a:off x="685800" y="12192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F7F9FC"/>
                </a:solidFill>
              </a:defRPr>
            </a:pPr>
            <a:r>
              <a:rPr sz="3300" b="1">
                <a:solidFill>
                  <a:srgbClr val="F7F9FC"/>
                </a:solidFill>
              </a:rPr>
              <a:t>A real decision stack—with a truthful prototype boundary.</a:t>
            </a:r>
          </a:p>
        </p:txBody>
      </p:sp>
      <p:sp>
        <p:nvSpPr>
          <p:cNvPr id="5" name="">
            <a:extLst xmlns:a="http://schemas.openxmlformats.org/drawingml/2006/main">
              <a:ext uri="{FF2B5EF4-FFF2-40B4-BE49-F238E27FC236}">
                <a16:creationId xmlns:a16="http://schemas.microsoft.com/office/drawing/2014/main" id="{5F44BC3E-53A1-409C-BBBC-94DBED2C578A}"/>
              </a:ext>
            </a:extLst>
          </p:cNvPr>
          <p:cNvSpPr>
            <a:spLocks xmlns:a="http://schemas.openxmlformats.org/drawingml/2006/main" noGrp="1"/>
          </p:cNvSpPr>
          <p:nvPr/>
        </p:nvSpPr>
        <p:spPr>
          <a:xfrm xmlns:a="http://schemas.openxmlformats.org/drawingml/2006/main">
            <a:off x="10972800" y="61626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0"/>
                </a:solidFill>
              </a:defRPr>
            </a:pPr>
            <a:r>
              <a:rPr sz="975" b="1">
                <a:solidFill>
                  <a:srgbClr val="687180"/>
                </a:solidFill>
              </a:rPr>
              <a:t>05 / 10</a:t>
            </a:r>
          </a:p>
        </p:txBody>
      </p:sp>
      <p:sp>
        <p:nvSpPr>
          <p:cNvPr id="6" name="">
            <a:extLst xmlns:a="http://schemas.openxmlformats.org/drawingml/2006/main">
              <a:ext uri="{FF2B5EF4-FFF2-40B4-BE49-F238E27FC236}">
                <a16:creationId xmlns:a16="http://schemas.microsoft.com/office/drawing/2014/main" id="{380C3F47-6B04-45CB-9249-82F544BBFB03}"/>
              </a:ext>
            </a:extLst>
          </p:cNvPr>
          <p:cNvSpPr>
            <a:spLocks xmlns:a="http://schemas.openxmlformats.org/drawingml/2006/main" noGrp="1"/>
          </p:cNvSpPr>
          <p:nvPr/>
        </p:nvSpPr>
        <p:spPr>
          <a:xfrm xmlns:a="http://schemas.openxmlformats.org/drawingml/2006/main">
            <a:off x="685800" y="6257925"/>
            <a:ext cx="742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CURRENT REPOSITORY · VERIFIED CAPABILITIES</a:t>
            </a:r>
          </a:p>
        </p:txBody>
      </p:sp>
      <p:sp>
        <p:nvSpPr>
          <p:cNvPr id="7" name="">
            <a:extLst xmlns:a="http://schemas.openxmlformats.org/drawingml/2006/main">
              <a:ext uri="{FF2B5EF4-FFF2-40B4-BE49-F238E27FC236}">
                <a16:creationId xmlns:a16="http://schemas.microsoft.com/office/drawing/2014/main" id="{5B3D5BCD-A90A-4F70-A2D8-9E97F7FA92C7}"/>
              </a:ext>
            </a:extLst>
          </p:cNvPr>
          <p:cNvSpPr>
            <a:spLocks xmlns:a="http://schemas.openxmlformats.org/drawingml/2006/main" noGrp="1"/>
          </p:cNvSpPr>
          <p:nvPr/>
        </p:nvSpPr>
        <p:spPr>
          <a:xfrm xmlns:a="http://schemas.openxmlformats.org/drawingml/2006/main">
            <a:off x="685800" y="233362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98A1AF"/>
                </a:solidFill>
              </a:defRPr>
            </a:pPr>
            <a:r>
              <a:rPr sz="1350" b="0">
                <a:solidFill>
                  <a:srgbClr val="98A1AF"/>
                </a:solidFill>
              </a:rPr>
              <a:t>The active runtime is deliberately compact and offline-capable. Docker Compose scaffolds the enterprise data services planned for the next phase.</a:t>
            </a:r>
          </a:p>
        </p:txBody>
      </p:sp>
      <p:sp>
        <p:nvSpPr>
          <p:cNvPr id="8" name="">
            <a:extLst xmlns:a="http://schemas.openxmlformats.org/drawingml/2006/main">
              <a:ext uri="{FF2B5EF4-FFF2-40B4-BE49-F238E27FC236}">
                <a16:creationId xmlns:a16="http://schemas.microsoft.com/office/drawing/2014/main" id="{9DBDCD40-44A9-4887-9AC7-B400EDDBEBA3}"/>
              </a:ext>
            </a:extLst>
          </p:cNvPr>
          <p:cNvSpPr>
            <a:spLocks xmlns:a="http://schemas.openxmlformats.org/drawingml/2006/main" noGrp="1"/>
          </p:cNvSpPr>
          <p:nvPr/>
        </p:nvSpPr>
        <p:spPr>
          <a:xfrm xmlns:a="http://schemas.openxmlformats.org/drawingml/2006/main">
            <a:off x="2590800" y="3857625"/>
            <a:ext cx="62865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9" name="">
            <a:extLst xmlns:a="http://schemas.openxmlformats.org/drawingml/2006/main">
              <a:ext uri="{FF2B5EF4-FFF2-40B4-BE49-F238E27FC236}">
                <a16:creationId xmlns:a16="http://schemas.microsoft.com/office/drawing/2014/main" id="{0E36CFAE-B7C1-4D66-8017-98BA736A8649}"/>
              </a:ext>
            </a:extLst>
          </p:cNvPr>
          <p:cNvSpPr>
            <a:spLocks xmlns:a="http://schemas.openxmlformats.org/drawingml/2006/main" noGrp="1"/>
          </p:cNvSpPr>
          <p:nvPr/>
        </p:nvSpPr>
        <p:spPr>
          <a:xfrm xmlns:a="http://schemas.openxmlformats.org/drawingml/2006/main">
            <a:off x="6000750" y="3857625"/>
            <a:ext cx="64770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0" name="">
            <a:extLst xmlns:a="http://schemas.openxmlformats.org/drawingml/2006/main">
              <a:ext uri="{FF2B5EF4-FFF2-40B4-BE49-F238E27FC236}">
                <a16:creationId xmlns:a16="http://schemas.microsoft.com/office/drawing/2014/main" id="{4A7F2360-F7D7-4E1C-8A6D-5412A5432093}"/>
              </a:ext>
            </a:extLst>
          </p:cNvPr>
          <p:cNvSpPr>
            <a:spLocks xmlns:a="http://schemas.openxmlformats.org/drawingml/2006/main" noGrp="1"/>
          </p:cNvSpPr>
          <p:nvPr/>
        </p:nvSpPr>
        <p:spPr>
          <a:xfrm xmlns:a="http://schemas.openxmlformats.org/drawingml/2006/main">
            <a:off x="9401175" y="3857625"/>
            <a:ext cx="64770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1" name="">
            <a:extLst xmlns:a="http://schemas.openxmlformats.org/drawingml/2006/main">
              <a:ext uri="{FF2B5EF4-FFF2-40B4-BE49-F238E27FC236}">
                <a16:creationId xmlns:a16="http://schemas.microsoft.com/office/drawing/2014/main" id="{5DF6DDFB-6768-441C-972E-4ED381DC017F}"/>
              </a:ext>
            </a:extLst>
          </p:cNvPr>
          <p:cNvSpPr>
            <a:spLocks xmlns:a="http://schemas.openxmlformats.org/drawingml/2006/main" noGrp="1"/>
          </p:cNvSpPr>
          <p:nvPr/>
        </p:nvSpPr>
        <p:spPr>
          <a:xfrm xmlns:a="http://schemas.openxmlformats.org/drawingml/2006/main">
            <a:off x="685800" y="3276600"/>
            <a:ext cx="1905000" cy="1200150"/>
          </a:xfrm>
          <a:prstGeom xmlns:a="http://schemas.openxmlformats.org/drawingml/2006/main" prst="roundRect">
            <a:avLst>
              <a:gd name="adj" fmla="val 7937"/>
            </a:avLst>
          </a:prstGeom>
          <a:solidFill xmlns:a="http://schemas.openxmlformats.org/drawingml/2006/main">
            <a:srgbClr val="101217"/>
          </a:solidFill>
          <a:ln xmlns:a="http://schemas.openxmlformats.org/drawingml/2006/main" w="9525">
            <a:solidFill>
              <a:srgbClr val="39404D"/>
            </a:solidFill>
            <a:prstDash val="solid"/>
          </a:ln>
        </p:spPr>
      </p:sp>
      <p:sp>
        <p:nvSpPr>
          <p:cNvPr id="12" name="">
            <a:extLst xmlns:a="http://schemas.openxmlformats.org/drawingml/2006/main">
              <a:ext uri="{FF2B5EF4-FFF2-40B4-BE49-F238E27FC236}">
                <a16:creationId xmlns:a16="http://schemas.microsoft.com/office/drawing/2014/main" id="{BFA6C2D8-D089-47A6-AB1E-64CDA5772FA5}"/>
              </a:ext>
            </a:extLst>
          </p:cNvPr>
          <p:cNvSpPr>
            <a:spLocks xmlns:a="http://schemas.openxmlformats.org/drawingml/2006/main" noGrp="1"/>
          </p:cNvSpPr>
          <p:nvPr/>
        </p:nvSpPr>
        <p:spPr>
          <a:xfrm xmlns:a="http://schemas.openxmlformats.org/drawingml/2006/main">
            <a:off x="685800" y="3276600"/>
            <a:ext cx="47625" cy="1200150"/>
          </a:xfrm>
          <a:prstGeom xmlns:a="http://schemas.openxmlformats.org/drawingml/2006/main" prst="roundRect">
            <a:avLst>
              <a:gd name="adj" fmla="val 50000"/>
            </a:avLst>
          </a:prstGeom>
          <a:solidFill xmlns:a="http://schemas.openxmlformats.org/drawingml/2006/main">
            <a:srgbClr val="4D8DFF"/>
          </a:solidFill>
          <a:ln xmlns:a="http://schemas.openxmlformats.org/drawingml/2006/main" w="0">
            <a:solidFill>
              <a:srgbClr val="4D8DFF"/>
            </a:solidFill>
            <a:prstDash val="solid"/>
          </a:ln>
        </p:spPr>
      </p:sp>
      <p:sp>
        <p:nvSpPr>
          <p:cNvPr id="13" name="">
            <a:extLst xmlns:a="http://schemas.openxmlformats.org/drawingml/2006/main">
              <a:ext uri="{FF2B5EF4-FFF2-40B4-BE49-F238E27FC236}">
                <a16:creationId xmlns:a16="http://schemas.microsoft.com/office/drawing/2014/main" id="{8F6759CC-4C7F-4DD3-BDD8-C7E3CFCD8D94}"/>
              </a:ext>
            </a:extLst>
          </p:cNvPr>
          <p:cNvSpPr>
            <a:spLocks xmlns:a="http://schemas.openxmlformats.org/drawingml/2006/main" noGrp="1"/>
          </p:cNvSpPr>
          <p:nvPr/>
        </p:nvSpPr>
        <p:spPr>
          <a:xfrm xmlns:a="http://schemas.openxmlformats.org/drawingml/2006/main">
            <a:off x="895350" y="34480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Next.js 15</a:t>
            </a:r>
          </a:p>
        </p:txBody>
      </p:sp>
      <p:sp>
        <p:nvSpPr>
          <p:cNvPr id="14" name="">
            <a:extLst xmlns:a="http://schemas.openxmlformats.org/drawingml/2006/main">
              <a:ext uri="{FF2B5EF4-FFF2-40B4-BE49-F238E27FC236}">
                <a16:creationId xmlns:a16="http://schemas.microsoft.com/office/drawing/2014/main" id="{E85629BD-EE57-4A0A-B425-8A6EA117F9AE}"/>
              </a:ext>
            </a:extLst>
          </p:cNvPr>
          <p:cNvSpPr>
            <a:spLocks xmlns:a="http://schemas.openxmlformats.org/drawingml/2006/main" noGrp="1"/>
          </p:cNvSpPr>
          <p:nvPr/>
        </p:nvSpPr>
        <p:spPr>
          <a:xfrm xmlns:a="http://schemas.openxmlformats.org/drawingml/2006/main">
            <a:off x="895350" y="3762375"/>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Analyst workbench</a:t>
            </a:r>
          </a:p>
          <a:p xmlns:a="http://schemas.openxmlformats.org/drawingml/2006/main">
            <a:pPr algn="l">
              <a:defRPr sz="1050" b="0">
                <a:solidFill>
                  <a:srgbClr val="98A1AF"/>
                </a:solidFill>
              </a:defRPr>
            </a:pPr>
            <a:r>
              <a:rPr sz="1050" b="0">
                <a:solidFill>
                  <a:srgbClr val="98A1AF"/>
                </a:solidFill>
              </a:rPr>
              <a:t>Provenance + audit trace</a:t>
            </a:r>
          </a:p>
        </p:txBody>
      </p:sp>
      <p:sp>
        <p:nvSpPr>
          <p:cNvPr id="15" name="">
            <a:extLst xmlns:a="http://schemas.openxmlformats.org/drawingml/2006/main">
              <a:ext uri="{FF2B5EF4-FFF2-40B4-BE49-F238E27FC236}">
                <a16:creationId xmlns:a16="http://schemas.microsoft.com/office/drawing/2014/main" id="{59E73E3E-2204-4106-B544-2920EAAB4A9B}"/>
              </a:ext>
            </a:extLst>
          </p:cNvPr>
          <p:cNvSpPr>
            <a:spLocks xmlns:a="http://schemas.openxmlformats.org/drawingml/2006/main" noGrp="1"/>
          </p:cNvSpPr>
          <p:nvPr/>
        </p:nvSpPr>
        <p:spPr>
          <a:xfrm xmlns:a="http://schemas.openxmlformats.org/drawingml/2006/main">
            <a:off x="3219450" y="3276600"/>
            <a:ext cx="2781300" cy="1200150"/>
          </a:xfrm>
          <a:prstGeom xmlns:a="http://schemas.openxmlformats.org/drawingml/2006/main" prst="roundRect">
            <a:avLst>
              <a:gd name="adj" fmla="val 7937"/>
            </a:avLst>
          </a:prstGeom>
          <a:solidFill xmlns:a="http://schemas.openxmlformats.org/drawingml/2006/main">
            <a:srgbClr val="101217"/>
          </a:solidFill>
          <a:ln xmlns:a="http://schemas.openxmlformats.org/drawingml/2006/main" w="9525">
            <a:solidFill>
              <a:srgbClr val="39404D"/>
            </a:solidFill>
            <a:prstDash val="solid"/>
          </a:ln>
        </p:spPr>
      </p:sp>
      <p:sp>
        <p:nvSpPr>
          <p:cNvPr id="16" name="">
            <a:extLst xmlns:a="http://schemas.openxmlformats.org/drawingml/2006/main">
              <a:ext uri="{FF2B5EF4-FFF2-40B4-BE49-F238E27FC236}">
                <a16:creationId xmlns:a16="http://schemas.microsoft.com/office/drawing/2014/main" id="{09C19F4E-1560-4825-9501-E6827DEAB643}"/>
              </a:ext>
            </a:extLst>
          </p:cNvPr>
          <p:cNvSpPr>
            <a:spLocks xmlns:a="http://schemas.openxmlformats.org/drawingml/2006/main" noGrp="1"/>
          </p:cNvSpPr>
          <p:nvPr/>
        </p:nvSpPr>
        <p:spPr>
          <a:xfrm xmlns:a="http://schemas.openxmlformats.org/drawingml/2006/main">
            <a:off x="3219450" y="3276600"/>
            <a:ext cx="47625" cy="1200150"/>
          </a:xfrm>
          <a:prstGeom xmlns:a="http://schemas.openxmlformats.org/drawingml/2006/main" prst="roundRect">
            <a:avLst>
              <a:gd name="adj" fmla="val 50000"/>
            </a:avLst>
          </a:prstGeom>
          <a:solidFill xmlns:a="http://schemas.openxmlformats.org/drawingml/2006/main">
            <a:srgbClr val="54D2C5"/>
          </a:solidFill>
          <a:ln xmlns:a="http://schemas.openxmlformats.org/drawingml/2006/main" w="0">
            <a:solidFill>
              <a:srgbClr val="54D2C5"/>
            </a:solidFill>
            <a:prstDash val="solid"/>
          </a:ln>
        </p:spPr>
      </p:sp>
      <p:sp>
        <p:nvSpPr>
          <p:cNvPr id="17" name="">
            <a:extLst xmlns:a="http://schemas.openxmlformats.org/drawingml/2006/main">
              <a:ext uri="{FF2B5EF4-FFF2-40B4-BE49-F238E27FC236}">
                <a16:creationId xmlns:a16="http://schemas.microsoft.com/office/drawing/2014/main" id="{1DE14758-F84F-42B3-AAF1-BB1547C6C514}"/>
              </a:ext>
            </a:extLst>
          </p:cNvPr>
          <p:cNvSpPr>
            <a:spLocks xmlns:a="http://schemas.openxmlformats.org/drawingml/2006/main" noGrp="1"/>
          </p:cNvSpPr>
          <p:nvPr/>
        </p:nvSpPr>
        <p:spPr>
          <a:xfrm xmlns:a="http://schemas.openxmlformats.org/drawingml/2006/main">
            <a:off x="3429000" y="344805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FastAPI</a:t>
            </a:r>
          </a:p>
        </p:txBody>
      </p:sp>
      <p:sp>
        <p:nvSpPr>
          <p:cNvPr id="18" name="">
            <a:extLst xmlns:a="http://schemas.openxmlformats.org/drawingml/2006/main">
              <a:ext uri="{FF2B5EF4-FFF2-40B4-BE49-F238E27FC236}">
                <a16:creationId xmlns:a16="http://schemas.microsoft.com/office/drawing/2014/main" id="{C0A9B6F2-D42D-4D5A-A517-A7503FAC3326}"/>
              </a:ext>
            </a:extLst>
          </p:cNvPr>
          <p:cNvSpPr>
            <a:spLocks xmlns:a="http://schemas.openxmlformats.org/drawingml/2006/main" noGrp="1"/>
          </p:cNvSpPr>
          <p:nvPr/>
        </p:nvSpPr>
        <p:spPr>
          <a:xfrm xmlns:a="http://schemas.openxmlformats.org/drawingml/2006/main">
            <a:off x="3429000" y="3762375"/>
            <a:ext cx="2457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Typed REST workflow</a:t>
            </a:r>
          </a:p>
          <a:p xmlns:a="http://schemas.openxmlformats.org/drawingml/2006/main">
            <a:pPr algn="l">
              <a:defRPr sz="1050" b="0">
                <a:solidFill>
                  <a:srgbClr val="98A1AF"/>
                </a:solidFill>
              </a:defRPr>
            </a:pPr>
            <a:r>
              <a:rPr sz="1050" b="0">
                <a:solidFill>
                  <a:srgbClr val="98A1AF"/>
                </a:solidFill>
              </a:rPr>
              <a:t>Pydantic contracts</a:t>
            </a:r>
          </a:p>
        </p:txBody>
      </p:sp>
      <p:sp>
        <p:nvSpPr>
          <p:cNvPr id="19" name="">
            <a:extLst xmlns:a="http://schemas.openxmlformats.org/drawingml/2006/main">
              <a:ext uri="{FF2B5EF4-FFF2-40B4-BE49-F238E27FC236}">
                <a16:creationId xmlns:a16="http://schemas.microsoft.com/office/drawing/2014/main" id="{E7D9F090-965D-4423-85F5-EBC0DEE3E2F0}"/>
              </a:ext>
            </a:extLst>
          </p:cNvPr>
          <p:cNvSpPr>
            <a:spLocks xmlns:a="http://schemas.openxmlformats.org/drawingml/2006/main" noGrp="1"/>
          </p:cNvSpPr>
          <p:nvPr/>
        </p:nvSpPr>
        <p:spPr>
          <a:xfrm xmlns:a="http://schemas.openxmlformats.org/drawingml/2006/main">
            <a:off x="6648450" y="3067050"/>
            <a:ext cx="2752725" cy="1619250"/>
          </a:xfrm>
          <a:prstGeom xmlns:a="http://schemas.openxmlformats.org/drawingml/2006/main" prst="roundRect">
            <a:avLst>
              <a:gd name="adj" fmla="val 5882"/>
            </a:avLst>
          </a:prstGeom>
          <a:solidFill xmlns:a="http://schemas.openxmlformats.org/drawingml/2006/main">
            <a:srgbClr val="101217"/>
          </a:solidFill>
          <a:ln xmlns:a="http://schemas.openxmlformats.org/drawingml/2006/main" w="9525">
            <a:solidFill>
              <a:srgbClr val="39404D"/>
            </a:solidFill>
            <a:prstDash val="solid"/>
          </a:ln>
        </p:spPr>
      </p:sp>
      <p:sp>
        <p:nvSpPr>
          <p:cNvPr id="20" name="">
            <a:extLst xmlns:a="http://schemas.openxmlformats.org/drawingml/2006/main">
              <a:ext uri="{FF2B5EF4-FFF2-40B4-BE49-F238E27FC236}">
                <a16:creationId xmlns:a16="http://schemas.microsoft.com/office/drawing/2014/main" id="{260A27CE-471B-4DDC-BD6F-87266E0DF6C0}"/>
              </a:ext>
            </a:extLst>
          </p:cNvPr>
          <p:cNvSpPr>
            <a:spLocks xmlns:a="http://schemas.openxmlformats.org/drawingml/2006/main" noGrp="1"/>
          </p:cNvSpPr>
          <p:nvPr/>
        </p:nvSpPr>
        <p:spPr>
          <a:xfrm xmlns:a="http://schemas.openxmlformats.org/drawingml/2006/main">
            <a:off x="6648450" y="3067050"/>
            <a:ext cx="47625" cy="1619250"/>
          </a:xfrm>
          <a:prstGeom xmlns:a="http://schemas.openxmlformats.org/drawingml/2006/main" prst="roundRect">
            <a:avLst>
              <a:gd name="adj" fmla="val 50000"/>
            </a:avLst>
          </a:prstGeom>
          <a:solidFill xmlns:a="http://schemas.openxmlformats.org/drawingml/2006/main">
            <a:srgbClr val="78AAFF"/>
          </a:solidFill>
          <a:ln xmlns:a="http://schemas.openxmlformats.org/drawingml/2006/main" w="0">
            <a:solidFill>
              <a:srgbClr val="78AAFF"/>
            </a:solidFill>
            <a:prstDash val="solid"/>
          </a:ln>
        </p:spPr>
      </p:sp>
      <p:sp>
        <p:nvSpPr>
          <p:cNvPr id="21" name="">
            <a:extLst xmlns:a="http://schemas.openxmlformats.org/drawingml/2006/main">
              <a:ext uri="{FF2B5EF4-FFF2-40B4-BE49-F238E27FC236}">
                <a16:creationId xmlns:a16="http://schemas.microsoft.com/office/drawing/2014/main" id="{FE8905AB-0326-4AB9-8D7A-9D4C9E827B58}"/>
              </a:ext>
            </a:extLst>
          </p:cNvPr>
          <p:cNvSpPr>
            <a:spLocks xmlns:a="http://schemas.openxmlformats.org/drawingml/2006/main" noGrp="1"/>
          </p:cNvSpPr>
          <p:nvPr/>
        </p:nvSpPr>
        <p:spPr>
          <a:xfrm xmlns:a="http://schemas.openxmlformats.org/drawingml/2006/main">
            <a:off x="6858000" y="3238500"/>
            <a:ext cx="2390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Decision services</a:t>
            </a:r>
          </a:p>
        </p:txBody>
      </p:sp>
      <p:sp>
        <p:nvSpPr>
          <p:cNvPr id="22" name="">
            <a:extLst xmlns:a="http://schemas.openxmlformats.org/drawingml/2006/main">
              <a:ext uri="{FF2B5EF4-FFF2-40B4-BE49-F238E27FC236}">
                <a16:creationId xmlns:a16="http://schemas.microsoft.com/office/drawing/2014/main" id="{8DA4DA35-D4DD-4A5A-8A27-D9FD5CCBF7C0}"/>
              </a:ext>
            </a:extLst>
          </p:cNvPr>
          <p:cNvSpPr>
            <a:spLocks xmlns:a="http://schemas.openxmlformats.org/drawingml/2006/main" noGrp="1"/>
          </p:cNvSpPr>
          <p:nvPr/>
        </p:nvSpPr>
        <p:spPr>
          <a:xfrm xmlns:a="http://schemas.openxmlformats.org/drawingml/2006/main">
            <a:off x="6858000" y="3552825"/>
            <a:ext cx="2428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Gemini · Signal Mesh</a:t>
            </a:r>
          </a:p>
          <a:p xmlns:a="http://schemas.openxmlformats.org/drawingml/2006/main">
            <a:pPr algn="l">
              <a:defRPr sz="1050" b="0">
                <a:solidFill>
                  <a:srgbClr val="98A1AF"/>
                </a:solidFill>
              </a:defRPr>
            </a:pPr>
            <a:r>
              <a:rPr sz="1050" b="0">
                <a:solidFill>
                  <a:srgbClr val="98A1AF"/>
                </a:solidFill>
              </a:rPr>
              <a:t>NumPy Monte Carlo</a:t>
            </a:r>
          </a:p>
          <a:p xmlns:a="http://schemas.openxmlformats.org/drawingml/2006/main">
            <a:pPr algn="l">
              <a:defRPr sz="1050" b="0">
                <a:solidFill>
                  <a:srgbClr val="98A1AF"/>
                </a:solidFill>
              </a:defRPr>
            </a:pPr>
            <a:r>
              <a:rPr sz="1050" b="0">
                <a:solidFill>
                  <a:srgbClr val="98A1AF"/>
                </a:solidFill>
              </a:rPr>
              <a:t>OR-Tools optimizer</a:t>
            </a:r>
          </a:p>
          <a:p xmlns:a="http://schemas.openxmlformats.org/drawingml/2006/main">
            <a:pPr algn="l">
              <a:defRPr sz="1050" b="0">
                <a:solidFill>
                  <a:srgbClr val="98A1AF"/>
                </a:solidFill>
              </a:defRPr>
            </a:pPr>
            <a:r>
              <a:rPr sz="1050" b="0">
                <a:solidFill>
                  <a:srgbClr val="98A1AF"/>
                </a:solidFill>
              </a:rPr>
              <a:t>Approval repository</a:t>
            </a:r>
          </a:p>
        </p:txBody>
      </p:sp>
      <p:sp>
        <p:nvSpPr>
          <p:cNvPr id="23" name="">
            <a:extLst xmlns:a="http://schemas.openxmlformats.org/drawingml/2006/main">
              <a:ext uri="{FF2B5EF4-FFF2-40B4-BE49-F238E27FC236}">
                <a16:creationId xmlns:a16="http://schemas.microsoft.com/office/drawing/2014/main" id="{64441A6A-0228-454F-A76D-0178917BE86C}"/>
              </a:ext>
            </a:extLst>
          </p:cNvPr>
          <p:cNvSpPr>
            <a:spLocks xmlns:a="http://schemas.openxmlformats.org/drawingml/2006/main" noGrp="1"/>
          </p:cNvSpPr>
          <p:nvPr/>
        </p:nvSpPr>
        <p:spPr>
          <a:xfrm xmlns:a="http://schemas.openxmlformats.org/drawingml/2006/main">
            <a:off x="10048875" y="3276600"/>
            <a:ext cx="1457325" cy="1200150"/>
          </a:xfrm>
          <a:prstGeom xmlns:a="http://schemas.openxmlformats.org/drawingml/2006/main" prst="roundRect">
            <a:avLst>
              <a:gd name="adj" fmla="val 7937"/>
            </a:avLst>
          </a:prstGeom>
          <a:solidFill xmlns:a="http://schemas.openxmlformats.org/drawingml/2006/main">
            <a:srgbClr val="101217"/>
          </a:solidFill>
          <a:ln xmlns:a="http://schemas.openxmlformats.org/drawingml/2006/main" w="9525">
            <a:solidFill>
              <a:srgbClr val="39404D"/>
            </a:solidFill>
            <a:prstDash val="solid"/>
          </a:ln>
        </p:spPr>
      </p:sp>
      <p:sp>
        <p:nvSpPr>
          <p:cNvPr id="24" name="">
            <a:extLst xmlns:a="http://schemas.openxmlformats.org/drawingml/2006/main">
              <a:ext uri="{FF2B5EF4-FFF2-40B4-BE49-F238E27FC236}">
                <a16:creationId xmlns:a16="http://schemas.microsoft.com/office/drawing/2014/main" id="{DD9D7C7A-2668-4F07-BC97-5DF78D9E4E56}"/>
              </a:ext>
            </a:extLst>
          </p:cNvPr>
          <p:cNvSpPr>
            <a:spLocks xmlns:a="http://schemas.openxmlformats.org/drawingml/2006/main" noGrp="1"/>
          </p:cNvSpPr>
          <p:nvPr/>
        </p:nvSpPr>
        <p:spPr>
          <a:xfrm xmlns:a="http://schemas.openxmlformats.org/drawingml/2006/main">
            <a:off x="10048875" y="3276600"/>
            <a:ext cx="47625" cy="1200150"/>
          </a:xfrm>
          <a:prstGeom xmlns:a="http://schemas.openxmlformats.org/drawingml/2006/main" prst="roundRect">
            <a:avLst>
              <a:gd name="adj" fmla="val 50000"/>
            </a:avLst>
          </a:prstGeom>
          <a:solidFill xmlns:a="http://schemas.openxmlformats.org/drawingml/2006/main">
            <a:srgbClr val="E2A447"/>
          </a:solidFill>
          <a:ln xmlns:a="http://schemas.openxmlformats.org/drawingml/2006/main" w="0">
            <a:solidFill>
              <a:srgbClr val="E2A447"/>
            </a:solidFill>
            <a:prstDash val="solid"/>
          </a:ln>
        </p:spPr>
      </p:sp>
      <p:sp>
        <p:nvSpPr>
          <p:cNvPr id="25" name="">
            <a:extLst xmlns:a="http://schemas.openxmlformats.org/drawingml/2006/main">
              <a:ext uri="{FF2B5EF4-FFF2-40B4-BE49-F238E27FC236}">
                <a16:creationId xmlns:a16="http://schemas.microsoft.com/office/drawing/2014/main" id="{07F46CD8-99CB-4DCE-BF29-C3071F70899C}"/>
              </a:ext>
            </a:extLst>
          </p:cNvPr>
          <p:cNvSpPr>
            <a:spLocks xmlns:a="http://schemas.openxmlformats.org/drawingml/2006/main" noGrp="1"/>
          </p:cNvSpPr>
          <p:nvPr/>
        </p:nvSpPr>
        <p:spPr>
          <a:xfrm xmlns:a="http://schemas.openxmlformats.org/drawingml/2006/main">
            <a:off x="10258425" y="344805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SQLite</a:t>
            </a:r>
          </a:p>
        </p:txBody>
      </p:sp>
      <p:sp>
        <p:nvSpPr>
          <p:cNvPr id="26" name="">
            <a:extLst xmlns:a="http://schemas.openxmlformats.org/drawingml/2006/main">
              <a:ext uri="{FF2B5EF4-FFF2-40B4-BE49-F238E27FC236}">
                <a16:creationId xmlns:a16="http://schemas.microsoft.com/office/drawing/2014/main" id="{0E25685A-0CCD-417E-BA36-097B58A8E9B2}"/>
              </a:ext>
            </a:extLst>
          </p:cNvPr>
          <p:cNvSpPr>
            <a:spLocks xmlns:a="http://schemas.openxmlformats.org/drawingml/2006/main" noGrp="1"/>
          </p:cNvSpPr>
          <p:nvPr/>
        </p:nvSpPr>
        <p:spPr>
          <a:xfrm xmlns:a="http://schemas.openxmlformats.org/drawingml/2006/main">
            <a:off x="10258425" y="3762375"/>
            <a:ext cx="11334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Local workflow</a:t>
            </a:r>
          </a:p>
          <a:p xmlns:a="http://schemas.openxmlformats.org/drawingml/2006/main">
            <a:pPr algn="l">
              <a:defRPr sz="1050" b="0">
                <a:solidFill>
                  <a:srgbClr val="98A1AF"/>
                </a:solidFill>
              </a:defRPr>
            </a:pPr>
            <a:r>
              <a:rPr sz="1050" b="0">
                <a:solidFill>
                  <a:srgbClr val="98A1AF"/>
                </a:solidFill>
              </a:rPr>
              <a:t>records</a:t>
            </a:r>
          </a:p>
        </p:txBody>
      </p:sp>
      <p:sp>
        <p:nvSpPr>
          <p:cNvPr id="27" name="">
            <a:extLst xmlns:a="http://schemas.openxmlformats.org/drawingml/2006/main">
              <a:ext uri="{FF2B5EF4-FFF2-40B4-BE49-F238E27FC236}">
                <a16:creationId xmlns:a16="http://schemas.microsoft.com/office/drawing/2014/main" id="{B6E05F2C-BF41-4B9E-8352-ABAE61D7AF13}"/>
              </a:ext>
            </a:extLst>
          </p:cNvPr>
          <p:cNvSpPr>
            <a:spLocks xmlns:a="http://schemas.openxmlformats.org/drawingml/2006/main" noGrp="1"/>
          </p:cNvSpPr>
          <p:nvPr/>
        </p:nvSpPr>
        <p:spPr>
          <a:xfrm xmlns:a="http://schemas.openxmlformats.org/drawingml/2006/main">
            <a:off x="685800" y="5162550"/>
            <a:ext cx="10820400" cy="514350"/>
          </a:xfrm>
          <a:prstGeom xmlns:a="http://schemas.openxmlformats.org/drawingml/2006/main" prst="roundRect">
            <a:avLst>
              <a:gd name="adj" fmla="val 14815"/>
            </a:avLst>
          </a:prstGeom>
          <a:solidFill xmlns:a="http://schemas.openxmlformats.org/drawingml/2006/main">
            <a:srgbClr val="0D0F14"/>
          </a:solidFill>
          <a:ln xmlns:a="http://schemas.openxmlformats.org/drawingml/2006/main" w="9525">
            <a:solidFill>
              <a:srgbClr val="39404D"/>
            </a:solidFill>
            <a:prstDash val="solid"/>
          </a:ln>
        </p:spPr>
      </p:sp>
      <p:sp>
        <p:nvSpPr>
          <p:cNvPr id="28" name="">
            <a:extLst xmlns:a="http://schemas.openxmlformats.org/drawingml/2006/main">
              <a:ext uri="{FF2B5EF4-FFF2-40B4-BE49-F238E27FC236}">
                <a16:creationId xmlns:a16="http://schemas.microsoft.com/office/drawing/2014/main" id="{DE8C3FBE-4417-4DC8-B6C6-C5F75DA2725F}"/>
              </a:ext>
            </a:extLst>
          </p:cNvPr>
          <p:cNvSpPr>
            <a:spLocks xmlns:a="http://schemas.openxmlformats.org/drawingml/2006/main" noGrp="1"/>
          </p:cNvSpPr>
          <p:nvPr/>
        </p:nvSpPr>
        <p:spPr>
          <a:xfrm xmlns:a="http://schemas.openxmlformats.org/drawingml/2006/main">
            <a:off x="866775" y="5305425"/>
            <a:ext cx="3000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98A1AF"/>
                </a:solidFill>
              </a:defRPr>
            </a:pPr>
            <a:r>
              <a:rPr sz="1125" b="1">
                <a:solidFill>
                  <a:srgbClr val="98A1AF"/>
                </a:solidFill>
              </a:rPr>
              <a:t>Deployment scaffold (not active runtime):</a:t>
            </a:r>
          </a:p>
        </p:txBody>
      </p:sp>
      <p:sp>
        <p:nvSpPr>
          <p:cNvPr id="29" name="">
            <a:extLst xmlns:a="http://schemas.openxmlformats.org/drawingml/2006/main">
              <a:ext uri="{FF2B5EF4-FFF2-40B4-BE49-F238E27FC236}">
                <a16:creationId xmlns:a16="http://schemas.microsoft.com/office/drawing/2014/main" id="{EFBE0519-D8A3-41C5-ABAF-EFD5B36C2878}"/>
              </a:ext>
            </a:extLst>
          </p:cNvPr>
          <p:cNvSpPr>
            <a:spLocks xmlns:a="http://schemas.openxmlformats.org/drawingml/2006/main" noGrp="1"/>
          </p:cNvSpPr>
          <p:nvPr/>
        </p:nvSpPr>
        <p:spPr>
          <a:xfrm xmlns:a="http://schemas.openxmlformats.org/drawingml/2006/main">
            <a:off x="4105275" y="530542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7F9FC"/>
                </a:solidFill>
              </a:defRPr>
            </a:pPr>
            <a:r>
              <a:rPr sz="1125" b="1">
                <a:solidFill>
                  <a:srgbClr val="F7F9FC"/>
                </a:solidFill>
              </a:rPr>
              <a:t>PostgreSQL</a:t>
            </a:r>
          </a:p>
        </p:txBody>
      </p:sp>
      <p:sp>
        <p:nvSpPr>
          <p:cNvPr id="30" name="">
            <a:extLst xmlns:a="http://schemas.openxmlformats.org/drawingml/2006/main">
              <a:ext uri="{FF2B5EF4-FFF2-40B4-BE49-F238E27FC236}">
                <a16:creationId xmlns:a16="http://schemas.microsoft.com/office/drawing/2014/main" id="{E575E6DC-DB72-494D-AFDA-C66A3B4F7AED}"/>
              </a:ext>
            </a:extLst>
          </p:cNvPr>
          <p:cNvSpPr>
            <a:spLocks xmlns:a="http://schemas.openxmlformats.org/drawingml/2006/main" noGrp="1"/>
          </p:cNvSpPr>
          <p:nvPr/>
        </p:nvSpPr>
        <p:spPr>
          <a:xfrm xmlns:a="http://schemas.openxmlformats.org/drawingml/2006/main">
            <a:off x="5972175" y="5305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7F9FC"/>
                </a:solidFill>
              </a:defRPr>
            </a:pPr>
            <a:r>
              <a:rPr sz="1125" b="1">
                <a:solidFill>
                  <a:srgbClr val="F7F9FC"/>
                </a:solidFill>
              </a:rPr>
              <a:t>Neo4j</a:t>
            </a:r>
          </a:p>
        </p:txBody>
      </p:sp>
      <p:sp>
        <p:nvSpPr>
          <p:cNvPr id="31" name="">
            <a:extLst xmlns:a="http://schemas.openxmlformats.org/drawingml/2006/main">
              <a:ext uri="{FF2B5EF4-FFF2-40B4-BE49-F238E27FC236}">
                <a16:creationId xmlns:a16="http://schemas.microsoft.com/office/drawing/2014/main" id="{876CDBE4-DB85-4468-BBB6-0F2F61796E96}"/>
              </a:ext>
            </a:extLst>
          </p:cNvPr>
          <p:cNvSpPr>
            <a:spLocks xmlns:a="http://schemas.openxmlformats.org/drawingml/2006/main" noGrp="1"/>
          </p:cNvSpPr>
          <p:nvPr/>
        </p:nvSpPr>
        <p:spPr>
          <a:xfrm xmlns:a="http://schemas.openxmlformats.org/drawingml/2006/main">
            <a:off x="7515225" y="5305425"/>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7F9FC"/>
                </a:solidFill>
              </a:defRPr>
            </a:pPr>
            <a:r>
              <a:rPr sz="1125" b="1">
                <a:solidFill>
                  <a:srgbClr val="F7F9FC"/>
                </a:solidFill>
              </a:rPr>
              <a:t>Redis</a:t>
            </a:r>
          </a:p>
        </p:txBody>
      </p:sp>
      <p:sp>
        <p:nvSpPr>
          <p:cNvPr id="32" name="">
            <a:extLst xmlns:a="http://schemas.openxmlformats.org/drawingml/2006/main">
              <a:ext uri="{FF2B5EF4-FFF2-40B4-BE49-F238E27FC236}">
                <a16:creationId xmlns:a16="http://schemas.microsoft.com/office/drawing/2014/main" id="{5B88F699-2FE8-4471-845C-F5C9B5248594}"/>
              </a:ext>
            </a:extLst>
          </p:cNvPr>
          <p:cNvSpPr>
            <a:spLocks xmlns:a="http://schemas.openxmlformats.org/drawingml/2006/main" noGrp="1"/>
          </p:cNvSpPr>
          <p:nvPr/>
        </p:nvSpPr>
        <p:spPr>
          <a:xfrm xmlns:a="http://schemas.openxmlformats.org/drawingml/2006/main">
            <a:off x="8972550" y="53054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87180"/>
                </a:solidFill>
              </a:defRPr>
            </a:pPr>
            <a:r>
              <a:rPr sz="1050" b="1">
                <a:solidFill>
                  <a:srgbClr val="687180"/>
                </a:solidFill>
              </a:rPr>
              <a:t>docker-compose.yml</a:t>
            </a:r>
          </a:p>
        </p:txBody>
      </p:sp>
    </p:spTree>
    <p:extLst>
      <p:ext uri="{BB962C8B-B14F-4D97-AF65-F5344CB8AC3E}">
        <p14:creationId xmlns:p14="http://schemas.microsoft.com/office/powerpoint/2010/main" val="2071743673"/>
      </p:ext>
    </p:extLst>
  </p:cSld>
</p:sld>
</file>

<file path=ppt/slides/slide6.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067291F-664D-4A82-8D39-10292C27C8A8}"/>
              </a:ext>
            </a:extLst>
          </p:cNvPr>
          <p:cNvSpPr>
            <a:spLocks xmlns:a="http://schemas.openxmlformats.org/drawingml/2006/main" noGrp="1"/>
          </p:cNvSpPr>
          <p:nvPr/>
        </p:nvSpPr>
        <p:spPr>
          <a:xfrm xmlns:a="http://schemas.openxmlformats.org/drawingml/2006/main">
            <a:off x="685800" y="3714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PETRAVIGIL</a:t>
            </a:r>
          </a:p>
        </p:txBody>
      </p:sp>
      <p:sp>
        <p:nvSpPr>
          <p:cNvPr id="2" name="">
            <a:extLst xmlns:a="http://schemas.openxmlformats.org/drawingml/2006/main">
              <a:ext uri="{FF2B5EF4-FFF2-40B4-BE49-F238E27FC236}">
                <a16:creationId xmlns:a16="http://schemas.microsoft.com/office/drawing/2014/main" id="{2E6F9CEA-51EE-4E4C-995A-AE626A8F6AEB}"/>
              </a:ext>
            </a:extLst>
          </p:cNvPr>
          <p:cNvSpPr>
            <a:spLocks xmlns:a="http://schemas.openxmlformats.org/drawingml/2006/main" noGrp="1"/>
          </p:cNvSpPr>
          <p:nvPr/>
        </p:nvSpPr>
        <p:spPr>
          <a:xfrm xmlns:a="http://schemas.openxmlformats.org/drawingml/2006/main">
            <a:off x="685800" y="6286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98A1AF"/>
                </a:solidFill>
              </a:defRPr>
            </a:pPr>
            <a:r>
              <a:rPr sz="900" b="1">
                <a:solidFill>
                  <a:srgbClr val="98A1AF"/>
                </a:solidFill>
              </a:rPr>
              <a:t>LIVE PRODUCT WALKTHROUGH</a:t>
            </a:r>
          </a:p>
        </p:txBody>
      </p:sp>
      <p:sp>
        <p:nvSpPr>
          <p:cNvPr id="3" name="">
            <a:extLst xmlns:a="http://schemas.openxmlformats.org/drawingml/2006/main">
              <a:ext uri="{FF2B5EF4-FFF2-40B4-BE49-F238E27FC236}">
                <a16:creationId xmlns:a16="http://schemas.microsoft.com/office/drawing/2014/main" id="{EECCBBDB-CA1C-4639-8E93-E811388701E1}"/>
              </a:ext>
            </a:extLst>
          </p:cNvPr>
          <p:cNvSpPr>
            <a:spLocks xmlns:a="http://schemas.openxmlformats.org/drawingml/2006/main" noGrp="1"/>
          </p:cNvSpPr>
          <p:nvPr/>
        </p:nvSpPr>
        <p:spPr>
          <a:xfrm xmlns:a="http://schemas.openxmlformats.org/drawingml/2006/main">
            <a:off x="685800" y="962025"/>
            <a:ext cx="647700" cy="28575"/>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4" name="">
            <a:extLst xmlns:a="http://schemas.openxmlformats.org/drawingml/2006/main">
              <a:ext uri="{FF2B5EF4-FFF2-40B4-BE49-F238E27FC236}">
                <a16:creationId xmlns:a16="http://schemas.microsoft.com/office/drawing/2014/main" id="{43C81F9C-89EF-4E20-92EC-C1CE9058746D}"/>
              </a:ext>
            </a:extLst>
          </p:cNvPr>
          <p:cNvSpPr>
            <a:spLocks xmlns:a="http://schemas.openxmlformats.org/drawingml/2006/main" noGrp="1"/>
          </p:cNvSpPr>
          <p:nvPr/>
        </p:nvSpPr>
        <p:spPr>
          <a:xfrm xmlns:a="http://schemas.openxmlformats.org/drawingml/2006/main">
            <a:off x="685800" y="12192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F7F9FC"/>
                </a:solidFill>
              </a:defRPr>
            </a:pPr>
            <a:r>
              <a:rPr sz="3300" b="1">
                <a:solidFill>
                  <a:srgbClr val="F7F9FC"/>
                </a:solidFill>
              </a:rPr>
              <a:t>The judge demo is a complete decision path—not a click-through.</a:t>
            </a:r>
          </a:p>
        </p:txBody>
      </p:sp>
      <p:sp>
        <p:nvSpPr>
          <p:cNvPr id="5" name="">
            <a:extLst xmlns:a="http://schemas.openxmlformats.org/drawingml/2006/main">
              <a:ext uri="{FF2B5EF4-FFF2-40B4-BE49-F238E27FC236}">
                <a16:creationId xmlns:a16="http://schemas.microsoft.com/office/drawing/2014/main" id="{150E9BCA-FF1D-4697-9722-267795CB0BF9}"/>
              </a:ext>
            </a:extLst>
          </p:cNvPr>
          <p:cNvSpPr>
            <a:spLocks xmlns:a="http://schemas.openxmlformats.org/drawingml/2006/main" noGrp="1"/>
          </p:cNvSpPr>
          <p:nvPr/>
        </p:nvSpPr>
        <p:spPr>
          <a:xfrm xmlns:a="http://schemas.openxmlformats.org/drawingml/2006/main">
            <a:off x="10972800" y="61626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0"/>
                </a:solidFill>
              </a:defRPr>
            </a:pPr>
            <a:r>
              <a:rPr sz="975" b="1">
                <a:solidFill>
                  <a:srgbClr val="687180"/>
                </a:solidFill>
              </a:rPr>
              <a:t>06 / 10</a:t>
            </a:r>
          </a:p>
        </p:txBody>
      </p:sp>
      <p:sp>
        <p:nvSpPr>
          <p:cNvPr id="6" name="">
            <a:extLst xmlns:a="http://schemas.openxmlformats.org/drawingml/2006/main">
              <a:ext uri="{FF2B5EF4-FFF2-40B4-BE49-F238E27FC236}">
                <a16:creationId xmlns:a16="http://schemas.microsoft.com/office/drawing/2014/main" id="{97B4A2A5-FDCF-4E18-8B7C-E798C1D14194}"/>
              </a:ext>
            </a:extLst>
          </p:cNvPr>
          <p:cNvSpPr>
            <a:spLocks xmlns:a="http://schemas.openxmlformats.org/drawingml/2006/main" noGrp="1"/>
          </p:cNvSpPr>
          <p:nvPr/>
        </p:nvSpPr>
        <p:spPr>
          <a:xfrm xmlns:a="http://schemas.openxmlformats.org/drawingml/2006/main">
            <a:off x="685800" y="6257925"/>
            <a:ext cx="742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CURRENT REPOSITORY · VERIFIED CAPABILITIES</a:t>
            </a:r>
          </a:p>
        </p:txBody>
      </p:sp>
      <p:sp>
        <p:nvSpPr>
          <p:cNvPr id="7" name="">
            <a:extLst xmlns:a="http://schemas.openxmlformats.org/drawingml/2006/main">
              <a:ext uri="{FF2B5EF4-FFF2-40B4-BE49-F238E27FC236}">
                <a16:creationId xmlns:a16="http://schemas.microsoft.com/office/drawing/2014/main" id="{95ED0582-085D-4218-9BB9-4536268D9A89}"/>
              </a:ext>
            </a:extLst>
          </p:cNvPr>
          <p:cNvSpPr>
            <a:spLocks xmlns:a="http://schemas.openxmlformats.org/drawingml/2006/main" noGrp="1"/>
          </p:cNvSpPr>
          <p:nvPr/>
        </p:nvSpPr>
        <p:spPr>
          <a:xfrm xmlns:a="http://schemas.openxmlformats.org/drawingml/2006/main">
            <a:off x="685800" y="2333625"/>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98A1AF"/>
                </a:solidFill>
              </a:defRPr>
            </a:pPr>
            <a:r>
              <a:rPr sz="1350" b="0">
                <a:solidFill>
                  <a:srgbClr val="98A1AF"/>
                </a:solidFill>
              </a:rPr>
              <a:t>Walk the same signal through input, review, simulation, portfolio selection, and local approval in one visible chain.</a:t>
            </a:r>
          </a:p>
        </p:txBody>
      </p:sp>
      <p:sp>
        <p:nvSpPr>
          <p:cNvPr id="8" name="">
            <a:extLst xmlns:a="http://schemas.openxmlformats.org/drawingml/2006/main">
              <a:ext uri="{FF2B5EF4-FFF2-40B4-BE49-F238E27FC236}">
                <a16:creationId xmlns:a16="http://schemas.microsoft.com/office/drawing/2014/main" id="{204ADA7B-0DFB-453F-A958-1DA1EBFF313C}"/>
              </a:ext>
            </a:extLst>
          </p:cNvPr>
          <p:cNvSpPr>
            <a:spLocks xmlns:a="http://schemas.openxmlformats.org/drawingml/2006/main" noGrp="1"/>
          </p:cNvSpPr>
          <p:nvPr/>
        </p:nvSpPr>
        <p:spPr>
          <a:xfrm xmlns:a="http://schemas.openxmlformats.org/drawingml/2006/main">
            <a:off x="1133475" y="3533775"/>
            <a:ext cx="0" cy="205740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9" name="">
            <a:extLst xmlns:a="http://schemas.openxmlformats.org/drawingml/2006/main">
              <a:ext uri="{FF2B5EF4-FFF2-40B4-BE49-F238E27FC236}">
                <a16:creationId xmlns:a16="http://schemas.microsoft.com/office/drawing/2014/main" id="{9CBAD4FE-2CE8-48E5-8432-3DF0D9C62B84}"/>
              </a:ext>
            </a:extLst>
          </p:cNvPr>
          <p:cNvSpPr>
            <a:spLocks xmlns:a="http://schemas.openxmlformats.org/drawingml/2006/main" noGrp="1"/>
          </p:cNvSpPr>
          <p:nvPr/>
        </p:nvSpPr>
        <p:spPr>
          <a:xfrm xmlns:a="http://schemas.openxmlformats.org/drawingml/2006/main">
            <a:off x="1028700" y="3314700"/>
            <a:ext cx="209550" cy="209550"/>
          </a:xfrm>
          <a:prstGeom xmlns:a="http://schemas.openxmlformats.org/drawingml/2006/main" prst="ellipse">
            <a:avLst/>
          </a:prstGeom>
          <a:solidFill xmlns:a="http://schemas.openxmlformats.org/drawingml/2006/main">
            <a:srgbClr val="4D8DFF"/>
          </a:solidFill>
          <a:ln xmlns:a="http://schemas.openxmlformats.org/drawingml/2006/main" w="0">
            <a:solidFill>
              <a:srgbClr val="4D8DFF"/>
            </a:solidFill>
            <a:prstDash val="solid"/>
          </a:ln>
        </p:spPr>
      </p:sp>
      <p:sp>
        <p:nvSpPr>
          <p:cNvPr id="10" name="">
            <a:extLst xmlns:a="http://schemas.openxmlformats.org/drawingml/2006/main">
              <a:ext uri="{FF2B5EF4-FFF2-40B4-BE49-F238E27FC236}">
                <a16:creationId xmlns:a16="http://schemas.microsoft.com/office/drawing/2014/main" id="{309FEE43-80BC-4152-A27B-4375629B32A8}"/>
              </a:ext>
            </a:extLst>
          </p:cNvPr>
          <p:cNvSpPr>
            <a:spLocks xmlns:a="http://schemas.openxmlformats.org/drawingml/2006/main" noGrp="1"/>
          </p:cNvSpPr>
          <p:nvPr/>
        </p:nvSpPr>
        <p:spPr>
          <a:xfrm xmlns:a="http://schemas.openxmlformats.org/drawingml/2006/main">
            <a:off x="1028700" y="3333750"/>
            <a:ext cx="2095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090A0D"/>
                </a:solidFill>
              </a:defRPr>
            </a:pPr>
            <a:r>
              <a:rPr sz="750" b="1">
                <a:solidFill>
                  <a:srgbClr val="090A0D"/>
                </a:solidFill>
              </a:rPr>
              <a:t>1</a:t>
            </a:r>
          </a:p>
        </p:txBody>
      </p:sp>
      <p:sp>
        <p:nvSpPr>
          <p:cNvPr id="11" name="">
            <a:extLst xmlns:a="http://schemas.openxmlformats.org/drawingml/2006/main">
              <a:ext uri="{FF2B5EF4-FFF2-40B4-BE49-F238E27FC236}">
                <a16:creationId xmlns:a16="http://schemas.microsoft.com/office/drawing/2014/main" id="{95872179-AE62-427B-A412-5D8985ED3F11}"/>
              </a:ext>
            </a:extLst>
          </p:cNvPr>
          <p:cNvSpPr>
            <a:spLocks xmlns:a="http://schemas.openxmlformats.org/drawingml/2006/main" noGrp="1"/>
          </p:cNvSpPr>
          <p:nvPr/>
        </p:nvSpPr>
        <p:spPr>
          <a:xfrm xmlns:a="http://schemas.openxmlformats.org/drawingml/2006/main">
            <a:off x="1447800" y="32385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7F9FC"/>
                </a:solidFill>
              </a:defRPr>
            </a:pPr>
            <a:r>
              <a:rPr sz="1200" b="1">
                <a:solidFill>
                  <a:srgbClr val="F7F9FC"/>
                </a:solidFill>
              </a:rPr>
              <a:t>Input</a:t>
            </a:r>
          </a:p>
        </p:txBody>
      </p:sp>
      <p:sp>
        <p:nvSpPr>
          <p:cNvPr id="12" name="">
            <a:extLst xmlns:a="http://schemas.openxmlformats.org/drawingml/2006/main">
              <a:ext uri="{FF2B5EF4-FFF2-40B4-BE49-F238E27FC236}">
                <a16:creationId xmlns:a16="http://schemas.microsoft.com/office/drawing/2014/main" id="{9963B8E8-C1E7-4F1C-AE49-E52FE443A7F2}"/>
              </a:ext>
            </a:extLst>
          </p:cNvPr>
          <p:cNvSpPr>
            <a:spLocks xmlns:a="http://schemas.openxmlformats.org/drawingml/2006/main" noGrp="1"/>
          </p:cNvSpPr>
          <p:nvPr/>
        </p:nvSpPr>
        <p:spPr>
          <a:xfrm xmlns:a="http://schemas.openxmlformats.org/drawingml/2006/main">
            <a:off x="2943225" y="3238500"/>
            <a:ext cx="442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Paste a source-labeled shipping advisory</a:t>
            </a:r>
          </a:p>
        </p:txBody>
      </p:sp>
      <p:sp>
        <p:nvSpPr>
          <p:cNvPr id="13" name="">
            <a:extLst xmlns:a="http://schemas.openxmlformats.org/drawingml/2006/main">
              <a:ext uri="{FF2B5EF4-FFF2-40B4-BE49-F238E27FC236}">
                <a16:creationId xmlns:a16="http://schemas.microsoft.com/office/drawing/2014/main" id="{9B39293E-459E-4EE0-81B9-4C59DF18A85A}"/>
              </a:ext>
            </a:extLst>
          </p:cNvPr>
          <p:cNvSpPr>
            <a:spLocks xmlns:a="http://schemas.openxmlformats.org/drawingml/2006/main" noGrp="1"/>
          </p:cNvSpPr>
          <p:nvPr/>
        </p:nvSpPr>
        <p:spPr>
          <a:xfrm xmlns:a="http://schemas.openxmlformats.org/drawingml/2006/main">
            <a:off x="1028700" y="3810000"/>
            <a:ext cx="209550" cy="209550"/>
          </a:xfrm>
          <a:prstGeom xmlns:a="http://schemas.openxmlformats.org/drawingml/2006/main" prst="ellipse">
            <a:avLst/>
          </a:prstGeom>
          <a:solidFill xmlns:a="http://schemas.openxmlformats.org/drawingml/2006/main">
            <a:srgbClr val="4D8DFF"/>
          </a:solidFill>
          <a:ln xmlns:a="http://schemas.openxmlformats.org/drawingml/2006/main" w="0">
            <a:solidFill>
              <a:srgbClr val="4D8DFF"/>
            </a:solidFill>
            <a:prstDash val="solid"/>
          </a:ln>
        </p:spPr>
      </p:sp>
      <p:sp>
        <p:nvSpPr>
          <p:cNvPr id="14" name="">
            <a:extLst xmlns:a="http://schemas.openxmlformats.org/drawingml/2006/main">
              <a:ext uri="{FF2B5EF4-FFF2-40B4-BE49-F238E27FC236}">
                <a16:creationId xmlns:a16="http://schemas.microsoft.com/office/drawing/2014/main" id="{413E0FC7-FDB5-4489-9E23-04973C5931CC}"/>
              </a:ext>
            </a:extLst>
          </p:cNvPr>
          <p:cNvSpPr>
            <a:spLocks xmlns:a="http://schemas.openxmlformats.org/drawingml/2006/main" noGrp="1"/>
          </p:cNvSpPr>
          <p:nvPr/>
        </p:nvSpPr>
        <p:spPr>
          <a:xfrm xmlns:a="http://schemas.openxmlformats.org/drawingml/2006/main">
            <a:off x="1028700" y="3829050"/>
            <a:ext cx="2095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090A0D"/>
                </a:solidFill>
              </a:defRPr>
            </a:pPr>
            <a:r>
              <a:rPr sz="750" b="1">
                <a:solidFill>
                  <a:srgbClr val="090A0D"/>
                </a:solidFill>
              </a:rPr>
              <a:t>2</a:t>
            </a:r>
          </a:p>
        </p:txBody>
      </p:sp>
      <p:sp>
        <p:nvSpPr>
          <p:cNvPr id="15" name="">
            <a:extLst xmlns:a="http://schemas.openxmlformats.org/drawingml/2006/main">
              <a:ext uri="{FF2B5EF4-FFF2-40B4-BE49-F238E27FC236}">
                <a16:creationId xmlns:a16="http://schemas.microsoft.com/office/drawing/2014/main" id="{1B69C6AE-11E2-4CF1-9E37-B8AE19E9FB9B}"/>
              </a:ext>
            </a:extLst>
          </p:cNvPr>
          <p:cNvSpPr>
            <a:spLocks xmlns:a="http://schemas.openxmlformats.org/drawingml/2006/main" noGrp="1"/>
          </p:cNvSpPr>
          <p:nvPr/>
        </p:nvSpPr>
        <p:spPr>
          <a:xfrm xmlns:a="http://schemas.openxmlformats.org/drawingml/2006/main">
            <a:off x="1447800" y="37338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7F9FC"/>
                </a:solidFill>
              </a:defRPr>
            </a:pPr>
            <a:r>
              <a:rPr sz="1200" b="1">
                <a:solidFill>
                  <a:srgbClr val="F7F9FC"/>
                </a:solidFill>
              </a:rPr>
              <a:t>Process</a:t>
            </a:r>
          </a:p>
        </p:txBody>
      </p:sp>
      <p:sp>
        <p:nvSpPr>
          <p:cNvPr id="16" name="">
            <a:extLst xmlns:a="http://schemas.openxmlformats.org/drawingml/2006/main">
              <a:ext uri="{FF2B5EF4-FFF2-40B4-BE49-F238E27FC236}">
                <a16:creationId xmlns:a16="http://schemas.microsoft.com/office/drawing/2014/main" id="{29FDF720-C37A-4A97-BDDF-67BEAB994B99}"/>
              </a:ext>
            </a:extLst>
          </p:cNvPr>
          <p:cNvSpPr>
            <a:spLocks xmlns:a="http://schemas.openxmlformats.org/drawingml/2006/main" noGrp="1"/>
          </p:cNvSpPr>
          <p:nvPr/>
        </p:nvSpPr>
        <p:spPr>
          <a:xfrm xmlns:a="http://schemas.openxmlformats.org/drawingml/2006/main">
            <a:off x="2943225" y="3733800"/>
            <a:ext cx="442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Extract, resolve, score the corridor</a:t>
            </a:r>
          </a:p>
        </p:txBody>
      </p:sp>
      <p:sp>
        <p:nvSpPr>
          <p:cNvPr id="17" name="">
            <a:extLst xmlns:a="http://schemas.openxmlformats.org/drawingml/2006/main">
              <a:ext uri="{FF2B5EF4-FFF2-40B4-BE49-F238E27FC236}">
                <a16:creationId xmlns:a16="http://schemas.microsoft.com/office/drawing/2014/main" id="{F7194F73-6009-44D7-92DF-CDDF8AFA06F7}"/>
              </a:ext>
            </a:extLst>
          </p:cNvPr>
          <p:cNvSpPr>
            <a:spLocks xmlns:a="http://schemas.openxmlformats.org/drawingml/2006/main" noGrp="1"/>
          </p:cNvSpPr>
          <p:nvPr/>
        </p:nvSpPr>
        <p:spPr>
          <a:xfrm xmlns:a="http://schemas.openxmlformats.org/drawingml/2006/main">
            <a:off x="1028700" y="4305300"/>
            <a:ext cx="209550" cy="209550"/>
          </a:xfrm>
          <a:prstGeom xmlns:a="http://schemas.openxmlformats.org/drawingml/2006/main" prst="ellipse">
            <a:avLst/>
          </a:prstGeom>
          <a:solidFill xmlns:a="http://schemas.openxmlformats.org/drawingml/2006/main">
            <a:srgbClr val="4D8DFF"/>
          </a:solidFill>
          <a:ln xmlns:a="http://schemas.openxmlformats.org/drawingml/2006/main" w="0">
            <a:solidFill>
              <a:srgbClr val="4D8DFF"/>
            </a:solidFill>
            <a:prstDash val="solid"/>
          </a:ln>
        </p:spPr>
      </p:sp>
      <p:sp>
        <p:nvSpPr>
          <p:cNvPr id="18" name="">
            <a:extLst xmlns:a="http://schemas.openxmlformats.org/drawingml/2006/main">
              <a:ext uri="{FF2B5EF4-FFF2-40B4-BE49-F238E27FC236}">
                <a16:creationId xmlns:a16="http://schemas.microsoft.com/office/drawing/2014/main" id="{D87D5E8E-B10B-4AA8-B872-09CB23434AF8}"/>
              </a:ext>
            </a:extLst>
          </p:cNvPr>
          <p:cNvSpPr>
            <a:spLocks xmlns:a="http://schemas.openxmlformats.org/drawingml/2006/main" noGrp="1"/>
          </p:cNvSpPr>
          <p:nvPr/>
        </p:nvSpPr>
        <p:spPr>
          <a:xfrm xmlns:a="http://schemas.openxmlformats.org/drawingml/2006/main">
            <a:off x="1028700" y="4324350"/>
            <a:ext cx="2095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090A0D"/>
                </a:solidFill>
              </a:defRPr>
            </a:pPr>
            <a:r>
              <a:rPr sz="750" b="1">
                <a:solidFill>
                  <a:srgbClr val="090A0D"/>
                </a:solidFill>
              </a:rPr>
              <a:t>3</a:t>
            </a:r>
          </a:p>
        </p:txBody>
      </p:sp>
      <p:sp>
        <p:nvSpPr>
          <p:cNvPr id="19" name="">
            <a:extLst xmlns:a="http://schemas.openxmlformats.org/drawingml/2006/main">
              <a:ext uri="{FF2B5EF4-FFF2-40B4-BE49-F238E27FC236}">
                <a16:creationId xmlns:a16="http://schemas.microsoft.com/office/drawing/2014/main" id="{73E75735-DC7A-4221-A6CA-08010F4FC185}"/>
              </a:ext>
            </a:extLst>
          </p:cNvPr>
          <p:cNvSpPr>
            <a:spLocks xmlns:a="http://schemas.openxmlformats.org/drawingml/2006/main" noGrp="1"/>
          </p:cNvSpPr>
          <p:nvPr/>
        </p:nvSpPr>
        <p:spPr>
          <a:xfrm xmlns:a="http://schemas.openxmlformats.org/drawingml/2006/main">
            <a:off x="1447800" y="42291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7F9FC"/>
                </a:solidFill>
              </a:defRPr>
            </a:pPr>
            <a:r>
              <a:rPr sz="1200" b="1">
                <a:solidFill>
                  <a:srgbClr val="F7F9FC"/>
                </a:solidFill>
              </a:rPr>
              <a:t>Review</a:t>
            </a:r>
          </a:p>
        </p:txBody>
      </p:sp>
      <p:sp>
        <p:nvSpPr>
          <p:cNvPr id="20" name="">
            <a:extLst xmlns:a="http://schemas.openxmlformats.org/drawingml/2006/main">
              <a:ext uri="{FF2B5EF4-FFF2-40B4-BE49-F238E27FC236}">
                <a16:creationId xmlns:a16="http://schemas.microsoft.com/office/drawing/2014/main" id="{41E412C6-9896-488B-A677-FD59EB101FDE}"/>
              </a:ext>
            </a:extLst>
          </p:cNvPr>
          <p:cNvSpPr>
            <a:spLocks xmlns:a="http://schemas.openxmlformats.org/drawingml/2006/main" noGrp="1"/>
          </p:cNvSpPr>
          <p:nvPr/>
        </p:nvSpPr>
        <p:spPr>
          <a:xfrm xmlns:a="http://schemas.openxmlformats.org/drawingml/2006/main">
            <a:off x="2943225" y="4229100"/>
            <a:ext cx="442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Edit and confirm the assumptions</a:t>
            </a:r>
          </a:p>
        </p:txBody>
      </p:sp>
      <p:sp>
        <p:nvSpPr>
          <p:cNvPr id="21" name="">
            <a:extLst xmlns:a="http://schemas.openxmlformats.org/drawingml/2006/main">
              <a:ext uri="{FF2B5EF4-FFF2-40B4-BE49-F238E27FC236}">
                <a16:creationId xmlns:a16="http://schemas.microsoft.com/office/drawing/2014/main" id="{AB8830A2-F1CF-4DA9-B03D-A94B3D4FC30F}"/>
              </a:ext>
            </a:extLst>
          </p:cNvPr>
          <p:cNvSpPr>
            <a:spLocks xmlns:a="http://schemas.openxmlformats.org/drawingml/2006/main" noGrp="1"/>
          </p:cNvSpPr>
          <p:nvPr/>
        </p:nvSpPr>
        <p:spPr>
          <a:xfrm xmlns:a="http://schemas.openxmlformats.org/drawingml/2006/main">
            <a:off x="1028700" y="4800600"/>
            <a:ext cx="209550" cy="209550"/>
          </a:xfrm>
          <a:prstGeom xmlns:a="http://schemas.openxmlformats.org/drawingml/2006/main" prst="ellipse">
            <a:avLst/>
          </a:prstGeom>
          <a:solidFill xmlns:a="http://schemas.openxmlformats.org/drawingml/2006/main">
            <a:srgbClr val="54D2C5"/>
          </a:solidFill>
          <a:ln xmlns:a="http://schemas.openxmlformats.org/drawingml/2006/main" w="0">
            <a:solidFill>
              <a:srgbClr val="54D2C5"/>
            </a:solidFill>
            <a:prstDash val="solid"/>
          </a:ln>
        </p:spPr>
      </p:sp>
      <p:sp>
        <p:nvSpPr>
          <p:cNvPr id="22" name="">
            <a:extLst xmlns:a="http://schemas.openxmlformats.org/drawingml/2006/main">
              <a:ext uri="{FF2B5EF4-FFF2-40B4-BE49-F238E27FC236}">
                <a16:creationId xmlns:a16="http://schemas.microsoft.com/office/drawing/2014/main" id="{76481822-A325-456C-B139-DB453C07F1D9}"/>
              </a:ext>
            </a:extLst>
          </p:cNvPr>
          <p:cNvSpPr>
            <a:spLocks xmlns:a="http://schemas.openxmlformats.org/drawingml/2006/main" noGrp="1"/>
          </p:cNvSpPr>
          <p:nvPr/>
        </p:nvSpPr>
        <p:spPr>
          <a:xfrm xmlns:a="http://schemas.openxmlformats.org/drawingml/2006/main">
            <a:off x="1028700" y="4819650"/>
            <a:ext cx="2095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090A0D"/>
                </a:solidFill>
              </a:defRPr>
            </a:pPr>
            <a:r>
              <a:rPr sz="750" b="1">
                <a:solidFill>
                  <a:srgbClr val="090A0D"/>
                </a:solidFill>
              </a:rPr>
              <a:t>4</a:t>
            </a:r>
          </a:p>
        </p:txBody>
      </p:sp>
      <p:sp>
        <p:nvSpPr>
          <p:cNvPr id="23" name="">
            <a:extLst xmlns:a="http://schemas.openxmlformats.org/drawingml/2006/main">
              <a:ext uri="{FF2B5EF4-FFF2-40B4-BE49-F238E27FC236}">
                <a16:creationId xmlns:a16="http://schemas.microsoft.com/office/drawing/2014/main" id="{E11E4136-A36F-46E1-A68C-67A4FDE0B289}"/>
              </a:ext>
            </a:extLst>
          </p:cNvPr>
          <p:cNvSpPr>
            <a:spLocks xmlns:a="http://schemas.openxmlformats.org/drawingml/2006/main" noGrp="1"/>
          </p:cNvSpPr>
          <p:nvPr/>
        </p:nvSpPr>
        <p:spPr>
          <a:xfrm xmlns:a="http://schemas.openxmlformats.org/drawingml/2006/main">
            <a:off x="1447800" y="47244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7F9FC"/>
                </a:solidFill>
              </a:defRPr>
            </a:pPr>
            <a:r>
              <a:rPr sz="1200" b="1">
                <a:solidFill>
                  <a:srgbClr val="F7F9FC"/>
                </a:solidFill>
              </a:rPr>
              <a:t>Simulate</a:t>
            </a:r>
          </a:p>
        </p:txBody>
      </p:sp>
      <p:sp>
        <p:nvSpPr>
          <p:cNvPr id="24" name="">
            <a:extLst xmlns:a="http://schemas.openxmlformats.org/drawingml/2006/main">
              <a:ext uri="{FF2B5EF4-FFF2-40B4-BE49-F238E27FC236}">
                <a16:creationId xmlns:a16="http://schemas.microsoft.com/office/drawing/2014/main" id="{B07401FA-6C93-4EFB-A148-46A6AD8BD079}"/>
              </a:ext>
            </a:extLst>
          </p:cNvPr>
          <p:cNvSpPr>
            <a:spLocks xmlns:a="http://schemas.openxmlformats.org/drawingml/2006/main" noGrp="1"/>
          </p:cNvSpPr>
          <p:nvPr/>
        </p:nvSpPr>
        <p:spPr>
          <a:xfrm xmlns:a="http://schemas.openxmlformats.org/drawingml/2006/main">
            <a:off x="2943225" y="4724400"/>
            <a:ext cx="442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Run 1,000 reproducible scenarios</a:t>
            </a:r>
          </a:p>
        </p:txBody>
      </p:sp>
      <p:sp>
        <p:nvSpPr>
          <p:cNvPr id="25" name="">
            <a:extLst xmlns:a="http://schemas.openxmlformats.org/drawingml/2006/main">
              <a:ext uri="{FF2B5EF4-FFF2-40B4-BE49-F238E27FC236}">
                <a16:creationId xmlns:a16="http://schemas.microsoft.com/office/drawing/2014/main" id="{252FDBBB-387A-4F12-B144-15FA22ED5FAD}"/>
              </a:ext>
            </a:extLst>
          </p:cNvPr>
          <p:cNvSpPr>
            <a:spLocks xmlns:a="http://schemas.openxmlformats.org/drawingml/2006/main" noGrp="1"/>
          </p:cNvSpPr>
          <p:nvPr/>
        </p:nvSpPr>
        <p:spPr>
          <a:xfrm xmlns:a="http://schemas.openxmlformats.org/drawingml/2006/main">
            <a:off x="1028700" y="5295900"/>
            <a:ext cx="209550" cy="209550"/>
          </a:xfrm>
          <a:prstGeom xmlns:a="http://schemas.openxmlformats.org/drawingml/2006/main" prst="ellipse">
            <a:avLst/>
          </a:prstGeom>
          <a:solidFill xmlns:a="http://schemas.openxmlformats.org/drawingml/2006/main">
            <a:srgbClr val="E2A447"/>
          </a:solidFill>
          <a:ln xmlns:a="http://schemas.openxmlformats.org/drawingml/2006/main" w="0">
            <a:solidFill>
              <a:srgbClr val="E2A447"/>
            </a:solidFill>
            <a:prstDash val="solid"/>
          </a:ln>
        </p:spPr>
      </p:sp>
      <p:sp>
        <p:nvSpPr>
          <p:cNvPr id="26" name="">
            <a:extLst xmlns:a="http://schemas.openxmlformats.org/drawingml/2006/main">
              <a:ext uri="{FF2B5EF4-FFF2-40B4-BE49-F238E27FC236}">
                <a16:creationId xmlns:a16="http://schemas.microsoft.com/office/drawing/2014/main" id="{6A3B7A60-E95D-4830-8295-BDA94CE18B1A}"/>
              </a:ext>
            </a:extLst>
          </p:cNvPr>
          <p:cNvSpPr>
            <a:spLocks xmlns:a="http://schemas.openxmlformats.org/drawingml/2006/main" noGrp="1"/>
          </p:cNvSpPr>
          <p:nvPr/>
        </p:nvSpPr>
        <p:spPr>
          <a:xfrm xmlns:a="http://schemas.openxmlformats.org/drawingml/2006/main">
            <a:off x="1028700" y="5314950"/>
            <a:ext cx="2095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090A0D"/>
                </a:solidFill>
              </a:defRPr>
            </a:pPr>
            <a:r>
              <a:rPr sz="750" b="1">
                <a:solidFill>
                  <a:srgbClr val="090A0D"/>
                </a:solidFill>
              </a:rPr>
              <a:t>5</a:t>
            </a:r>
          </a:p>
        </p:txBody>
      </p:sp>
      <p:sp>
        <p:nvSpPr>
          <p:cNvPr id="27" name="">
            <a:extLst xmlns:a="http://schemas.openxmlformats.org/drawingml/2006/main">
              <a:ext uri="{FF2B5EF4-FFF2-40B4-BE49-F238E27FC236}">
                <a16:creationId xmlns:a16="http://schemas.microsoft.com/office/drawing/2014/main" id="{87E8EEA3-B8FD-4FC2-BE1A-53965EB44EE0}"/>
              </a:ext>
            </a:extLst>
          </p:cNvPr>
          <p:cNvSpPr>
            <a:spLocks xmlns:a="http://schemas.openxmlformats.org/drawingml/2006/main" noGrp="1"/>
          </p:cNvSpPr>
          <p:nvPr/>
        </p:nvSpPr>
        <p:spPr>
          <a:xfrm xmlns:a="http://schemas.openxmlformats.org/drawingml/2006/main">
            <a:off x="1447800" y="52197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7F9FC"/>
                </a:solidFill>
              </a:defRPr>
            </a:pPr>
            <a:r>
              <a:rPr sz="1200" b="1">
                <a:solidFill>
                  <a:srgbClr val="F7F9FC"/>
                </a:solidFill>
              </a:rPr>
              <a:t>Recommend</a:t>
            </a:r>
          </a:p>
        </p:txBody>
      </p:sp>
      <p:sp>
        <p:nvSpPr>
          <p:cNvPr id="28" name="">
            <a:extLst xmlns:a="http://schemas.openxmlformats.org/drawingml/2006/main">
              <a:ext uri="{FF2B5EF4-FFF2-40B4-BE49-F238E27FC236}">
                <a16:creationId xmlns:a16="http://schemas.microsoft.com/office/drawing/2014/main" id="{3CB4164B-F6F3-4ED8-886C-476B7D630828}"/>
              </a:ext>
            </a:extLst>
          </p:cNvPr>
          <p:cNvSpPr>
            <a:spLocks xmlns:a="http://schemas.openxmlformats.org/drawingml/2006/main" noGrp="1"/>
          </p:cNvSpPr>
          <p:nvPr/>
        </p:nvSpPr>
        <p:spPr>
          <a:xfrm xmlns:a="http://schemas.openxmlformats.org/drawingml/2006/main">
            <a:off x="2943225" y="5219700"/>
            <a:ext cx="442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Compare four constrained portfolios</a:t>
            </a:r>
          </a:p>
        </p:txBody>
      </p:sp>
      <p:sp>
        <p:nvSpPr>
          <p:cNvPr id="29" name="">
            <a:extLst xmlns:a="http://schemas.openxmlformats.org/drawingml/2006/main">
              <a:ext uri="{FF2B5EF4-FFF2-40B4-BE49-F238E27FC236}">
                <a16:creationId xmlns:a16="http://schemas.microsoft.com/office/drawing/2014/main" id="{C813F899-217A-4BEC-85DF-7DBAE3BD6BC1}"/>
              </a:ext>
            </a:extLst>
          </p:cNvPr>
          <p:cNvSpPr>
            <a:spLocks xmlns:a="http://schemas.openxmlformats.org/drawingml/2006/main" noGrp="1"/>
          </p:cNvSpPr>
          <p:nvPr/>
        </p:nvSpPr>
        <p:spPr>
          <a:xfrm xmlns:a="http://schemas.openxmlformats.org/drawingml/2006/main">
            <a:off x="1028700" y="5791200"/>
            <a:ext cx="209550" cy="209550"/>
          </a:xfrm>
          <a:prstGeom xmlns:a="http://schemas.openxmlformats.org/drawingml/2006/main" prst="ellipse">
            <a:avLst/>
          </a:prstGeom>
          <a:solidFill xmlns:a="http://schemas.openxmlformats.org/drawingml/2006/main">
            <a:srgbClr val="E2A447"/>
          </a:solidFill>
          <a:ln xmlns:a="http://schemas.openxmlformats.org/drawingml/2006/main" w="0">
            <a:solidFill>
              <a:srgbClr val="E2A447"/>
            </a:solidFill>
            <a:prstDash val="solid"/>
          </a:ln>
        </p:spPr>
      </p:sp>
      <p:sp>
        <p:nvSpPr>
          <p:cNvPr id="30" name="">
            <a:extLst xmlns:a="http://schemas.openxmlformats.org/drawingml/2006/main">
              <a:ext uri="{FF2B5EF4-FFF2-40B4-BE49-F238E27FC236}">
                <a16:creationId xmlns:a16="http://schemas.microsoft.com/office/drawing/2014/main" id="{94F8A324-4230-471B-9553-04076CF893D9}"/>
              </a:ext>
            </a:extLst>
          </p:cNvPr>
          <p:cNvSpPr>
            <a:spLocks xmlns:a="http://schemas.openxmlformats.org/drawingml/2006/main" noGrp="1"/>
          </p:cNvSpPr>
          <p:nvPr/>
        </p:nvSpPr>
        <p:spPr>
          <a:xfrm xmlns:a="http://schemas.openxmlformats.org/drawingml/2006/main">
            <a:off x="1028700" y="5810250"/>
            <a:ext cx="2095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090A0D"/>
                </a:solidFill>
              </a:defRPr>
            </a:pPr>
            <a:r>
              <a:rPr sz="750" b="1">
                <a:solidFill>
                  <a:srgbClr val="090A0D"/>
                </a:solidFill>
              </a:rPr>
              <a:t>6</a:t>
            </a:r>
          </a:p>
        </p:txBody>
      </p:sp>
      <p:sp>
        <p:nvSpPr>
          <p:cNvPr id="31" name="">
            <a:extLst xmlns:a="http://schemas.openxmlformats.org/drawingml/2006/main">
              <a:ext uri="{FF2B5EF4-FFF2-40B4-BE49-F238E27FC236}">
                <a16:creationId xmlns:a16="http://schemas.microsoft.com/office/drawing/2014/main" id="{3625D965-8BA4-491C-94EC-07016E38F16A}"/>
              </a:ext>
            </a:extLst>
          </p:cNvPr>
          <p:cNvSpPr>
            <a:spLocks xmlns:a="http://schemas.openxmlformats.org/drawingml/2006/main" noGrp="1"/>
          </p:cNvSpPr>
          <p:nvPr/>
        </p:nvSpPr>
        <p:spPr>
          <a:xfrm xmlns:a="http://schemas.openxmlformats.org/drawingml/2006/main">
            <a:off x="1447800" y="57150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7F9FC"/>
                </a:solidFill>
              </a:defRPr>
            </a:pPr>
            <a:r>
              <a:rPr sz="1200" b="1">
                <a:solidFill>
                  <a:srgbClr val="F7F9FC"/>
                </a:solidFill>
              </a:rPr>
              <a:t>Approve</a:t>
            </a:r>
          </a:p>
        </p:txBody>
      </p:sp>
      <p:sp>
        <p:nvSpPr>
          <p:cNvPr id="32" name="">
            <a:extLst xmlns:a="http://schemas.openxmlformats.org/drawingml/2006/main">
              <a:ext uri="{FF2B5EF4-FFF2-40B4-BE49-F238E27FC236}">
                <a16:creationId xmlns:a16="http://schemas.microsoft.com/office/drawing/2014/main" id="{7D167D8D-F7BB-4A2A-B638-DB864451CDEB}"/>
              </a:ext>
            </a:extLst>
          </p:cNvPr>
          <p:cNvSpPr>
            <a:spLocks xmlns:a="http://schemas.openxmlformats.org/drawingml/2006/main" noGrp="1"/>
          </p:cNvSpPr>
          <p:nvPr/>
        </p:nvSpPr>
        <p:spPr>
          <a:xfrm xmlns:a="http://schemas.openxmlformats.org/drawingml/2006/main">
            <a:off x="2943225" y="5715000"/>
            <a:ext cx="442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Record a local human decision</a:t>
            </a:r>
          </a:p>
        </p:txBody>
      </p:sp>
      <p:sp>
        <p:nvSpPr>
          <p:cNvPr id="33" name="">
            <a:extLst xmlns:a="http://schemas.openxmlformats.org/drawingml/2006/main">
              <a:ext uri="{FF2B5EF4-FFF2-40B4-BE49-F238E27FC236}">
                <a16:creationId xmlns:a16="http://schemas.microsoft.com/office/drawing/2014/main" id="{AF44A607-980D-449D-880C-C46F1824348E}"/>
              </a:ext>
            </a:extLst>
          </p:cNvPr>
          <p:cNvSpPr>
            <a:spLocks xmlns:a="http://schemas.openxmlformats.org/drawingml/2006/main" noGrp="1"/>
          </p:cNvSpPr>
          <p:nvPr/>
        </p:nvSpPr>
        <p:spPr>
          <a:xfrm xmlns:a="http://schemas.openxmlformats.org/drawingml/2006/main">
            <a:off x="8020050" y="3133725"/>
            <a:ext cx="3162300" cy="2419350"/>
          </a:xfrm>
          <a:prstGeom xmlns:a="http://schemas.openxmlformats.org/drawingml/2006/main" prst="roundRect">
            <a:avLst>
              <a:gd name="adj" fmla="val 3937"/>
            </a:avLst>
          </a:prstGeom>
          <a:solidFill xmlns:a="http://schemas.openxmlformats.org/drawingml/2006/main">
            <a:srgbClr val="0D1119"/>
          </a:solidFill>
          <a:ln xmlns:a="http://schemas.openxmlformats.org/drawingml/2006/main" w="9525">
            <a:solidFill>
              <a:srgbClr val="4D8DFF"/>
            </a:solidFill>
            <a:prstDash val="solid"/>
          </a:ln>
        </p:spPr>
      </p:sp>
      <p:sp>
        <p:nvSpPr>
          <p:cNvPr id="34" name="">
            <a:extLst xmlns:a="http://schemas.openxmlformats.org/drawingml/2006/main">
              <a:ext uri="{FF2B5EF4-FFF2-40B4-BE49-F238E27FC236}">
                <a16:creationId xmlns:a16="http://schemas.microsoft.com/office/drawing/2014/main" id="{7E6AE1A2-CD87-4B09-8417-CD2953D4D74C}"/>
              </a:ext>
            </a:extLst>
          </p:cNvPr>
          <p:cNvSpPr>
            <a:spLocks xmlns:a="http://schemas.openxmlformats.org/drawingml/2006/main" noGrp="1"/>
          </p:cNvSpPr>
          <p:nvPr/>
        </p:nvSpPr>
        <p:spPr>
          <a:xfrm xmlns:a="http://schemas.openxmlformats.org/drawingml/2006/main">
            <a:off x="8258175" y="3381375"/>
            <a:ext cx="1238250" cy="247650"/>
          </a:xfrm>
          <a:prstGeom xmlns:a="http://schemas.openxmlformats.org/drawingml/2006/main" prst="roundRect">
            <a:avLst>
              <a:gd name="adj" fmla="val 19231"/>
            </a:avLst>
          </a:prstGeom>
          <a:solidFill xmlns:a="http://schemas.openxmlformats.org/drawingml/2006/main">
            <a:srgbClr val="101B30"/>
          </a:solidFill>
          <a:ln xmlns:a="http://schemas.openxmlformats.org/drawingml/2006/main" w="9525">
            <a:solidFill>
              <a:srgbClr val="39404D"/>
            </a:solidFill>
            <a:prstDash val="solid"/>
          </a:ln>
        </p:spPr>
      </p:sp>
      <p:sp>
        <p:nvSpPr>
          <p:cNvPr id="35" name="">
            <a:extLst xmlns:a="http://schemas.openxmlformats.org/drawingml/2006/main">
              <a:ext uri="{FF2B5EF4-FFF2-40B4-BE49-F238E27FC236}">
                <a16:creationId xmlns:a16="http://schemas.microsoft.com/office/drawing/2014/main" id="{C165C8B6-494F-4E37-8F3C-C419C45459C1}"/>
              </a:ext>
            </a:extLst>
          </p:cNvPr>
          <p:cNvSpPr>
            <a:spLocks xmlns:a="http://schemas.openxmlformats.org/drawingml/2006/main" noGrp="1"/>
          </p:cNvSpPr>
          <p:nvPr/>
        </p:nvSpPr>
        <p:spPr>
          <a:xfrm xmlns:a="http://schemas.openxmlformats.org/drawingml/2006/main">
            <a:off x="8334375" y="3409950"/>
            <a:ext cx="1085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78AAFF"/>
                </a:solidFill>
              </a:defRPr>
            </a:pPr>
            <a:r>
              <a:rPr sz="825" b="1">
                <a:solidFill>
                  <a:srgbClr val="78AAFF"/>
                </a:solidFill>
              </a:rPr>
              <a:t>DECISION GATE</a:t>
            </a:r>
          </a:p>
        </p:txBody>
      </p:sp>
      <p:sp>
        <p:nvSpPr>
          <p:cNvPr id="36" name="">
            <a:extLst xmlns:a="http://schemas.openxmlformats.org/drawingml/2006/main">
              <a:ext uri="{FF2B5EF4-FFF2-40B4-BE49-F238E27FC236}">
                <a16:creationId xmlns:a16="http://schemas.microsoft.com/office/drawing/2014/main" id="{3C50ACD4-5CD1-45B4-8F72-870B1F4C1A2D}"/>
              </a:ext>
            </a:extLst>
          </p:cNvPr>
          <p:cNvSpPr>
            <a:spLocks xmlns:a="http://schemas.openxmlformats.org/drawingml/2006/main" noGrp="1"/>
          </p:cNvSpPr>
          <p:nvPr/>
        </p:nvSpPr>
        <p:spPr>
          <a:xfrm xmlns:a="http://schemas.openxmlformats.org/drawingml/2006/main">
            <a:off x="8258175" y="38290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F7F9FC"/>
                </a:solidFill>
              </a:defRPr>
            </a:pPr>
            <a:r>
              <a:rPr sz="1950" b="1">
                <a:solidFill>
                  <a:srgbClr val="F7F9FC"/>
                </a:solidFill>
              </a:rPr>
              <a:t>No analyst confirmation,</a:t>
            </a:r>
          </a:p>
          <a:p xmlns:a="http://schemas.openxmlformats.org/drawingml/2006/main">
            <a:pPr algn="l">
              <a:defRPr sz="1950" b="1">
                <a:solidFill>
                  <a:srgbClr val="F7F9FC"/>
                </a:solidFill>
              </a:defRPr>
            </a:pPr>
            <a:r>
              <a:rPr sz="1950" b="1">
                <a:solidFill>
                  <a:srgbClr val="F7F9FC"/>
                </a:solidFill>
              </a:rPr>
              <a:t>no downstream simulation.</a:t>
            </a:r>
          </a:p>
        </p:txBody>
      </p:sp>
      <p:sp>
        <p:nvSpPr>
          <p:cNvPr id="37" name="">
            <a:extLst xmlns:a="http://schemas.openxmlformats.org/drawingml/2006/main">
              <a:ext uri="{FF2B5EF4-FFF2-40B4-BE49-F238E27FC236}">
                <a16:creationId xmlns:a16="http://schemas.microsoft.com/office/drawing/2014/main" id="{DBBCCC31-EFC7-40FD-9DFD-AF6819C1A4C8}"/>
              </a:ext>
            </a:extLst>
          </p:cNvPr>
          <p:cNvSpPr>
            <a:spLocks xmlns:a="http://schemas.openxmlformats.org/drawingml/2006/main" noGrp="1"/>
          </p:cNvSpPr>
          <p:nvPr/>
        </p:nvSpPr>
        <p:spPr>
          <a:xfrm xmlns:a="http://schemas.openxmlformats.org/drawingml/2006/main">
            <a:off x="8258175" y="4695825"/>
            <a:ext cx="2400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Every stage retains its inputs, rationale, and open unknowns.</a:t>
            </a:r>
          </a:p>
        </p:txBody>
      </p:sp>
    </p:spTree>
    <p:extLst>
      <p:ext uri="{BB962C8B-B14F-4D97-AF65-F5344CB8AC3E}">
        <p14:creationId xmlns:p14="http://schemas.microsoft.com/office/powerpoint/2010/main" val="262863149"/>
      </p:ext>
    </p:extLst>
  </p:cSld>
</p:sld>
</file>

<file path=ppt/slides/slide7.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8580353-2F61-4E79-BA1B-D6209448004D}"/>
              </a:ext>
            </a:extLst>
          </p:cNvPr>
          <p:cNvSpPr>
            <a:spLocks xmlns:a="http://schemas.openxmlformats.org/drawingml/2006/main" noGrp="1"/>
          </p:cNvSpPr>
          <p:nvPr/>
        </p:nvSpPr>
        <p:spPr>
          <a:xfrm xmlns:a="http://schemas.openxmlformats.org/drawingml/2006/main">
            <a:off x="685800" y="3714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PETRAVIGIL</a:t>
            </a:r>
          </a:p>
        </p:txBody>
      </p:sp>
      <p:sp>
        <p:nvSpPr>
          <p:cNvPr id="2" name="">
            <a:extLst xmlns:a="http://schemas.openxmlformats.org/drawingml/2006/main">
              <a:ext uri="{FF2B5EF4-FFF2-40B4-BE49-F238E27FC236}">
                <a16:creationId xmlns:a16="http://schemas.microsoft.com/office/drawing/2014/main" id="{87149D37-950A-4855-94A3-53C8016F5CFB}"/>
              </a:ext>
            </a:extLst>
          </p:cNvPr>
          <p:cNvSpPr>
            <a:spLocks xmlns:a="http://schemas.openxmlformats.org/drawingml/2006/main" noGrp="1"/>
          </p:cNvSpPr>
          <p:nvPr/>
        </p:nvSpPr>
        <p:spPr>
          <a:xfrm xmlns:a="http://schemas.openxmlformats.org/drawingml/2006/main">
            <a:off x="685800" y="6286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98A1AF"/>
                </a:solidFill>
              </a:defRPr>
            </a:pPr>
            <a:r>
              <a:rPr sz="900" b="1">
                <a:solidFill>
                  <a:srgbClr val="98A1AF"/>
                </a:solidFill>
              </a:rPr>
              <a:t>KEY INNOVATIONS</a:t>
            </a:r>
          </a:p>
        </p:txBody>
      </p:sp>
      <p:sp>
        <p:nvSpPr>
          <p:cNvPr id="3" name="">
            <a:extLst xmlns:a="http://schemas.openxmlformats.org/drawingml/2006/main">
              <a:ext uri="{FF2B5EF4-FFF2-40B4-BE49-F238E27FC236}">
                <a16:creationId xmlns:a16="http://schemas.microsoft.com/office/drawing/2014/main" id="{80A17907-B5F0-4562-B534-7DDB7D557C07}"/>
              </a:ext>
            </a:extLst>
          </p:cNvPr>
          <p:cNvSpPr>
            <a:spLocks xmlns:a="http://schemas.openxmlformats.org/drawingml/2006/main" noGrp="1"/>
          </p:cNvSpPr>
          <p:nvPr/>
        </p:nvSpPr>
        <p:spPr>
          <a:xfrm xmlns:a="http://schemas.openxmlformats.org/drawingml/2006/main">
            <a:off x="685800" y="962025"/>
            <a:ext cx="647700" cy="28575"/>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4" name="">
            <a:extLst xmlns:a="http://schemas.openxmlformats.org/drawingml/2006/main">
              <a:ext uri="{FF2B5EF4-FFF2-40B4-BE49-F238E27FC236}">
                <a16:creationId xmlns:a16="http://schemas.microsoft.com/office/drawing/2014/main" id="{DDFC4AF6-F04A-4755-AE32-C0B3D903A7DA}"/>
              </a:ext>
            </a:extLst>
          </p:cNvPr>
          <p:cNvSpPr>
            <a:spLocks xmlns:a="http://schemas.openxmlformats.org/drawingml/2006/main" noGrp="1"/>
          </p:cNvSpPr>
          <p:nvPr/>
        </p:nvSpPr>
        <p:spPr>
          <a:xfrm xmlns:a="http://schemas.openxmlformats.org/drawingml/2006/main">
            <a:off x="685800" y="12192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F7F9FC"/>
                </a:solidFill>
              </a:defRPr>
            </a:pPr>
            <a:r>
              <a:rPr sz="3300" b="1">
                <a:solidFill>
                  <a:srgbClr val="F7F9FC"/>
                </a:solidFill>
              </a:rPr>
              <a:t>The safeguards are part of the product—not a footnote.</a:t>
            </a:r>
          </a:p>
        </p:txBody>
      </p:sp>
      <p:sp>
        <p:nvSpPr>
          <p:cNvPr id="5" name="">
            <a:extLst xmlns:a="http://schemas.openxmlformats.org/drawingml/2006/main">
              <a:ext uri="{FF2B5EF4-FFF2-40B4-BE49-F238E27FC236}">
                <a16:creationId xmlns:a16="http://schemas.microsoft.com/office/drawing/2014/main" id="{56D7DD77-BB20-4461-8CFA-0CE50A834F4A}"/>
              </a:ext>
            </a:extLst>
          </p:cNvPr>
          <p:cNvSpPr>
            <a:spLocks xmlns:a="http://schemas.openxmlformats.org/drawingml/2006/main" noGrp="1"/>
          </p:cNvSpPr>
          <p:nvPr/>
        </p:nvSpPr>
        <p:spPr>
          <a:xfrm xmlns:a="http://schemas.openxmlformats.org/drawingml/2006/main">
            <a:off x="10972800" y="61626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0"/>
                </a:solidFill>
              </a:defRPr>
            </a:pPr>
            <a:r>
              <a:rPr sz="975" b="1">
                <a:solidFill>
                  <a:srgbClr val="687180"/>
                </a:solidFill>
              </a:rPr>
              <a:t>07 / 10</a:t>
            </a:r>
          </a:p>
        </p:txBody>
      </p:sp>
      <p:sp>
        <p:nvSpPr>
          <p:cNvPr id="6" name="">
            <a:extLst xmlns:a="http://schemas.openxmlformats.org/drawingml/2006/main">
              <a:ext uri="{FF2B5EF4-FFF2-40B4-BE49-F238E27FC236}">
                <a16:creationId xmlns:a16="http://schemas.microsoft.com/office/drawing/2014/main" id="{A627FD77-93BF-4A10-8FED-DE6BE9B53199}"/>
              </a:ext>
            </a:extLst>
          </p:cNvPr>
          <p:cNvSpPr>
            <a:spLocks xmlns:a="http://schemas.openxmlformats.org/drawingml/2006/main" noGrp="1"/>
          </p:cNvSpPr>
          <p:nvPr/>
        </p:nvSpPr>
        <p:spPr>
          <a:xfrm xmlns:a="http://schemas.openxmlformats.org/drawingml/2006/main">
            <a:off x="685800" y="6257925"/>
            <a:ext cx="742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CURRENT REPOSITORY · VERIFIED CAPABILITIES</a:t>
            </a:r>
          </a:p>
        </p:txBody>
      </p:sp>
      <p:sp>
        <p:nvSpPr>
          <p:cNvPr id="7" name="">
            <a:extLst xmlns:a="http://schemas.openxmlformats.org/drawingml/2006/main">
              <a:ext uri="{FF2B5EF4-FFF2-40B4-BE49-F238E27FC236}">
                <a16:creationId xmlns:a16="http://schemas.microsoft.com/office/drawing/2014/main" id="{B6D3039F-AAA5-43E2-AB92-0EF822921246}"/>
              </a:ext>
            </a:extLst>
          </p:cNvPr>
          <p:cNvSpPr>
            <a:spLocks xmlns:a="http://schemas.openxmlformats.org/drawingml/2006/main" noGrp="1"/>
          </p:cNvSpPr>
          <p:nvPr/>
        </p:nvSpPr>
        <p:spPr>
          <a:xfrm xmlns:a="http://schemas.openxmlformats.org/drawingml/2006/main">
            <a:off x="685800" y="253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01</a:t>
            </a:r>
          </a:p>
        </p:txBody>
      </p:sp>
      <p:sp>
        <p:nvSpPr>
          <p:cNvPr id="8" name="">
            <a:extLst xmlns:a="http://schemas.openxmlformats.org/drawingml/2006/main">
              <a:ext uri="{FF2B5EF4-FFF2-40B4-BE49-F238E27FC236}">
                <a16:creationId xmlns:a16="http://schemas.microsoft.com/office/drawing/2014/main" id="{FF292E16-181D-4071-9606-880350CEECBC}"/>
              </a:ext>
            </a:extLst>
          </p:cNvPr>
          <p:cNvSpPr>
            <a:spLocks xmlns:a="http://schemas.openxmlformats.org/drawingml/2006/main" noGrp="1"/>
          </p:cNvSpPr>
          <p:nvPr/>
        </p:nvSpPr>
        <p:spPr>
          <a:xfrm xmlns:a="http://schemas.openxmlformats.org/drawingml/2006/main">
            <a:off x="1257300" y="2486025"/>
            <a:ext cx="0" cy="57150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9" name="">
            <a:extLst xmlns:a="http://schemas.openxmlformats.org/drawingml/2006/main">
              <a:ext uri="{FF2B5EF4-FFF2-40B4-BE49-F238E27FC236}">
                <a16:creationId xmlns:a16="http://schemas.microsoft.com/office/drawing/2014/main" id="{1049EF8B-DB90-46F5-B290-666527EC3336}"/>
              </a:ext>
            </a:extLst>
          </p:cNvPr>
          <p:cNvSpPr>
            <a:spLocks xmlns:a="http://schemas.openxmlformats.org/drawingml/2006/main" noGrp="1"/>
          </p:cNvSpPr>
          <p:nvPr/>
        </p:nvSpPr>
        <p:spPr>
          <a:xfrm xmlns:a="http://schemas.openxmlformats.org/drawingml/2006/main">
            <a:off x="15240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7F9FC"/>
                </a:solidFill>
              </a:defRPr>
            </a:pPr>
            <a:r>
              <a:rPr sz="1425" b="1">
                <a:solidFill>
                  <a:srgbClr val="F7F9FC"/>
                </a:solidFill>
              </a:rPr>
              <a:t>Provenance cannot be spoofed</a:t>
            </a:r>
          </a:p>
        </p:txBody>
      </p:sp>
      <p:sp>
        <p:nvSpPr>
          <p:cNvPr id="10" name="">
            <a:extLst xmlns:a="http://schemas.openxmlformats.org/drawingml/2006/main">
              <a:ext uri="{FF2B5EF4-FFF2-40B4-BE49-F238E27FC236}">
                <a16:creationId xmlns:a16="http://schemas.microsoft.com/office/drawing/2014/main" id="{15C81D64-355D-4096-82C8-ACF668517769}"/>
              </a:ext>
            </a:extLst>
          </p:cNvPr>
          <p:cNvSpPr>
            <a:spLocks xmlns:a="http://schemas.openxmlformats.org/drawingml/2006/main" noGrp="1"/>
          </p:cNvSpPr>
          <p:nvPr/>
        </p:nvSpPr>
        <p:spPr>
          <a:xfrm xmlns:a="http://schemas.openxmlformats.org/drawingml/2006/main">
            <a:off x="4800600" y="2466975"/>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A public signal is forced to User-entered</a:t>
            </a:r>
          </a:p>
        </p:txBody>
      </p:sp>
      <p:sp>
        <p:nvSpPr>
          <p:cNvPr id="11" name="">
            <a:extLst xmlns:a="http://schemas.openxmlformats.org/drawingml/2006/main">
              <a:ext uri="{FF2B5EF4-FFF2-40B4-BE49-F238E27FC236}">
                <a16:creationId xmlns:a16="http://schemas.microsoft.com/office/drawing/2014/main" id="{94078DA7-448E-49C6-8C4B-8F80F99000C1}"/>
              </a:ext>
            </a:extLst>
          </p:cNvPr>
          <p:cNvSpPr>
            <a:spLocks xmlns:a="http://schemas.openxmlformats.org/drawingml/2006/main" noGrp="1"/>
          </p:cNvSpPr>
          <p:nvPr/>
        </p:nvSpPr>
        <p:spPr>
          <a:xfrm xmlns:a="http://schemas.openxmlformats.org/drawingml/2006/main">
            <a:off x="8058150" y="2466975"/>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4D2C5"/>
                </a:solidFill>
              </a:defRPr>
            </a:pPr>
            <a:r>
              <a:rPr sz="1125" b="0">
                <a:solidFill>
                  <a:srgbClr val="54D2C5"/>
                </a:solidFill>
              </a:rPr>
              <a:t>Prevents an analyst from mistaking pasted text for live evidence</a:t>
            </a:r>
          </a:p>
        </p:txBody>
      </p:sp>
      <p:sp>
        <p:nvSpPr>
          <p:cNvPr id="12" name="">
            <a:extLst xmlns:a="http://schemas.openxmlformats.org/drawingml/2006/main">
              <a:ext uri="{FF2B5EF4-FFF2-40B4-BE49-F238E27FC236}">
                <a16:creationId xmlns:a16="http://schemas.microsoft.com/office/drawing/2014/main" id="{BAC8C266-EFD8-49B2-B91B-9F1811ADFC90}"/>
              </a:ext>
            </a:extLst>
          </p:cNvPr>
          <p:cNvSpPr>
            <a:spLocks xmlns:a="http://schemas.openxmlformats.org/drawingml/2006/main" noGrp="1"/>
          </p:cNvSpPr>
          <p:nvPr/>
        </p:nvSpPr>
        <p:spPr>
          <a:xfrm xmlns:a="http://schemas.openxmlformats.org/drawingml/2006/main">
            <a:off x="685800" y="3314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02</a:t>
            </a:r>
          </a:p>
        </p:txBody>
      </p:sp>
      <p:sp>
        <p:nvSpPr>
          <p:cNvPr id="13" name="">
            <a:extLst xmlns:a="http://schemas.openxmlformats.org/drawingml/2006/main">
              <a:ext uri="{FF2B5EF4-FFF2-40B4-BE49-F238E27FC236}">
                <a16:creationId xmlns:a16="http://schemas.microsoft.com/office/drawing/2014/main" id="{353B9CB7-34AB-46FD-9FED-429807DF746F}"/>
              </a:ext>
            </a:extLst>
          </p:cNvPr>
          <p:cNvSpPr>
            <a:spLocks xmlns:a="http://schemas.openxmlformats.org/drawingml/2006/main" noGrp="1"/>
          </p:cNvSpPr>
          <p:nvPr/>
        </p:nvSpPr>
        <p:spPr>
          <a:xfrm xmlns:a="http://schemas.openxmlformats.org/drawingml/2006/main">
            <a:off x="1257300" y="3267075"/>
            <a:ext cx="0" cy="57150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14" name="">
            <a:extLst xmlns:a="http://schemas.openxmlformats.org/drawingml/2006/main">
              <a:ext uri="{FF2B5EF4-FFF2-40B4-BE49-F238E27FC236}">
                <a16:creationId xmlns:a16="http://schemas.microsoft.com/office/drawing/2014/main" id="{B0A84E39-0221-4333-9EA9-9D8F2E1F5012}"/>
              </a:ext>
            </a:extLst>
          </p:cNvPr>
          <p:cNvSpPr>
            <a:spLocks xmlns:a="http://schemas.openxmlformats.org/drawingml/2006/main" noGrp="1"/>
          </p:cNvSpPr>
          <p:nvPr/>
        </p:nvSpPr>
        <p:spPr>
          <a:xfrm xmlns:a="http://schemas.openxmlformats.org/drawingml/2006/main">
            <a:off x="1524000" y="32289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7F9FC"/>
                </a:solidFill>
              </a:defRPr>
            </a:pPr>
            <a:r>
              <a:rPr sz="1425" b="1">
                <a:solidFill>
                  <a:srgbClr val="F7F9FC"/>
                </a:solidFill>
              </a:rPr>
              <a:t>Assumptions are a first-class object</a:t>
            </a:r>
          </a:p>
        </p:txBody>
      </p:sp>
      <p:sp>
        <p:nvSpPr>
          <p:cNvPr id="15" name="">
            <a:extLst xmlns:a="http://schemas.openxmlformats.org/drawingml/2006/main">
              <a:ext uri="{FF2B5EF4-FFF2-40B4-BE49-F238E27FC236}">
                <a16:creationId xmlns:a16="http://schemas.microsoft.com/office/drawing/2014/main" id="{199DDE96-9790-40B8-9E71-9C8C3E201BCF}"/>
              </a:ext>
            </a:extLst>
          </p:cNvPr>
          <p:cNvSpPr>
            <a:spLocks xmlns:a="http://schemas.openxmlformats.org/drawingml/2006/main" noGrp="1"/>
          </p:cNvSpPr>
          <p:nvPr/>
        </p:nvSpPr>
        <p:spPr>
          <a:xfrm xmlns:a="http://schemas.openxmlformats.org/drawingml/2006/main">
            <a:off x="4800600" y="3248025"/>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Analyst edits are persisted with the scenario request</a:t>
            </a:r>
          </a:p>
        </p:txBody>
      </p:sp>
      <p:sp>
        <p:nvSpPr>
          <p:cNvPr id="16" name="">
            <a:extLst xmlns:a="http://schemas.openxmlformats.org/drawingml/2006/main">
              <a:ext uri="{FF2B5EF4-FFF2-40B4-BE49-F238E27FC236}">
                <a16:creationId xmlns:a16="http://schemas.microsoft.com/office/drawing/2014/main" id="{9BFA239B-CEF5-4001-AC2B-D59ACBA04F44}"/>
              </a:ext>
            </a:extLst>
          </p:cNvPr>
          <p:cNvSpPr>
            <a:spLocks xmlns:a="http://schemas.openxmlformats.org/drawingml/2006/main" noGrp="1"/>
          </p:cNvSpPr>
          <p:nvPr/>
        </p:nvSpPr>
        <p:spPr>
          <a:xfrm xmlns:a="http://schemas.openxmlformats.org/drawingml/2006/main">
            <a:off x="8058150" y="3248025"/>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4D2C5"/>
                </a:solidFill>
              </a:defRPr>
            </a:pPr>
            <a:r>
              <a:rPr sz="1125" b="0">
                <a:solidFill>
                  <a:srgbClr val="54D2C5"/>
                </a:solidFill>
              </a:rPr>
              <a:t>Makes every output reproducible and challengeable</a:t>
            </a:r>
          </a:p>
        </p:txBody>
      </p:sp>
      <p:sp>
        <p:nvSpPr>
          <p:cNvPr id="17" name="">
            <a:extLst xmlns:a="http://schemas.openxmlformats.org/drawingml/2006/main">
              <a:ext uri="{FF2B5EF4-FFF2-40B4-BE49-F238E27FC236}">
                <a16:creationId xmlns:a16="http://schemas.microsoft.com/office/drawing/2014/main" id="{F70FF0DC-BF14-442C-8006-3EF705DE0085}"/>
              </a:ext>
            </a:extLst>
          </p:cNvPr>
          <p:cNvSpPr>
            <a:spLocks xmlns:a="http://schemas.openxmlformats.org/drawingml/2006/main" noGrp="1"/>
          </p:cNvSpPr>
          <p:nvPr/>
        </p:nvSpPr>
        <p:spPr>
          <a:xfrm xmlns:a="http://schemas.openxmlformats.org/drawingml/2006/main">
            <a:off x="685800" y="40957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03</a:t>
            </a:r>
          </a:p>
        </p:txBody>
      </p:sp>
      <p:sp>
        <p:nvSpPr>
          <p:cNvPr id="18" name="">
            <a:extLst xmlns:a="http://schemas.openxmlformats.org/drawingml/2006/main">
              <a:ext uri="{FF2B5EF4-FFF2-40B4-BE49-F238E27FC236}">
                <a16:creationId xmlns:a16="http://schemas.microsoft.com/office/drawing/2014/main" id="{1D97B126-635A-41E8-BEB5-03054580AEC5}"/>
              </a:ext>
            </a:extLst>
          </p:cNvPr>
          <p:cNvSpPr>
            <a:spLocks xmlns:a="http://schemas.openxmlformats.org/drawingml/2006/main" noGrp="1"/>
          </p:cNvSpPr>
          <p:nvPr/>
        </p:nvSpPr>
        <p:spPr>
          <a:xfrm xmlns:a="http://schemas.openxmlformats.org/drawingml/2006/main">
            <a:off x="1257300" y="4048125"/>
            <a:ext cx="0" cy="57150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19" name="">
            <a:extLst xmlns:a="http://schemas.openxmlformats.org/drawingml/2006/main">
              <a:ext uri="{FF2B5EF4-FFF2-40B4-BE49-F238E27FC236}">
                <a16:creationId xmlns:a16="http://schemas.microsoft.com/office/drawing/2014/main" id="{EFD74D2B-8DFB-41D8-9F3E-25CD791161F1}"/>
              </a:ext>
            </a:extLst>
          </p:cNvPr>
          <p:cNvSpPr>
            <a:spLocks xmlns:a="http://schemas.openxmlformats.org/drawingml/2006/main" noGrp="1"/>
          </p:cNvSpPr>
          <p:nvPr/>
        </p:nvSpPr>
        <p:spPr>
          <a:xfrm xmlns:a="http://schemas.openxmlformats.org/drawingml/2006/main">
            <a:off x="1524000" y="40100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7F9FC"/>
                </a:solidFill>
              </a:defRPr>
            </a:pPr>
            <a:r>
              <a:rPr sz="1425" b="1">
                <a:solidFill>
                  <a:srgbClr val="F7F9FC"/>
                </a:solidFill>
              </a:rPr>
              <a:t>The optimizer shows the trade-off</a:t>
            </a:r>
          </a:p>
        </p:txBody>
      </p:sp>
      <p:sp>
        <p:nvSpPr>
          <p:cNvPr id="20" name="">
            <a:extLst xmlns:a="http://schemas.openxmlformats.org/drawingml/2006/main">
              <a:ext uri="{FF2B5EF4-FFF2-40B4-BE49-F238E27FC236}">
                <a16:creationId xmlns:a16="http://schemas.microsoft.com/office/drawing/2014/main" id="{E300EF0B-DC82-4104-9A33-BF4B7DD7B5C0}"/>
              </a:ext>
            </a:extLst>
          </p:cNvPr>
          <p:cNvSpPr>
            <a:spLocks xmlns:a="http://schemas.openxmlformats.org/drawingml/2006/main" noGrp="1"/>
          </p:cNvSpPr>
          <p:nvPr/>
        </p:nvSpPr>
        <p:spPr>
          <a:xfrm xmlns:a="http://schemas.openxmlformats.org/drawingml/2006/main">
            <a:off x="4800600" y="4029075"/>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OR-Tools returns Do Nothing, Lowest Cost, Balanced, Max Resilience</a:t>
            </a:r>
          </a:p>
        </p:txBody>
      </p:sp>
      <p:sp>
        <p:nvSpPr>
          <p:cNvPr id="21" name="">
            <a:extLst xmlns:a="http://schemas.openxmlformats.org/drawingml/2006/main">
              <a:ext uri="{FF2B5EF4-FFF2-40B4-BE49-F238E27FC236}">
                <a16:creationId xmlns:a16="http://schemas.microsoft.com/office/drawing/2014/main" id="{9F2976A7-ACBD-4AE1-B05B-EB3C7809EB6A}"/>
              </a:ext>
            </a:extLst>
          </p:cNvPr>
          <p:cNvSpPr>
            <a:spLocks xmlns:a="http://schemas.openxmlformats.org/drawingml/2006/main" noGrp="1"/>
          </p:cNvSpPr>
          <p:nvPr/>
        </p:nvSpPr>
        <p:spPr>
          <a:xfrm xmlns:a="http://schemas.openxmlformats.org/drawingml/2006/main">
            <a:off x="8058150" y="4029075"/>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4D2C5"/>
                </a:solidFill>
              </a:defRPr>
            </a:pPr>
            <a:r>
              <a:rPr sz="1125" b="0">
                <a:solidFill>
                  <a:srgbClr val="54D2C5"/>
                </a:solidFill>
              </a:rPr>
              <a:t>Lets leaders choose risk posture, not accept a black box</a:t>
            </a:r>
          </a:p>
        </p:txBody>
      </p:sp>
      <p:sp>
        <p:nvSpPr>
          <p:cNvPr id="22" name="">
            <a:extLst xmlns:a="http://schemas.openxmlformats.org/drawingml/2006/main">
              <a:ext uri="{FF2B5EF4-FFF2-40B4-BE49-F238E27FC236}">
                <a16:creationId xmlns:a16="http://schemas.microsoft.com/office/drawing/2014/main" id="{5FCFF212-83AF-47E2-8FB5-4EC0DFA44582}"/>
              </a:ext>
            </a:extLst>
          </p:cNvPr>
          <p:cNvSpPr>
            <a:spLocks xmlns:a="http://schemas.openxmlformats.org/drawingml/2006/main" noGrp="1"/>
          </p:cNvSpPr>
          <p:nvPr/>
        </p:nvSpPr>
        <p:spPr>
          <a:xfrm xmlns:a="http://schemas.openxmlformats.org/drawingml/2006/main">
            <a:off x="685800" y="48768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04</a:t>
            </a:r>
          </a:p>
        </p:txBody>
      </p:sp>
      <p:sp>
        <p:nvSpPr>
          <p:cNvPr id="23" name="">
            <a:extLst xmlns:a="http://schemas.openxmlformats.org/drawingml/2006/main">
              <a:ext uri="{FF2B5EF4-FFF2-40B4-BE49-F238E27FC236}">
                <a16:creationId xmlns:a16="http://schemas.microsoft.com/office/drawing/2014/main" id="{42D91028-9FDC-406C-AA06-529EEF59F076}"/>
              </a:ext>
            </a:extLst>
          </p:cNvPr>
          <p:cNvSpPr>
            <a:spLocks xmlns:a="http://schemas.openxmlformats.org/drawingml/2006/main" noGrp="1"/>
          </p:cNvSpPr>
          <p:nvPr/>
        </p:nvSpPr>
        <p:spPr>
          <a:xfrm xmlns:a="http://schemas.openxmlformats.org/drawingml/2006/main">
            <a:off x="1257300" y="4829175"/>
            <a:ext cx="0" cy="57150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24" name="">
            <a:extLst xmlns:a="http://schemas.openxmlformats.org/drawingml/2006/main">
              <a:ext uri="{FF2B5EF4-FFF2-40B4-BE49-F238E27FC236}">
                <a16:creationId xmlns:a16="http://schemas.microsoft.com/office/drawing/2014/main" id="{1ED2D888-DA43-4195-B7B1-922CA675F230}"/>
              </a:ext>
            </a:extLst>
          </p:cNvPr>
          <p:cNvSpPr>
            <a:spLocks xmlns:a="http://schemas.openxmlformats.org/drawingml/2006/main" noGrp="1"/>
          </p:cNvSpPr>
          <p:nvPr/>
        </p:nvSpPr>
        <p:spPr>
          <a:xfrm xmlns:a="http://schemas.openxmlformats.org/drawingml/2006/main">
            <a:off x="1524000" y="47910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7F9FC"/>
                </a:solidFill>
              </a:defRPr>
            </a:pPr>
            <a:r>
              <a:rPr sz="1425" b="1">
                <a:solidFill>
                  <a:srgbClr val="F7F9FC"/>
                </a:solidFill>
              </a:rPr>
              <a:t>Approval is linked to the exact recommendation</a:t>
            </a:r>
          </a:p>
        </p:txBody>
      </p:sp>
      <p:sp>
        <p:nvSpPr>
          <p:cNvPr id="25" name="">
            <a:extLst xmlns:a="http://schemas.openxmlformats.org/drawingml/2006/main">
              <a:ext uri="{FF2B5EF4-FFF2-40B4-BE49-F238E27FC236}">
                <a16:creationId xmlns:a16="http://schemas.microsoft.com/office/drawing/2014/main" id="{1518995E-A50C-46E4-A263-AE417FEEF784}"/>
              </a:ext>
            </a:extLst>
          </p:cNvPr>
          <p:cNvSpPr>
            <a:spLocks xmlns:a="http://schemas.openxmlformats.org/drawingml/2006/main" noGrp="1"/>
          </p:cNvSpPr>
          <p:nvPr/>
        </p:nvSpPr>
        <p:spPr>
          <a:xfrm xmlns:a="http://schemas.openxmlformats.org/drawingml/2006/main">
            <a:off x="4800600" y="4810125"/>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SQLite stores recommendation ID, decision, actor, reason</a:t>
            </a:r>
          </a:p>
        </p:txBody>
      </p:sp>
      <p:sp>
        <p:nvSpPr>
          <p:cNvPr id="26" name="">
            <a:extLst xmlns:a="http://schemas.openxmlformats.org/drawingml/2006/main">
              <a:ext uri="{FF2B5EF4-FFF2-40B4-BE49-F238E27FC236}">
                <a16:creationId xmlns:a16="http://schemas.microsoft.com/office/drawing/2014/main" id="{B8E4FB89-FE4E-4FC5-9F7F-67BA21539669}"/>
              </a:ext>
            </a:extLst>
          </p:cNvPr>
          <p:cNvSpPr>
            <a:spLocks xmlns:a="http://schemas.openxmlformats.org/drawingml/2006/main" noGrp="1"/>
          </p:cNvSpPr>
          <p:nvPr/>
        </p:nvSpPr>
        <p:spPr>
          <a:xfrm xmlns:a="http://schemas.openxmlformats.org/drawingml/2006/main">
            <a:off x="8058150" y="4810125"/>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4D2C5"/>
                </a:solidFill>
              </a:defRPr>
            </a:pPr>
            <a:r>
              <a:rPr sz="1125" b="0">
                <a:solidFill>
                  <a:srgbClr val="54D2C5"/>
                </a:solidFill>
              </a:rPr>
              <a:t>Creates accountability without external execution</a:t>
            </a:r>
          </a:p>
        </p:txBody>
      </p:sp>
      <p:sp>
        <p:nvSpPr>
          <p:cNvPr id="27" name="">
            <a:extLst xmlns:a="http://schemas.openxmlformats.org/drawingml/2006/main">
              <a:ext uri="{FF2B5EF4-FFF2-40B4-BE49-F238E27FC236}">
                <a16:creationId xmlns:a16="http://schemas.microsoft.com/office/drawing/2014/main" id="{5728DB74-D12A-4BF9-A70D-F7530AF2B3A6}"/>
              </a:ext>
            </a:extLst>
          </p:cNvPr>
          <p:cNvSpPr>
            <a:spLocks xmlns:a="http://schemas.openxmlformats.org/drawingml/2006/main" noGrp="1"/>
          </p:cNvSpPr>
          <p:nvPr/>
        </p:nvSpPr>
        <p:spPr>
          <a:xfrm xmlns:a="http://schemas.openxmlformats.org/drawingml/2006/main">
            <a:off x="1524000" y="5572125"/>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PROBLEM SOLVED</a:t>
            </a:r>
          </a:p>
        </p:txBody>
      </p:sp>
      <p:sp>
        <p:nvSpPr>
          <p:cNvPr id="28" name="">
            <a:extLst xmlns:a="http://schemas.openxmlformats.org/drawingml/2006/main">
              <a:ext uri="{FF2B5EF4-FFF2-40B4-BE49-F238E27FC236}">
                <a16:creationId xmlns:a16="http://schemas.microsoft.com/office/drawing/2014/main" id="{2E649AA7-03AF-4C49-9AC0-D6F33F2A95CB}"/>
              </a:ext>
            </a:extLst>
          </p:cNvPr>
          <p:cNvSpPr>
            <a:spLocks xmlns:a="http://schemas.openxmlformats.org/drawingml/2006/main" noGrp="1"/>
          </p:cNvSpPr>
          <p:nvPr/>
        </p:nvSpPr>
        <p:spPr>
          <a:xfrm xmlns:a="http://schemas.openxmlformats.org/drawingml/2006/main">
            <a:off x="4800600" y="5572125"/>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TECHNICAL IMPLEMENTATION</a:t>
            </a:r>
          </a:p>
        </p:txBody>
      </p:sp>
      <p:sp>
        <p:nvSpPr>
          <p:cNvPr id="29" name="">
            <a:extLst xmlns:a="http://schemas.openxmlformats.org/drawingml/2006/main">
              <a:ext uri="{FF2B5EF4-FFF2-40B4-BE49-F238E27FC236}">
                <a16:creationId xmlns:a16="http://schemas.microsoft.com/office/drawing/2014/main" id="{D3EDD49F-EB6D-4EF0-B898-367AC239F8B3}"/>
              </a:ext>
            </a:extLst>
          </p:cNvPr>
          <p:cNvSpPr>
            <a:spLocks xmlns:a="http://schemas.openxmlformats.org/drawingml/2006/main" noGrp="1"/>
          </p:cNvSpPr>
          <p:nvPr/>
        </p:nvSpPr>
        <p:spPr>
          <a:xfrm xmlns:a="http://schemas.openxmlformats.org/drawingml/2006/main">
            <a:off x="8058150" y="5572125"/>
            <a:ext cx="2095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BUSINESS VALUE</a:t>
            </a:r>
          </a:p>
        </p:txBody>
      </p:sp>
    </p:spTree>
    <p:extLst>
      <p:ext uri="{BB962C8B-B14F-4D97-AF65-F5344CB8AC3E}">
        <p14:creationId xmlns:p14="http://schemas.microsoft.com/office/powerpoint/2010/main" val="240653557"/>
      </p:ext>
    </p:extLst>
  </p:cSld>
</p:sld>
</file>

<file path=ppt/slides/slide8.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5F70B96-A149-474B-8A98-899591A18AE6}"/>
              </a:ext>
            </a:extLst>
          </p:cNvPr>
          <p:cNvSpPr>
            <a:spLocks xmlns:a="http://schemas.openxmlformats.org/drawingml/2006/main" noGrp="1"/>
          </p:cNvSpPr>
          <p:nvPr/>
        </p:nvSpPr>
        <p:spPr>
          <a:xfrm xmlns:a="http://schemas.openxmlformats.org/drawingml/2006/main">
            <a:off x="685800" y="3714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PETRAVIGIL</a:t>
            </a:r>
          </a:p>
        </p:txBody>
      </p:sp>
      <p:sp>
        <p:nvSpPr>
          <p:cNvPr id="2" name="">
            <a:extLst xmlns:a="http://schemas.openxmlformats.org/drawingml/2006/main">
              <a:ext uri="{FF2B5EF4-FFF2-40B4-BE49-F238E27FC236}">
                <a16:creationId xmlns:a16="http://schemas.microsoft.com/office/drawing/2014/main" id="{47329497-9223-4844-98BF-99E8E281247B}"/>
              </a:ext>
            </a:extLst>
          </p:cNvPr>
          <p:cNvSpPr>
            <a:spLocks xmlns:a="http://schemas.openxmlformats.org/drawingml/2006/main" noGrp="1"/>
          </p:cNvSpPr>
          <p:nvPr/>
        </p:nvSpPr>
        <p:spPr>
          <a:xfrm xmlns:a="http://schemas.openxmlformats.org/drawingml/2006/main">
            <a:off x="685800" y="6286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98A1AF"/>
                </a:solidFill>
              </a:defRPr>
            </a:pPr>
            <a:r>
              <a:rPr sz="900" b="1">
                <a:solidFill>
                  <a:srgbClr val="98A1AF"/>
                </a:solidFill>
              </a:rPr>
              <a:t>BUSINESS IMPACT</a:t>
            </a:r>
          </a:p>
        </p:txBody>
      </p:sp>
      <p:sp>
        <p:nvSpPr>
          <p:cNvPr id="3" name="">
            <a:extLst xmlns:a="http://schemas.openxmlformats.org/drawingml/2006/main">
              <a:ext uri="{FF2B5EF4-FFF2-40B4-BE49-F238E27FC236}">
                <a16:creationId xmlns:a16="http://schemas.microsoft.com/office/drawing/2014/main" id="{FF209EB6-D9C7-438C-A915-07974AE53460}"/>
              </a:ext>
            </a:extLst>
          </p:cNvPr>
          <p:cNvSpPr>
            <a:spLocks xmlns:a="http://schemas.openxmlformats.org/drawingml/2006/main" noGrp="1"/>
          </p:cNvSpPr>
          <p:nvPr/>
        </p:nvSpPr>
        <p:spPr>
          <a:xfrm xmlns:a="http://schemas.openxmlformats.org/drawingml/2006/main">
            <a:off x="685800" y="962025"/>
            <a:ext cx="647700" cy="28575"/>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4" name="">
            <a:extLst xmlns:a="http://schemas.openxmlformats.org/drawingml/2006/main">
              <a:ext uri="{FF2B5EF4-FFF2-40B4-BE49-F238E27FC236}">
                <a16:creationId xmlns:a16="http://schemas.microsoft.com/office/drawing/2014/main" id="{5313168D-7EA3-402B-9F07-982C67C1CD60}"/>
              </a:ext>
            </a:extLst>
          </p:cNvPr>
          <p:cNvSpPr>
            <a:spLocks xmlns:a="http://schemas.openxmlformats.org/drawingml/2006/main" noGrp="1"/>
          </p:cNvSpPr>
          <p:nvPr/>
        </p:nvSpPr>
        <p:spPr>
          <a:xfrm xmlns:a="http://schemas.openxmlformats.org/drawingml/2006/main">
            <a:off x="685800" y="12192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F7F9FC"/>
                </a:solidFill>
              </a:defRPr>
            </a:pPr>
            <a:r>
              <a:rPr sz="3300" b="1">
                <a:solidFill>
                  <a:srgbClr val="F7F9FC"/>
                </a:solidFill>
              </a:rPr>
              <a:t>Start with the operating decision. Expand into resilience intelligence.</a:t>
            </a:r>
          </a:p>
        </p:txBody>
      </p:sp>
      <p:sp>
        <p:nvSpPr>
          <p:cNvPr id="5" name="">
            <a:extLst xmlns:a="http://schemas.openxmlformats.org/drawingml/2006/main">
              <a:ext uri="{FF2B5EF4-FFF2-40B4-BE49-F238E27FC236}">
                <a16:creationId xmlns:a16="http://schemas.microsoft.com/office/drawing/2014/main" id="{223EBB0D-D463-4C94-98A8-B07EA1E971AF}"/>
              </a:ext>
            </a:extLst>
          </p:cNvPr>
          <p:cNvSpPr>
            <a:spLocks xmlns:a="http://schemas.openxmlformats.org/drawingml/2006/main" noGrp="1"/>
          </p:cNvSpPr>
          <p:nvPr/>
        </p:nvSpPr>
        <p:spPr>
          <a:xfrm xmlns:a="http://schemas.openxmlformats.org/drawingml/2006/main">
            <a:off x="10972800" y="61626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0"/>
                </a:solidFill>
              </a:defRPr>
            </a:pPr>
            <a:r>
              <a:rPr sz="975" b="1">
                <a:solidFill>
                  <a:srgbClr val="687180"/>
                </a:solidFill>
              </a:rPr>
              <a:t>08 / 10</a:t>
            </a:r>
          </a:p>
        </p:txBody>
      </p:sp>
      <p:sp>
        <p:nvSpPr>
          <p:cNvPr id="6" name="">
            <a:extLst xmlns:a="http://schemas.openxmlformats.org/drawingml/2006/main">
              <a:ext uri="{FF2B5EF4-FFF2-40B4-BE49-F238E27FC236}">
                <a16:creationId xmlns:a16="http://schemas.microsoft.com/office/drawing/2014/main" id="{C0D33DD7-CFB3-492D-B6FD-DB7D9E50F9E8}"/>
              </a:ext>
            </a:extLst>
          </p:cNvPr>
          <p:cNvSpPr>
            <a:spLocks xmlns:a="http://schemas.openxmlformats.org/drawingml/2006/main" noGrp="1"/>
          </p:cNvSpPr>
          <p:nvPr/>
        </p:nvSpPr>
        <p:spPr>
          <a:xfrm xmlns:a="http://schemas.openxmlformats.org/drawingml/2006/main">
            <a:off x="685800" y="6257925"/>
            <a:ext cx="742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SOURCE: CURRENT MVP + REPOSITORY ROADMAP</a:t>
            </a:r>
          </a:p>
        </p:txBody>
      </p:sp>
      <p:sp>
        <p:nvSpPr>
          <p:cNvPr id="7" name="">
            <a:extLst xmlns:a="http://schemas.openxmlformats.org/drawingml/2006/main">
              <a:ext uri="{FF2B5EF4-FFF2-40B4-BE49-F238E27FC236}">
                <a16:creationId xmlns:a16="http://schemas.microsoft.com/office/drawing/2014/main" id="{9453A41B-F159-411E-9E79-4350F6CE67DB}"/>
              </a:ext>
            </a:extLst>
          </p:cNvPr>
          <p:cNvSpPr>
            <a:spLocks xmlns:a="http://schemas.openxmlformats.org/drawingml/2006/main" noGrp="1"/>
          </p:cNvSpPr>
          <p:nvPr/>
        </p:nvSpPr>
        <p:spPr>
          <a:xfrm xmlns:a="http://schemas.openxmlformats.org/drawingml/2006/main">
            <a:off x="685800" y="2343150"/>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98A1AF"/>
                </a:solidFill>
              </a:defRPr>
            </a:pPr>
            <a:r>
              <a:rPr sz="1425" b="0">
                <a:solidFill>
                  <a:srgbClr val="98A1AF"/>
                </a:solidFill>
              </a:rPr>
              <a:t>The first buyer is the team accountable for continuity when a corridor becomes unreliable.</a:t>
            </a:r>
          </a:p>
        </p:txBody>
      </p:sp>
      <p:sp>
        <p:nvSpPr>
          <p:cNvPr id="8" name="">
            <a:extLst xmlns:a="http://schemas.openxmlformats.org/drawingml/2006/main">
              <a:ext uri="{FF2B5EF4-FFF2-40B4-BE49-F238E27FC236}">
                <a16:creationId xmlns:a16="http://schemas.microsoft.com/office/drawing/2014/main" id="{8614963D-B628-4BA7-A2A8-5AFEFFC5537C}"/>
              </a:ext>
            </a:extLst>
          </p:cNvPr>
          <p:cNvSpPr>
            <a:spLocks xmlns:a="http://schemas.openxmlformats.org/drawingml/2006/main" noGrp="1"/>
          </p:cNvSpPr>
          <p:nvPr/>
        </p:nvSpPr>
        <p:spPr>
          <a:xfrm xmlns:a="http://schemas.openxmlformats.org/drawingml/2006/main">
            <a:off x="685800" y="3124200"/>
            <a:ext cx="2381250" cy="1257300"/>
          </a:xfrm>
          <a:prstGeom xmlns:a="http://schemas.openxmlformats.org/drawingml/2006/main" prst="roundRect">
            <a:avLst>
              <a:gd name="adj" fmla="val 7576"/>
            </a:avLst>
          </a:prstGeom>
          <a:solidFill xmlns:a="http://schemas.openxmlformats.org/drawingml/2006/main">
            <a:srgbClr val="101217"/>
          </a:solidFill>
          <a:ln xmlns:a="http://schemas.openxmlformats.org/drawingml/2006/main" w="9525">
            <a:solidFill>
              <a:srgbClr val="39404D"/>
            </a:solidFill>
            <a:prstDash val="solid"/>
          </a:ln>
        </p:spPr>
      </p:sp>
      <p:sp>
        <p:nvSpPr>
          <p:cNvPr id="9" name="">
            <a:extLst xmlns:a="http://schemas.openxmlformats.org/drawingml/2006/main">
              <a:ext uri="{FF2B5EF4-FFF2-40B4-BE49-F238E27FC236}">
                <a16:creationId xmlns:a16="http://schemas.microsoft.com/office/drawing/2014/main" id="{56BBB9DB-B5AC-49DE-ADA3-98F9997B64A6}"/>
              </a:ext>
            </a:extLst>
          </p:cNvPr>
          <p:cNvSpPr>
            <a:spLocks xmlns:a="http://schemas.openxmlformats.org/drawingml/2006/main" noGrp="1"/>
          </p:cNvSpPr>
          <p:nvPr/>
        </p:nvSpPr>
        <p:spPr>
          <a:xfrm xmlns:a="http://schemas.openxmlformats.org/drawingml/2006/main">
            <a:off x="685800" y="3124200"/>
            <a:ext cx="47625" cy="1257300"/>
          </a:xfrm>
          <a:prstGeom xmlns:a="http://schemas.openxmlformats.org/drawingml/2006/main" prst="roundRect">
            <a:avLst>
              <a:gd name="adj" fmla="val 50000"/>
            </a:avLst>
          </a:prstGeom>
          <a:solidFill xmlns:a="http://schemas.openxmlformats.org/drawingml/2006/main">
            <a:srgbClr val="4D8DFF"/>
          </a:solidFill>
          <a:ln xmlns:a="http://schemas.openxmlformats.org/drawingml/2006/main" w="0">
            <a:solidFill>
              <a:srgbClr val="4D8DFF"/>
            </a:solidFill>
            <a:prstDash val="solid"/>
          </a:ln>
        </p:spPr>
      </p:sp>
      <p:sp>
        <p:nvSpPr>
          <p:cNvPr id="10" name="">
            <a:extLst xmlns:a="http://schemas.openxmlformats.org/drawingml/2006/main">
              <a:ext uri="{FF2B5EF4-FFF2-40B4-BE49-F238E27FC236}">
                <a16:creationId xmlns:a16="http://schemas.microsoft.com/office/drawing/2014/main" id="{2D1EAB54-7E66-4487-BA74-607606AB5439}"/>
              </a:ext>
            </a:extLst>
          </p:cNvPr>
          <p:cNvSpPr>
            <a:spLocks xmlns:a="http://schemas.openxmlformats.org/drawingml/2006/main" noGrp="1"/>
          </p:cNvSpPr>
          <p:nvPr/>
        </p:nvSpPr>
        <p:spPr>
          <a:xfrm xmlns:a="http://schemas.openxmlformats.org/drawingml/2006/main">
            <a:off x="895350" y="32956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Procurement lead</a:t>
            </a:r>
          </a:p>
        </p:txBody>
      </p:sp>
      <p:sp>
        <p:nvSpPr>
          <p:cNvPr id="11" name="">
            <a:extLst xmlns:a="http://schemas.openxmlformats.org/drawingml/2006/main">
              <a:ext uri="{FF2B5EF4-FFF2-40B4-BE49-F238E27FC236}">
                <a16:creationId xmlns:a16="http://schemas.microsoft.com/office/drawing/2014/main" id="{B2FF6C71-1CA9-4544-B90B-365FD5220159}"/>
              </a:ext>
            </a:extLst>
          </p:cNvPr>
          <p:cNvSpPr>
            <a:spLocks xmlns:a="http://schemas.openxmlformats.org/drawingml/2006/main" noGrp="1"/>
          </p:cNvSpPr>
          <p:nvPr/>
        </p:nvSpPr>
        <p:spPr>
          <a:xfrm xmlns:a="http://schemas.openxmlformats.org/drawingml/2006/main">
            <a:off x="895350" y="3609975"/>
            <a:ext cx="2057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Choose a feasible supply posture before urgency becomes panic.</a:t>
            </a:r>
          </a:p>
        </p:txBody>
      </p:sp>
      <p:sp>
        <p:nvSpPr>
          <p:cNvPr id="12" name="">
            <a:extLst xmlns:a="http://schemas.openxmlformats.org/drawingml/2006/main">
              <a:ext uri="{FF2B5EF4-FFF2-40B4-BE49-F238E27FC236}">
                <a16:creationId xmlns:a16="http://schemas.microsoft.com/office/drawing/2014/main" id="{9E80B988-AA8A-4E96-A3AD-F2FF8A30709F}"/>
              </a:ext>
            </a:extLst>
          </p:cNvPr>
          <p:cNvSpPr>
            <a:spLocks xmlns:a="http://schemas.openxmlformats.org/drawingml/2006/main" noGrp="1"/>
          </p:cNvSpPr>
          <p:nvPr/>
        </p:nvSpPr>
        <p:spPr>
          <a:xfrm xmlns:a="http://schemas.openxmlformats.org/drawingml/2006/main">
            <a:off x="3495675" y="3124200"/>
            <a:ext cx="2381250" cy="1257300"/>
          </a:xfrm>
          <a:prstGeom xmlns:a="http://schemas.openxmlformats.org/drawingml/2006/main" prst="roundRect">
            <a:avLst>
              <a:gd name="adj" fmla="val 7576"/>
            </a:avLst>
          </a:prstGeom>
          <a:solidFill xmlns:a="http://schemas.openxmlformats.org/drawingml/2006/main">
            <a:srgbClr val="101217"/>
          </a:solidFill>
          <a:ln xmlns:a="http://schemas.openxmlformats.org/drawingml/2006/main" w="9525">
            <a:solidFill>
              <a:srgbClr val="39404D"/>
            </a:solidFill>
            <a:prstDash val="solid"/>
          </a:ln>
        </p:spPr>
      </p:sp>
      <p:sp>
        <p:nvSpPr>
          <p:cNvPr id="13" name="">
            <a:extLst xmlns:a="http://schemas.openxmlformats.org/drawingml/2006/main">
              <a:ext uri="{FF2B5EF4-FFF2-40B4-BE49-F238E27FC236}">
                <a16:creationId xmlns:a16="http://schemas.microsoft.com/office/drawing/2014/main" id="{17C9DA8D-AB8A-4F12-BA90-92AB4D14ED34}"/>
              </a:ext>
            </a:extLst>
          </p:cNvPr>
          <p:cNvSpPr>
            <a:spLocks xmlns:a="http://schemas.openxmlformats.org/drawingml/2006/main" noGrp="1"/>
          </p:cNvSpPr>
          <p:nvPr/>
        </p:nvSpPr>
        <p:spPr>
          <a:xfrm xmlns:a="http://schemas.openxmlformats.org/drawingml/2006/main">
            <a:off x="3495675" y="3124200"/>
            <a:ext cx="47625" cy="1257300"/>
          </a:xfrm>
          <a:prstGeom xmlns:a="http://schemas.openxmlformats.org/drawingml/2006/main" prst="roundRect">
            <a:avLst>
              <a:gd name="adj" fmla="val 50000"/>
            </a:avLst>
          </a:prstGeom>
          <a:solidFill xmlns:a="http://schemas.openxmlformats.org/drawingml/2006/main">
            <a:srgbClr val="54D2C5"/>
          </a:solidFill>
          <a:ln xmlns:a="http://schemas.openxmlformats.org/drawingml/2006/main" w="0">
            <a:solidFill>
              <a:srgbClr val="54D2C5"/>
            </a:solidFill>
            <a:prstDash val="solid"/>
          </a:ln>
        </p:spPr>
      </p:sp>
      <p:sp>
        <p:nvSpPr>
          <p:cNvPr id="14" name="">
            <a:extLst xmlns:a="http://schemas.openxmlformats.org/drawingml/2006/main">
              <a:ext uri="{FF2B5EF4-FFF2-40B4-BE49-F238E27FC236}">
                <a16:creationId xmlns:a16="http://schemas.microsoft.com/office/drawing/2014/main" id="{A002B875-453D-46CF-9022-3E9CC68BDBD1}"/>
              </a:ext>
            </a:extLst>
          </p:cNvPr>
          <p:cNvSpPr>
            <a:spLocks xmlns:a="http://schemas.openxmlformats.org/drawingml/2006/main" noGrp="1"/>
          </p:cNvSpPr>
          <p:nvPr/>
        </p:nvSpPr>
        <p:spPr>
          <a:xfrm xmlns:a="http://schemas.openxmlformats.org/drawingml/2006/main">
            <a:off x="3705225" y="32956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Risk &amp; trading</a:t>
            </a:r>
          </a:p>
        </p:txBody>
      </p:sp>
      <p:sp>
        <p:nvSpPr>
          <p:cNvPr id="15" name="">
            <a:extLst xmlns:a="http://schemas.openxmlformats.org/drawingml/2006/main">
              <a:ext uri="{FF2B5EF4-FFF2-40B4-BE49-F238E27FC236}">
                <a16:creationId xmlns:a16="http://schemas.microsoft.com/office/drawing/2014/main" id="{BFFCF28C-8DAC-4839-8F11-2A951F06FD2E}"/>
              </a:ext>
            </a:extLst>
          </p:cNvPr>
          <p:cNvSpPr>
            <a:spLocks xmlns:a="http://schemas.openxmlformats.org/drawingml/2006/main" noGrp="1"/>
          </p:cNvSpPr>
          <p:nvPr/>
        </p:nvSpPr>
        <p:spPr>
          <a:xfrm xmlns:a="http://schemas.openxmlformats.org/drawingml/2006/main">
            <a:off x="3705225" y="3609975"/>
            <a:ext cx="2057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See exposure distributions and trade-offs, not raw alerts.</a:t>
            </a:r>
          </a:p>
        </p:txBody>
      </p:sp>
      <p:sp>
        <p:nvSpPr>
          <p:cNvPr id="16" name="">
            <a:extLst xmlns:a="http://schemas.openxmlformats.org/drawingml/2006/main">
              <a:ext uri="{FF2B5EF4-FFF2-40B4-BE49-F238E27FC236}">
                <a16:creationId xmlns:a16="http://schemas.microsoft.com/office/drawing/2014/main" id="{A26D600B-3580-4E71-8330-017BDD6D40F4}"/>
              </a:ext>
            </a:extLst>
          </p:cNvPr>
          <p:cNvSpPr>
            <a:spLocks xmlns:a="http://schemas.openxmlformats.org/drawingml/2006/main" noGrp="1"/>
          </p:cNvSpPr>
          <p:nvPr/>
        </p:nvSpPr>
        <p:spPr>
          <a:xfrm xmlns:a="http://schemas.openxmlformats.org/drawingml/2006/main">
            <a:off x="6305550" y="3124200"/>
            <a:ext cx="2381250" cy="1257300"/>
          </a:xfrm>
          <a:prstGeom xmlns:a="http://schemas.openxmlformats.org/drawingml/2006/main" prst="roundRect">
            <a:avLst>
              <a:gd name="adj" fmla="val 7576"/>
            </a:avLst>
          </a:prstGeom>
          <a:solidFill xmlns:a="http://schemas.openxmlformats.org/drawingml/2006/main">
            <a:srgbClr val="101217"/>
          </a:solidFill>
          <a:ln xmlns:a="http://schemas.openxmlformats.org/drawingml/2006/main" w="9525">
            <a:solidFill>
              <a:srgbClr val="39404D"/>
            </a:solidFill>
            <a:prstDash val="solid"/>
          </a:ln>
        </p:spPr>
      </p:sp>
      <p:sp>
        <p:nvSpPr>
          <p:cNvPr id="17" name="">
            <a:extLst xmlns:a="http://schemas.openxmlformats.org/drawingml/2006/main">
              <a:ext uri="{FF2B5EF4-FFF2-40B4-BE49-F238E27FC236}">
                <a16:creationId xmlns:a16="http://schemas.microsoft.com/office/drawing/2014/main" id="{908D699C-CFE8-4466-A642-027F22FB5FEC}"/>
              </a:ext>
            </a:extLst>
          </p:cNvPr>
          <p:cNvSpPr>
            <a:spLocks xmlns:a="http://schemas.openxmlformats.org/drawingml/2006/main" noGrp="1"/>
          </p:cNvSpPr>
          <p:nvPr/>
        </p:nvSpPr>
        <p:spPr>
          <a:xfrm xmlns:a="http://schemas.openxmlformats.org/drawingml/2006/main">
            <a:off x="6305550" y="3124200"/>
            <a:ext cx="47625" cy="1257300"/>
          </a:xfrm>
          <a:prstGeom xmlns:a="http://schemas.openxmlformats.org/drawingml/2006/main" prst="roundRect">
            <a:avLst>
              <a:gd name="adj" fmla="val 50000"/>
            </a:avLst>
          </a:prstGeom>
          <a:solidFill xmlns:a="http://schemas.openxmlformats.org/drawingml/2006/main">
            <a:srgbClr val="E2A447"/>
          </a:solidFill>
          <a:ln xmlns:a="http://schemas.openxmlformats.org/drawingml/2006/main" w="0">
            <a:solidFill>
              <a:srgbClr val="E2A447"/>
            </a:solidFill>
            <a:prstDash val="solid"/>
          </a:ln>
        </p:spPr>
      </p:sp>
      <p:sp>
        <p:nvSpPr>
          <p:cNvPr id="18" name="">
            <a:extLst xmlns:a="http://schemas.openxmlformats.org/drawingml/2006/main">
              <a:ext uri="{FF2B5EF4-FFF2-40B4-BE49-F238E27FC236}">
                <a16:creationId xmlns:a16="http://schemas.microsoft.com/office/drawing/2014/main" id="{6006BCCE-2B4D-433E-AB29-029A5C7758C2}"/>
              </a:ext>
            </a:extLst>
          </p:cNvPr>
          <p:cNvSpPr>
            <a:spLocks xmlns:a="http://schemas.openxmlformats.org/drawingml/2006/main" noGrp="1"/>
          </p:cNvSpPr>
          <p:nvPr/>
        </p:nvSpPr>
        <p:spPr>
          <a:xfrm xmlns:a="http://schemas.openxmlformats.org/drawingml/2006/main">
            <a:off x="6515100" y="32956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Refinery operations</a:t>
            </a:r>
          </a:p>
        </p:txBody>
      </p:sp>
      <p:sp>
        <p:nvSpPr>
          <p:cNvPr id="19" name="">
            <a:extLst xmlns:a="http://schemas.openxmlformats.org/drawingml/2006/main">
              <a:ext uri="{FF2B5EF4-FFF2-40B4-BE49-F238E27FC236}">
                <a16:creationId xmlns:a16="http://schemas.microsoft.com/office/drawing/2014/main" id="{E9FA44F1-16AF-4566-B94C-419CB6C1694F}"/>
              </a:ext>
            </a:extLst>
          </p:cNvPr>
          <p:cNvSpPr>
            <a:spLocks xmlns:a="http://schemas.openxmlformats.org/drawingml/2006/main" noGrp="1"/>
          </p:cNvSpPr>
          <p:nvPr/>
        </p:nvSpPr>
        <p:spPr>
          <a:xfrm xmlns:a="http://schemas.openxmlformats.org/drawingml/2006/main">
            <a:off x="6515100" y="3609975"/>
            <a:ext cx="2057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Protect compatible crude supply with visible constraints.</a:t>
            </a:r>
          </a:p>
        </p:txBody>
      </p:sp>
      <p:sp>
        <p:nvSpPr>
          <p:cNvPr id="20" name="">
            <a:extLst xmlns:a="http://schemas.openxmlformats.org/drawingml/2006/main">
              <a:ext uri="{FF2B5EF4-FFF2-40B4-BE49-F238E27FC236}">
                <a16:creationId xmlns:a16="http://schemas.microsoft.com/office/drawing/2014/main" id="{5B4A8744-E345-4763-85FA-45879E51ECE1}"/>
              </a:ext>
            </a:extLst>
          </p:cNvPr>
          <p:cNvSpPr>
            <a:spLocks xmlns:a="http://schemas.openxmlformats.org/drawingml/2006/main" noGrp="1"/>
          </p:cNvSpPr>
          <p:nvPr/>
        </p:nvSpPr>
        <p:spPr>
          <a:xfrm xmlns:a="http://schemas.openxmlformats.org/drawingml/2006/main">
            <a:off x="9115425" y="3124200"/>
            <a:ext cx="2381250" cy="1257300"/>
          </a:xfrm>
          <a:prstGeom xmlns:a="http://schemas.openxmlformats.org/drawingml/2006/main" prst="roundRect">
            <a:avLst>
              <a:gd name="adj" fmla="val 7576"/>
            </a:avLst>
          </a:prstGeom>
          <a:solidFill xmlns:a="http://schemas.openxmlformats.org/drawingml/2006/main">
            <a:srgbClr val="101217"/>
          </a:solidFill>
          <a:ln xmlns:a="http://schemas.openxmlformats.org/drawingml/2006/main" w="9525">
            <a:solidFill>
              <a:srgbClr val="39404D"/>
            </a:solidFill>
            <a:prstDash val="solid"/>
          </a:ln>
        </p:spPr>
      </p:sp>
      <p:sp>
        <p:nvSpPr>
          <p:cNvPr id="21" name="">
            <a:extLst xmlns:a="http://schemas.openxmlformats.org/drawingml/2006/main">
              <a:ext uri="{FF2B5EF4-FFF2-40B4-BE49-F238E27FC236}">
                <a16:creationId xmlns:a16="http://schemas.microsoft.com/office/drawing/2014/main" id="{7F3DAC19-3CAE-4343-BEF6-9B6E48B03AC4}"/>
              </a:ext>
            </a:extLst>
          </p:cNvPr>
          <p:cNvSpPr>
            <a:spLocks xmlns:a="http://schemas.openxmlformats.org/drawingml/2006/main" noGrp="1"/>
          </p:cNvSpPr>
          <p:nvPr/>
        </p:nvSpPr>
        <p:spPr>
          <a:xfrm xmlns:a="http://schemas.openxmlformats.org/drawingml/2006/main">
            <a:off x="9115425" y="3124200"/>
            <a:ext cx="47625" cy="1257300"/>
          </a:xfrm>
          <a:prstGeom xmlns:a="http://schemas.openxmlformats.org/drawingml/2006/main" prst="roundRect">
            <a:avLst>
              <a:gd name="adj" fmla="val 50000"/>
            </a:avLst>
          </a:prstGeom>
          <a:solidFill xmlns:a="http://schemas.openxmlformats.org/drawingml/2006/main">
            <a:srgbClr val="78AAFF"/>
          </a:solidFill>
          <a:ln xmlns:a="http://schemas.openxmlformats.org/drawingml/2006/main" w="0">
            <a:solidFill>
              <a:srgbClr val="78AAFF"/>
            </a:solidFill>
            <a:prstDash val="solid"/>
          </a:ln>
        </p:spPr>
      </p:sp>
      <p:sp>
        <p:nvSpPr>
          <p:cNvPr id="22" name="">
            <a:extLst xmlns:a="http://schemas.openxmlformats.org/drawingml/2006/main">
              <a:ext uri="{FF2B5EF4-FFF2-40B4-BE49-F238E27FC236}">
                <a16:creationId xmlns:a16="http://schemas.microsoft.com/office/drawing/2014/main" id="{34B485CC-4A7B-422F-9BB0-DEC9CB10151D}"/>
              </a:ext>
            </a:extLst>
          </p:cNvPr>
          <p:cNvSpPr>
            <a:spLocks xmlns:a="http://schemas.openxmlformats.org/drawingml/2006/main" noGrp="1"/>
          </p:cNvSpPr>
          <p:nvPr/>
        </p:nvSpPr>
        <p:spPr>
          <a:xfrm xmlns:a="http://schemas.openxmlformats.org/drawingml/2006/main">
            <a:off x="9324975" y="32956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7F9FC"/>
                </a:solidFill>
              </a:defRPr>
            </a:pPr>
            <a:r>
              <a:rPr sz="1350" b="1">
                <a:solidFill>
                  <a:srgbClr val="F7F9FC"/>
                </a:solidFill>
              </a:rPr>
              <a:t>Public-sector planners</a:t>
            </a:r>
          </a:p>
        </p:txBody>
      </p:sp>
      <p:sp>
        <p:nvSpPr>
          <p:cNvPr id="23" name="">
            <a:extLst xmlns:a="http://schemas.openxmlformats.org/drawingml/2006/main">
              <a:ext uri="{FF2B5EF4-FFF2-40B4-BE49-F238E27FC236}">
                <a16:creationId xmlns:a16="http://schemas.microsoft.com/office/drawing/2014/main" id="{5EBBC6E6-D671-405B-AF98-61F434C30369}"/>
              </a:ext>
            </a:extLst>
          </p:cNvPr>
          <p:cNvSpPr>
            <a:spLocks xmlns:a="http://schemas.openxmlformats.org/drawingml/2006/main" noGrp="1"/>
          </p:cNvSpPr>
          <p:nvPr/>
        </p:nvSpPr>
        <p:spPr>
          <a:xfrm xmlns:a="http://schemas.openxmlformats.org/drawingml/2006/main">
            <a:off x="9324975" y="3609975"/>
            <a:ext cx="2057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8A1AF"/>
                </a:solidFill>
              </a:defRPr>
            </a:pPr>
            <a:r>
              <a:rPr sz="1050" b="0">
                <a:solidFill>
                  <a:srgbClr val="98A1AF"/>
                </a:solidFill>
              </a:rPr>
              <a:t>Create a reviewable resilience playbook across stakeholders.</a:t>
            </a:r>
          </a:p>
        </p:txBody>
      </p:sp>
      <p:sp>
        <p:nvSpPr>
          <p:cNvPr id="24" name="">
            <a:extLst xmlns:a="http://schemas.openxmlformats.org/drawingml/2006/main">
              <a:ext uri="{FF2B5EF4-FFF2-40B4-BE49-F238E27FC236}">
                <a16:creationId xmlns:a16="http://schemas.microsoft.com/office/drawing/2014/main" id="{2562542B-A0FB-4D65-B7EA-6B6B16B8DFB9}"/>
              </a:ext>
            </a:extLst>
          </p:cNvPr>
          <p:cNvSpPr>
            <a:spLocks xmlns:a="http://schemas.openxmlformats.org/drawingml/2006/main" noGrp="1"/>
          </p:cNvSpPr>
          <p:nvPr/>
        </p:nvSpPr>
        <p:spPr>
          <a:xfrm xmlns:a="http://schemas.openxmlformats.org/drawingml/2006/main">
            <a:off x="685800" y="5076825"/>
            <a:ext cx="1082040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25" name="">
            <a:extLst xmlns:a="http://schemas.openxmlformats.org/drawingml/2006/main">
              <a:ext uri="{FF2B5EF4-FFF2-40B4-BE49-F238E27FC236}">
                <a16:creationId xmlns:a16="http://schemas.microsoft.com/office/drawing/2014/main" id="{4D78D003-2E95-4FBD-A88C-24A81F34A45A}"/>
              </a:ext>
            </a:extLst>
          </p:cNvPr>
          <p:cNvSpPr>
            <a:spLocks xmlns:a="http://schemas.openxmlformats.org/drawingml/2006/main" noGrp="1"/>
          </p:cNvSpPr>
          <p:nvPr/>
        </p:nvSpPr>
        <p:spPr>
          <a:xfrm xmlns:a="http://schemas.openxmlformats.org/drawingml/2006/main">
            <a:off x="685800" y="5314950"/>
            <a:ext cx="1733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78AAFF"/>
                </a:solidFill>
              </a:defRPr>
            </a:pPr>
            <a:r>
              <a:rPr sz="1125" b="1">
                <a:solidFill>
                  <a:srgbClr val="78AAFF"/>
                </a:solidFill>
              </a:rPr>
              <a:t>MVP value now</a:t>
            </a:r>
          </a:p>
        </p:txBody>
      </p:sp>
      <p:sp>
        <p:nvSpPr>
          <p:cNvPr id="26" name="">
            <a:extLst xmlns:a="http://schemas.openxmlformats.org/drawingml/2006/main">
              <a:ext uri="{FF2B5EF4-FFF2-40B4-BE49-F238E27FC236}">
                <a16:creationId xmlns:a16="http://schemas.microsoft.com/office/drawing/2014/main" id="{B3874968-7381-4ABD-A9E4-43C3DBC16D9B}"/>
              </a:ext>
            </a:extLst>
          </p:cNvPr>
          <p:cNvSpPr>
            <a:spLocks xmlns:a="http://schemas.openxmlformats.org/drawingml/2006/main" noGrp="1"/>
          </p:cNvSpPr>
          <p:nvPr/>
        </p:nvSpPr>
        <p:spPr>
          <a:xfrm xmlns:a="http://schemas.openxmlformats.org/drawingml/2006/main">
            <a:off x="2495550" y="5286375"/>
            <a:ext cx="565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9FC"/>
                </a:solidFill>
              </a:defRPr>
            </a:pPr>
            <a:r>
              <a:rPr sz="1275" b="1">
                <a:solidFill>
                  <a:srgbClr val="F7F9FC"/>
                </a:solidFill>
              </a:rPr>
              <a:t>Scenario-led decisions with explicit provenance, uncertainty, and approval.</a:t>
            </a:r>
          </a:p>
        </p:txBody>
      </p:sp>
      <p:sp>
        <p:nvSpPr>
          <p:cNvPr id="27" name="">
            <a:extLst xmlns:a="http://schemas.openxmlformats.org/drawingml/2006/main">
              <a:ext uri="{FF2B5EF4-FFF2-40B4-BE49-F238E27FC236}">
                <a16:creationId xmlns:a16="http://schemas.microsoft.com/office/drawing/2014/main" id="{941AB28F-10AC-45F6-81E7-046BB08E7773}"/>
              </a:ext>
            </a:extLst>
          </p:cNvPr>
          <p:cNvSpPr>
            <a:spLocks xmlns:a="http://schemas.openxmlformats.org/drawingml/2006/main" noGrp="1"/>
          </p:cNvSpPr>
          <p:nvPr/>
        </p:nvSpPr>
        <p:spPr>
          <a:xfrm xmlns:a="http://schemas.openxmlformats.org/drawingml/2006/main">
            <a:off x="685800" y="5715000"/>
            <a:ext cx="1733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78AAFF"/>
                </a:solidFill>
              </a:defRPr>
            </a:pPr>
            <a:r>
              <a:rPr sz="1125" b="1">
                <a:solidFill>
                  <a:srgbClr val="78AAFF"/>
                </a:solidFill>
              </a:rPr>
              <a:t>Roadmap</a:t>
            </a:r>
          </a:p>
        </p:txBody>
      </p:sp>
      <p:sp>
        <p:nvSpPr>
          <p:cNvPr id="28" name="">
            <a:extLst xmlns:a="http://schemas.openxmlformats.org/drawingml/2006/main">
              <a:ext uri="{FF2B5EF4-FFF2-40B4-BE49-F238E27FC236}">
                <a16:creationId xmlns:a16="http://schemas.microsoft.com/office/drawing/2014/main" id="{909431A1-D5AE-4C3B-BE2F-6A4A96025266}"/>
              </a:ext>
            </a:extLst>
          </p:cNvPr>
          <p:cNvSpPr>
            <a:spLocks xmlns:a="http://schemas.openxmlformats.org/drawingml/2006/main" noGrp="1"/>
          </p:cNvSpPr>
          <p:nvPr/>
        </p:nvSpPr>
        <p:spPr>
          <a:xfrm xmlns:a="http://schemas.openxmlformats.org/drawingml/2006/main">
            <a:off x="2495550" y="56864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Connect live AIS, news, prices, commercial availability, maps, and graph services.</a:t>
            </a:r>
          </a:p>
        </p:txBody>
      </p:sp>
    </p:spTree>
    <p:extLst>
      <p:ext uri="{BB962C8B-B14F-4D97-AF65-F5344CB8AC3E}">
        <p14:creationId xmlns:p14="http://schemas.microsoft.com/office/powerpoint/2010/main" val="2004796140"/>
      </p:ext>
    </p:extLst>
  </p:cSld>
</p:sld>
</file>

<file path=ppt/slides/slide9.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3CC6D04-5B7A-4ABE-8690-701080912FDA}"/>
              </a:ext>
            </a:extLst>
          </p:cNvPr>
          <p:cNvSpPr>
            <a:spLocks xmlns:a="http://schemas.openxmlformats.org/drawingml/2006/main" noGrp="1"/>
          </p:cNvSpPr>
          <p:nvPr/>
        </p:nvSpPr>
        <p:spPr>
          <a:xfrm xmlns:a="http://schemas.openxmlformats.org/drawingml/2006/main">
            <a:off x="685800" y="3714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78AAFF"/>
                </a:solidFill>
              </a:defRPr>
            </a:pPr>
            <a:r>
              <a:rPr sz="975" b="1">
                <a:solidFill>
                  <a:srgbClr val="78AAFF"/>
                </a:solidFill>
              </a:rPr>
              <a:t>PETRAVIGIL</a:t>
            </a:r>
          </a:p>
        </p:txBody>
      </p:sp>
      <p:sp>
        <p:nvSpPr>
          <p:cNvPr id="2" name="">
            <a:extLst xmlns:a="http://schemas.openxmlformats.org/drawingml/2006/main">
              <a:ext uri="{FF2B5EF4-FFF2-40B4-BE49-F238E27FC236}">
                <a16:creationId xmlns:a16="http://schemas.microsoft.com/office/drawing/2014/main" id="{221A3242-435F-4E8F-86DA-45B8B232DAA7}"/>
              </a:ext>
            </a:extLst>
          </p:cNvPr>
          <p:cNvSpPr>
            <a:spLocks xmlns:a="http://schemas.openxmlformats.org/drawingml/2006/main" noGrp="1"/>
          </p:cNvSpPr>
          <p:nvPr/>
        </p:nvSpPr>
        <p:spPr>
          <a:xfrm xmlns:a="http://schemas.openxmlformats.org/drawingml/2006/main">
            <a:off x="685800" y="6286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98A1AF"/>
                </a:solidFill>
              </a:defRPr>
            </a:pPr>
            <a:r>
              <a:rPr sz="900" b="1">
                <a:solidFill>
                  <a:srgbClr val="98A1AF"/>
                </a:solidFill>
              </a:rPr>
              <a:t>RESULTS &amp; DEMO HIGHLIGHTS</a:t>
            </a:r>
          </a:p>
        </p:txBody>
      </p:sp>
      <p:sp>
        <p:nvSpPr>
          <p:cNvPr id="3" name="">
            <a:extLst xmlns:a="http://schemas.openxmlformats.org/drawingml/2006/main">
              <a:ext uri="{FF2B5EF4-FFF2-40B4-BE49-F238E27FC236}">
                <a16:creationId xmlns:a16="http://schemas.microsoft.com/office/drawing/2014/main" id="{604F169A-BAEE-4DAE-96DE-129025A13F80}"/>
              </a:ext>
            </a:extLst>
          </p:cNvPr>
          <p:cNvSpPr>
            <a:spLocks xmlns:a="http://schemas.openxmlformats.org/drawingml/2006/main" noGrp="1"/>
          </p:cNvSpPr>
          <p:nvPr/>
        </p:nvSpPr>
        <p:spPr>
          <a:xfrm xmlns:a="http://schemas.openxmlformats.org/drawingml/2006/main">
            <a:off x="685800" y="962025"/>
            <a:ext cx="647700" cy="28575"/>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4" name="">
            <a:extLst xmlns:a="http://schemas.openxmlformats.org/drawingml/2006/main">
              <a:ext uri="{FF2B5EF4-FFF2-40B4-BE49-F238E27FC236}">
                <a16:creationId xmlns:a16="http://schemas.microsoft.com/office/drawing/2014/main" id="{90EC9166-03DE-47B8-AD1C-260C6A01FD9F}"/>
              </a:ext>
            </a:extLst>
          </p:cNvPr>
          <p:cNvSpPr>
            <a:spLocks xmlns:a="http://schemas.openxmlformats.org/drawingml/2006/main" noGrp="1"/>
          </p:cNvSpPr>
          <p:nvPr/>
        </p:nvSpPr>
        <p:spPr>
          <a:xfrm xmlns:a="http://schemas.openxmlformats.org/drawingml/2006/main">
            <a:off x="685800" y="12192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F7F9FC"/>
                </a:solidFill>
              </a:defRPr>
            </a:pPr>
            <a:r>
              <a:rPr sz="3300" b="1">
                <a:solidFill>
                  <a:srgbClr val="F7F9FC"/>
                </a:solidFill>
              </a:rPr>
              <a:t>We tested the decision mechanics—not just the happy path.</a:t>
            </a:r>
          </a:p>
        </p:txBody>
      </p:sp>
      <p:sp>
        <p:nvSpPr>
          <p:cNvPr id="5" name="">
            <a:extLst xmlns:a="http://schemas.openxmlformats.org/drawingml/2006/main">
              <a:ext uri="{FF2B5EF4-FFF2-40B4-BE49-F238E27FC236}">
                <a16:creationId xmlns:a16="http://schemas.microsoft.com/office/drawing/2014/main" id="{40752F26-191A-4FA4-AB1C-F0E6ADA597A0}"/>
              </a:ext>
            </a:extLst>
          </p:cNvPr>
          <p:cNvSpPr>
            <a:spLocks xmlns:a="http://schemas.openxmlformats.org/drawingml/2006/main" noGrp="1"/>
          </p:cNvSpPr>
          <p:nvPr/>
        </p:nvSpPr>
        <p:spPr>
          <a:xfrm xmlns:a="http://schemas.openxmlformats.org/drawingml/2006/main">
            <a:off x="10972800" y="61626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0"/>
                </a:solidFill>
              </a:defRPr>
            </a:pPr>
            <a:r>
              <a:rPr sz="975" b="1">
                <a:solidFill>
                  <a:srgbClr val="687180"/>
                </a:solidFill>
              </a:rPr>
              <a:t>09 / 10</a:t>
            </a:r>
          </a:p>
        </p:txBody>
      </p:sp>
      <p:sp>
        <p:nvSpPr>
          <p:cNvPr id="6" name="">
            <a:extLst xmlns:a="http://schemas.openxmlformats.org/drawingml/2006/main">
              <a:ext uri="{FF2B5EF4-FFF2-40B4-BE49-F238E27FC236}">
                <a16:creationId xmlns:a16="http://schemas.microsoft.com/office/drawing/2014/main" id="{DB053EE0-9841-40CC-852A-80C25BE7FD56}"/>
              </a:ext>
            </a:extLst>
          </p:cNvPr>
          <p:cNvSpPr>
            <a:spLocks xmlns:a="http://schemas.openxmlformats.org/drawingml/2006/main" noGrp="1"/>
          </p:cNvSpPr>
          <p:nvPr/>
        </p:nvSpPr>
        <p:spPr>
          <a:xfrm xmlns:a="http://schemas.openxmlformats.org/drawingml/2006/main">
            <a:off x="685800" y="6257925"/>
            <a:ext cx="7429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SOURCE: 22-PASS BACKEND TEST SUITE · CURRENT REPOSITORY</a:t>
            </a:r>
          </a:p>
        </p:txBody>
      </p:sp>
      <p:sp>
        <p:nvSpPr>
          <p:cNvPr id="7" name="">
            <a:extLst xmlns:a="http://schemas.openxmlformats.org/drawingml/2006/main">
              <a:ext uri="{FF2B5EF4-FFF2-40B4-BE49-F238E27FC236}">
                <a16:creationId xmlns:a16="http://schemas.microsoft.com/office/drawing/2014/main" id="{14901D78-A9DA-47C9-A3B9-D4F3728EBFAF}"/>
              </a:ext>
            </a:extLst>
          </p:cNvPr>
          <p:cNvSpPr>
            <a:spLocks xmlns:a="http://schemas.openxmlformats.org/drawingml/2006/main" noGrp="1"/>
          </p:cNvSpPr>
          <p:nvPr/>
        </p:nvSpPr>
        <p:spPr>
          <a:xfrm xmlns:a="http://schemas.openxmlformats.org/drawingml/2006/main">
            <a:off x="685800" y="2552700"/>
            <a:ext cx="194310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8" name="">
            <a:extLst xmlns:a="http://schemas.openxmlformats.org/drawingml/2006/main">
              <a:ext uri="{FF2B5EF4-FFF2-40B4-BE49-F238E27FC236}">
                <a16:creationId xmlns:a16="http://schemas.microsoft.com/office/drawing/2014/main" id="{35490223-C029-4E1B-96B6-31F8028AC1C7}"/>
              </a:ext>
            </a:extLst>
          </p:cNvPr>
          <p:cNvSpPr>
            <a:spLocks xmlns:a="http://schemas.openxmlformats.org/drawingml/2006/main" noGrp="1"/>
          </p:cNvSpPr>
          <p:nvPr/>
        </p:nvSpPr>
        <p:spPr>
          <a:xfrm xmlns:a="http://schemas.openxmlformats.org/drawingml/2006/main">
            <a:off x="685800" y="2724150"/>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54D2C5"/>
                </a:solidFill>
              </a:defRPr>
            </a:pPr>
            <a:r>
              <a:rPr sz="2550" b="1">
                <a:solidFill>
                  <a:srgbClr val="54D2C5"/>
                </a:solidFill>
              </a:rPr>
              <a:t>22 / 22</a:t>
            </a:r>
          </a:p>
        </p:txBody>
      </p:sp>
      <p:sp>
        <p:nvSpPr>
          <p:cNvPr id="9" name="">
            <a:extLst xmlns:a="http://schemas.openxmlformats.org/drawingml/2006/main">
              <a:ext uri="{FF2B5EF4-FFF2-40B4-BE49-F238E27FC236}">
                <a16:creationId xmlns:a16="http://schemas.microsoft.com/office/drawing/2014/main" id="{4D254092-66F1-4EE4-99F5-295D6BE78B22}"/>
              </a:ext>
            </a:extLst>
          </p:cNvPr>
          <p:cNvSpPr>
            <a:spLocks xmlns:a="http://schemas.openxmlformats.org/drawingml/2006/main" noGrp="1"/>
          </p:cNvSpPr>
          <p:nvPr/>
        </p:nvSpPr>
        <p:spPr>
          <a:xfrm xmlns:a="http://schemas.openxmlformats.org/drawingml/2006/main">
            <a:off x="685800" y="3228975"/>
            <a:ext cx="194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Backend tests passing</a:t>
            </a:r>
          </a:p>
        </p:txBody>
      </p:sp>
      <p:sp>
        <p:nvSpPr>
          <p:cNvPr id="10" name="">
            <a:extLst xmlns:a="http://schemas.openxmlformats.org/drawingml/2006/main">
              <a:ext uri="{FF2B5EF4-FFF2-40B4-BE49-F238E27FC236}">
                <a16:creationId xmlns:a16="http://schemas.microsoft.com/office/drawing/2014/main" id="{55089B29-AF89-4C77-805B-9011A04549F0}"/>
              </a:ext>
            </a:extLst>
          </p:cNvPr>
          <p:cNvSpPr>
            <a:spLocks xmlns:a="http://schemas.openxmlformats.org/drawingml/2006/main" noGrp="1"/>
          </p:cNvSpPr>
          <p:nvPr/>
        </p:nvSpPr>
        <p:spPr>
          <a:xfrm xmlns:a="http://schemas.openxmlformats.org/drawingml/2006/main">
            <a:off x="3086100" y="2552700"/>
            <a:ext cx="194310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11" name="">
            <a:extLst xmlns:a="http://schemas.openxmlformats.org/drawingml/2006/main">
              <a:ext uri="{FF2B5EF4-FFF2-40B4-BE49-F238E27FC236}">
                <a16:creationId xmlns:a16="http://schemas.microsoft.com/office/drawing/2014/main" id="{CC6E719B-A41B-4758-A84D-7043DDE09103}"/>
              </a:ext>
            </a:extLst>
          </p:cNvPr>
          <p:cNvSpPr>
            <a:spLocks xmlns:a="http://schemas.openxmlformats.org/drawingml/2006/main" noGrp="1"/>
          </p:cNvSpPr>
          <p:nvPr/>
        </p:nvSpPr>
        <p:spPr>
          <a:xfrm xmlns:a="http://schemas.openxmlformats.org/drawingml/2006/main">
            <a:off x="3086100" y="2724150"/>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78AAFF"/>
                </a:solidFill>
              </a:defRPr>
            </a:pPr>
            <a:r>
              <a:rPr sz="2550" b="1">
                <a:solidFill>
                  <a:srgbClr val="78AAFF"/>
                </a:solidFill>
              </a:rPr>
              <a:t>6</a:t>
            </a:r>
          </a:p>
        </p:txBody>
      </p:sp>
      <p:sp>
        <p:nvSpPr>
          <p:cNvPr id="12" name="">
            <a:extLst xmlns:a="http://schemas.openxmlformats.org/drawingml/2006/main">
              <a:ext uri="{FF2B5EF4-FFF2-40B4-BE49-F238E27FC236}">
                <a16:creationId xmlns:a16="http://schemas.microsoft.com/office/drawing/2014/main" id="{A1A66DB1-31D2-4B9E-873A-E48A7AC46A87}"/>
              </a:ext>
            </a:extLst>
          </p:cNvPr>
          <p:cNvSpPr>
            <a:spLocks xmlns:a="http://schemas.openxmlformats.org/drawingml/2006/main" noGrp="1"/>
          </p:cNvSpPr>
          <p:nvPr/>
        </p:nvSpPr>
        <p:spPr>
          <a:xfrm xmlns:a="http://schemas.openxmlformats.org/drawingml/2006/main">
            <a:off x="3086100" y="3228975"/>
            <a:ext cx="194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Auditable workflow stages</a:t>
            </a:r>
          </a:p>
        </p:txBody>
      </p:sp>
      <p:sp>
        <p:nvSpPr>
          <p:cNvPr id="13" name="">
            <a:extLst xmlns:a="http://schemas.openxmlformats.org/drawingml/2006/main">
              <a:ext uri="{FF2B5EF4-FFF2-40B4-BE49-F238E27FC236}">
                <a16:creationId xmlns:a16="http://schemas.microsoft.com/office/drawing/2014/main" id="{DE21450B-10FC-41EC-A244-C291845962BF}"/>
              </a:ext>
            </a:extLst>
          </p:cNvPr>
          <p:cNvSpPr>
            <a:spLocks xmlns:a="http://schemas.openxmlformats.org/drawingml/2006/main" noGrp="1"/>
          </p:cNvSpPr>
          <p:nvPr/>
        </p:nvSpPr>
        <p:spPr>
          <a:xfrm xmlns:a="http://schemas.openxmlformats.org/drawingml/2006/main">
            <a:off x="5486400" y="2552700"/>
            <a:ext cx="194310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14" name="">
            <a:extLst xmlns:a="http://schemas.openxmlformats.org/drawingml/2006/main">
              <a:ext uri="{FF2B5EF4-FFF2-40B4-BE49-F238E27FC236}">
                <a16:creationId xmlns:a16="http://schemas.microsoft.com/office/drawing/2014/main" id="{B668578D-FAD1-4A12-B006-34CA35092A46}"/>
              </a:ext>
            </a:extLst>
          </p:cNvPr>
          <p:cNvSpPr>
            <a:spLocks xmlns:a="http://schemas.openxmlformats.org/drawingml/2006/main" noGrp="1"/>
          </p:cNvSpPr>
          <p:nvPr/>
        </p:nvSpPr>
        <p:spPr>
          <a:xfrm xmlns:a="http://schemas.openxmlformats.org/drawingml/2006/main">
            <a:off x="5486400" y="2724150"/>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E2A447"/>
                </a:solidFill>
              </a:defRPr>
            </a:pPr>
            <a:r>
              <a:rPr sz="2550" b="1">
                <a:solidFill>
                  <a:srgbClr val="E2A447"/>
                </a:solidFill>
              </a:rPr>
              <a:t>1,000</a:t>
            </a:r>
          </a:p>
        </p:txBody>
      </p:sp>
      <p:sp>
        <p:nvSpPr>
          <p:cNvPr id="15" name="">
            <a:extLst xmlns:a="http://schemas.openxmlformats.org/drawingml/2006/main">
              <a:ext uri="{FF2B5EF4-FFF2-40B4-BE49-F238E27FC236}">
                <a16:creationId xmlns:a16="http://schemas.microsoft.com/office/drawing/2014/main" id="{150A21E8-C9DE-4643-94CC-5A9052307BBB}"/>
              </a:ext>
            </a:extLst>
          </p:cNvPr>
          <p:cNvSpPr>
            <a:spLocks xmlns:a="http://schemas.openxmlformats.org/drawingml/2006/main" noGrp="1"/>
          </p:cNvSpPr>
          <p:nvPr/>
        </p:nvSpPr>
        <p:spPr>
          <a:xfrm xmlns:a="http://schemas.openxmlformats.org/drawingml/2006/main">
            <a:off x="5486400" y="3228975"/>
            <a:ext cx="194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Default reproducible simulation runs</a:t>
            </a:r>
          </a:p>
        </p:txBody>
      </p:sp>
      <p:sp>
        <p:nvSpPr>
          <p:cNvPr id="16" name="">
            <a:extLst xmlns:a="http://schemas.openxmlformats.org/drawingml/2006/main">
              <a:ext uri="{FF2B5EF4-FFF2-40B4-BE49-F238E27FC236}">
                <a16:creationId xmlns:a16="http://schemas.microsoft.com/office/drawing/2014/main" id="{5ACA0BB0-A82F-4B20-9527-31CCA6DF0DAB}"/>
              </a:ext>
            </a:extLst>
          </p:cNvPr>
          <p:cNvSpPr>
            <a:spLocks xmlns:a="http://schemas.openxmlformats.org/drawingml/2006/main" noGrp="1"/>
          </p:cNvSpPr>
          <p:nvPr/>
        </p:nvSpPr>
        <p:spPr>
          <a:xfrm xmlns:a="http://schemas.openxmlformats.org/drawingml/2006/main">
            <a:off x="7886700" y="2552700"/>
            <a:ext cx="1943100" cy="0"/>
          </a:xfrm>
          <a:prstGeom xmlns:a="http://schemas.openxmlformats.org/drawingml/2006/main" prst="line">
            <a:avLst/>
          </a:prstGeom>
          <a:noFill xmlns:a="http://schemas.openxmlformats.org/drawingml/2006/main"/>
          <a:ln xmlns:a="http://schemas.openxmlformats.org/drawingml/2006/main" w="9525">
            <a:solidFill>
              <a:srgbClr val="39404D"/>
            </a:solidFill>
            <a:prstDash val="solid"/>
          </a:ln>
        </p:spPr>
      </p:sp>
      <p:sp>
        <p:nvSpPr>
          <p:cNvPr id="17" name="">
            <a:extLst xmlns:a="http://schemas.openxmlformats.org/drawingml/2006/main">
              <a:ext uri="{FF2B5EF4-FFF2-40B4-BE49-F238E27FC236}">
                <a16:creationId xmlns:a16="http://schemas.microsoft.com/office/drawing/2014/main" id="{EA8EEE14-1056-465D-ABF2-96B243F2AF58}"/>
              </a:ext>
            </a:extLst>
          </p:cNvPr>
          <p:cNvSpPr>
            <a:spLocks xmlns:a="http://schemas.openxmlformats.org/drawingml/2006/main" noGrp="1"/>
          </p:cNvSpPr>
          <p:nvPr/>
        </p:nvSpPr>
        <p:spPr>
          <a:xfrm xmlns:a="http://schemas.openxmlformats.org/drawingml/2006/main">
            <a:off x="7886700" y="2724150"/>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78AAFF"/>
                </a:solidFill>
              </a:defRPr>
            </a:pPr>
            <a:r>
              <a:rPr sz="2550" b="1">
                <a:solidFill>
                  <a:srgbClr val="78AAFF"/>
                </a:solidFill>
              </a:rPr>
              <a:t>4</a:t>
            </a:r>
          </a:p>
        </p:txBody>
      </p:sp>
      <p:sp>
        <p:nvSpPr>
          <p:cNvPr id="18" name="">
            <a:extLst xmlns:a="http://schemas.openxmlformats.org/drawingml/2006/main">
              <a:ext uri="{FF2B5EF4-FFF2-40B4-BE49-F238E27FC236}">
                <a16:creationId xmlns:a16="http://schemas.microsoft.com/office/drawing/2014/main" id="{CC795C01-C73D-4F6F-A2DB-C708328FF754}"/>
              </a:ext>
            </a:extLst>
          </p:cNvPr>
          <p:cNvSpPr>
            <a:spLocks xmlns:a="http://schemas.openxmlformats.org/drawingml/2006/main" noGrp="1"/>
          </p:cNvSpPr>
          <p:nvPr/>
        </p:nvSpPr>
        <p:spPr>
          <a:xfrm xmlns:a="http://schemas.openxmlformats.org/drawingml/2006/main">
            <a:off x="7886700" y="3228975"/>
            <a:ext cx="194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8A1AF"/>
                </a:solidFill>
              </a:defRPr>
            </a:pPr>
            <a:r>
              <a:rPr sz="1125" b="0">
                <a:solidFill>
                  <a:srgbClr val="98A1AF"/>
                </a:solidFill>
              </a:rPr>
              <a:t>Constrained procurement portfolios</a:t>
            </a:r>
          </a:p>
        </p:txBody>
      </p:sp>
      <p:sp>
        <p:nvSpPr>
          <p:cNvPr id="19" name="">
            <a:extLst xmlns:a="http://schemas.openxmlformats.org/drawingml/2006/main">
              <a:ext uri="{FF2B5EF4-FFF2-40B4-BE49-F238E27FC236}">
                <a16:creationId xmlns:a16="http://schemas.microsoft.com/office/drawing/2014/main" id="{730F687C-36EE-45C0-B9D4-CEB8D1D7F686}"/>
              </a:ext>
            </a:extLst>
          </p:cNvPr>
          <p:cNvSpPr>
            <a:spLocks xmlns:a="http://schemas.openxmlformats.org/drawingml/2006/main" noGrp="1"/>
          </p:cNvSpPr>
          <p:nvPr/>
        </p:nvSpPr>
        <p:spPr>
          <a:xfrm xmlns:a="http://schemas.openxmlformats.org/drawingml/2006/main">
            <a:off x="685800" y="443865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9FC"/>
                </a:solidFill>
              </a:defRPr>
            </a:pPr>
            <a:r>
              <a:rPr sz="1275" b="1">
                <a:solidFill>
                  <a:srgbClr val="F7F9FC"/>
                </a:solidFill>
              </a:rPr>
              <a:t>What that proof protects</a:t>
            </a:r>
          </a:p>
        </p:txBody>
      </p:sp>
      <p:sp>
        <p:nvSpPr>
          <p:cNvPr id="20" name="">
            <a:extLst xmlns:a="http://schemas.openxmlformats.org/drawingml/2006/main">
              <a:ext uri="{FF2B5EF4-FFF2-40B4-BE49-F238E27FC236}">
                <a16:creationId xmlns:a16="http://schemas.microsoft.com/office/drawing/2014/main" id="{05300032-73C5-4FB1-B26B-C3D016EF6B45}"/>
              </a:ext>
            </a:extLst>
          </p:cNvPr>
          <p:cNvSpPr>
            <a:spLocks xmlns:a="http://schemas.openxmlformats.org/drawingml/2006/main" noGrp="1"/>
          </p:cNvSpPr>
          <p:nvPr/>
        </p:nvSpPr>
        <p:spPr>
          <a:xfrm xmlns:a="http://schemas.openxmlformats.org/drawingml/2006/main">
            <a:off x="723900" y="4876800"/>
            <a:ext cx="85725" cy="85725"/>
          </a:xfrm>
          <a:prstGeom xmlns:a="http://schemas.openxmlformats.org/drawingml/2006/main" prst="ellipse">
            <a:avLst/>
          </a:prstGeom>
          <a:solidFill xmlns:a="http://schemas.openxmlformats.org/drawingml/2006/main">
            <a:srgbClr val="4D8DFF"/>
          </a:solidFill>
          <a:ln xmlns:a="http://schemas.openxmlformats.org/drawingml/2006/main" w="0">
            <a:solidFill>
              <a:srgbClr val="4D8DFF"/>
            </a:solidFill>
            <a:prstDash val="solid"/>
          </a:ln>
        </p:spPr>
      </p:sp>
      <p:sp>
        <p:nvSpPr>
          <p:cNvPr id="21" name="">
            <a:extLst xmlns:a="http://schemas.openxmlformats.org/drawingml/2006/main">
              <a:ext uri="{FF2B5EF4-FFF2-40B4-BE49-F238E27FC236}">
                <a16:creationId xmlns:a16="http://schemas.microsoft.com/office/drawing/2014/main" id="{23D8E1BA-414D-4E2A-8903-43B27D3B4FDC}"/>
              </a:ext>
            </a:extLst>
          </p:cNvPr>
          <p:cNvSpPr>
            <a:spLocks xmlns:a="http://schemas.openxmlformats.org/drawingml/2006/main" noGrp="1"/>
          </p:cNvSpPr>
          <p:nvPr/>
        </p:nvSpPr>
        <p:spPr>
          <a:xfrm xmlns:a="http://schemas.openxmlformats.org/drawingml/2006/main">
            <a:off x="952500" y="4791075"/>
            <a:ext cx="823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A workflow cannot execute without a known proposal.</a:t>
            </a:r>
          </a:p>
        </p:txBody>
      </p:sp>
      <p:sp>
        <p:nvSpPr>
          <p:cNvPr id="22" name="">
            <a:extLst xmlns:a="http://schemas.openxmlformats.org/drawingml/2006/main">
              <a:ext uri="{FF2B5EF4-FFF2-40B4-BE49-F238E27FC236}">
                <a16:creationId xmlns:a16="http://schemas.microsoft.com/office/drawing/2014/main" id="{2C13C9AF-4C7C-45D0-8282-E08ABBAB2171}"/>
              </a:ext>
            </a:extLst>
          </p:cNvPr>
          <p:cNvSpPr>
            <a:spLocks xmlns:a="http://schemas.openxmlformats.org/drawingml/2006/main" noGrp="1"/>
          </p:cNvSpPr>
          <p:nvPr/>
        </p:nvSpPr>
        <p:spPr>
          <a:xfrm xmlns:a="http://schemas.openxmlformats.org/drawingml/2006/main">
            <a:off x="723900" y="5200650"/>
            <a:ext cx="85725" cy="85725"/>
          </a:xfrm>
          <a:prstGeom xmlns:a="http://schemas.openxmlformats.org/drawingml/2006/main" prst="ellipse">
            <a:avLst/>
          </a:prstGeom>
          <a:solidFill xmlns:a="http://schemas.openxmlformats.org/drawingml/2006/main">
            <a:srgbClr val="4D8DFF"/>
          </a:solidFill>
          <a:ln xmlns:a="http://schemas.openxmlformats.org/drawingml/2006/main" w="0">
            <a:solidFill>
              <a:srgbClr val="4D8DFF"/>
            </a:solidFill>
            <a:prstDash val="solid"/>
          </a:ln>
        </p:spPr>
      </p:sp>
      <p:sp>
        <p:nvSpPr>
          <p:cNvPr id="23" name="">
            <a:extLst xmlns:a="http://schemas.openxmlformats.org/drawingml/2006/main">
              <a:ext uri="{FF2B5EF4-FFF2-40B4-BE49-F238E27FC236}">
                <a16:creationId xmlns:a16="http://schemas.microsoft.com/office/drawing/2014/main" id="{54629116-CD23-47A5-9EA3-782D9E7F8B5E}"/>
              </a:ext>
            </a:extLst>
          </p:cNvPr>
          <p:cNvSpPr>
            <a:spLocks xmlns:a="http://schemas.openxmlformats.org/drawingml/2006/main" noGrp="1"/>
          </p:cNvSpPr>
          <p:nvPr/>
        </p:nvSpPr>
        <p:spPr>
          <a:xfrm xmlns:a="http://schemas.openxmlformats.org/drawingml/2006/main">
            <a:off x="952500" y="5114925"/>
            <a:ext cx="823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Unrelated text cannot fabricate a seeded corridor.</a:t>
            </a:r>
          </a:p>
        </p:txBody>
      </p:sp>
      <p:sp>
        <p:nvSpPr>
          <p:cNvPr id="24" name="">
            <a:extLst xmlns:a="http://schemas.openxmlformats.org/drawingml/2006/main">
              <a:ext uri="{FF2B5EF4-FFF2-40B4-BE49-F238E27FC236}">
                <a16:creationId xmlns:a16="http://schemas.microsoft.com/office/drawing/2014/main" id="{8D1C6190-D4BA-4D16-82E7-958814C366B9}"/>
              </a:ext>
            </a:extLst>
          </p:cNvPr>
          <p:cNvSpPr>
            <a:spLocks xmlns:a="http://schemas.openxmlformats.org/drawingml/2006/main" noGrp="1"/>
          </p:cNvSpPr>
          <p:nvPr/>
        </p:nvSpPr>
        <p:spPr>
          <a:xfrm xmlns:a="http://schemas.openxmlformats.org/drawingml/2006/main">
            <a:off x="723900" y="5524500"/>
            <a:ext cx="85725" cy="85725"/>
          </a:xfrm>
          <a:prstGeom xmlns:a="http://schemas.openxmlformats.org/drawingml/2006/main" prst="ellipse">
            <a:avLst/>
          </a:prstGeom>
          <a:solidFill xmlns:a="http://schemas.openxmlformats.org/drawingml/2006/main">
            <a:srgbClr val="4D8DFF"/>
          </a:solidFill>
          <a:ln xmlns:a="http://schemas.openxmlformats.org/drawingml/2006/main" w="0">
            <a:solidFill>
              <a:srgbClr val="4D8DFF"/>
            </a:solidFill>
            <a:prstDash val="solid"/>
          </a:ln>
        </p:spPr>
      </p:sp>
      <p:sp>
        <p:nvSpPr>
          <p:cNvPr id="25" name="">
            <a:extLst xmlns:a="http://schemas.openxmlformats.org/drawingml/2006/main">
              <a:ext uri="{FF2B5EF4-FFF2-40B4-BE49-F238E27FC236}">
                <a16:creationId xmlns:a16="http://schemas.microsoft.com/office/drawing/2014/main" id="{86A8BEB7-761D-42A1-B4E9-D6E06CC65321}"/>
              </a:ext>
            </a:extLst>
          </p:cNvPr>
          <p:cNvSpPr>
            <a:spLocks xmlns:a="http://schemas.openxmlformats.org/drawingml/2006/main" noGrp="1"/>
          </p:cNvSpPr>
          <p:nvPr/>
        </p:nvSpPr>
        <p:spPr>
          <a:xfrm xmlns:a="http://schemas.openxmlformats.org/drawingml/2006/main">
            <a:off x="952500" y="5438775"/>
            <a:ext cx="823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Economic severity can change the selected risk posture.</a:t>
            </a:r>
          </a:p>
        </p:txBody>
      </p:sp>
      <p:sp>
        <p:nvSpPr>
          <p:cNvPr id="26" name="">
            <a:extLst xmlns:a="http://schemas.openxmlformats.org/drawingml/2006/main">
              <a:ext uri="{FF2B5EF4-FFF2-40B4-BE49-F238E27FC236}">
                <a16:creationId xmlns:a16="http://schemas.microsoft.com/office/drawing/2014/main" id="{9205E134-79B6-4BC3-B998-C2B93E1A0A9E}"/>
              </a:ext>
            </a:extLst>
          </p:cNvPr>
          <p:cNvSpPr>
            <a:spLocks xmlns:a="http://schemas.openxmlformats.org/drawingml/2006/main" noGrp="1"/>
          </p:cNvSpPr>
          <p:nvPr/>
        </p:nvSpPr>
        <p:spPr>
          <a:xfrm xmlns:a="http://schemas.openxmlformats.org/drawingml/2006/main">
            <a:off x="723900" y="5848350"/>
            <a:ext cx="85725" cy="85725"/>
          </a:xfrm>
          <a:prstGeom xmlns:a="http://schemas.openxmlformats.org/drawingml/2006/main" prst="ellipse">
            <a:avLst/>
          </a:prstGeom>
          <a:solidFill xmlns:a="http://schemas.openxmlformats.org/drawingml/2006/main">
            <a:srgbClr val="E2A447"/>
          </a:solidFill>
          <a:ln xmlns:a="http://schemas.openxmlformats.org/drawingml/2006/main" w="0">
            <a:solidFill>
              <a:srgbClr val="E2A447"/>
            </a:solidFill>
            <a:prstDash val="solid"/>
          </a:ln>
        </p:spPr>
      </p:sp>
      <p:sp>
        <p:nvSpPr>
          <p:cNvPr id="27" name="">
            <a:extLst xmlns:a="http://schemas.openxmlformats.org/drawingml/2006/main">
              <a:ext uri="{FF2B5EF4-FFF2-40B4-BE49-F238E27FC236}">
                <a16:creationId xmlns:a16="http://schemas.microsoft.com/office/drawing/2014/main" id="{47F4077D-7F18-447A-866A-DB0866956921}"/>
              </a:ext>
            </a:extLst>
          </p:cNvPr>
          <p:cNvSpPr>
            <a:spLocks xmlns:a="http://schemas.openxmlformats.org/drawingml/2006/main" noGrp="1"/>
          </p:cNvSpPr>
          <p:nvPr/>
        </p:nvSpPr>
        <p:spPr>
          <a:xfrm xmlns:a="http://schemas.openxmlformats.org/drawingml/2006/main">
            <a:off x="952500" y="5762625"/>
            <a:ext cx="823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Approvals never create a purchase order or external execution.</a:t>
            </a:r>
          </a:p>
        </p:txBody>
      </p:sp>
      <p:sp>
        <p:nvSpPr>
          <p:cNvPr id="28" name="">
            <a:extLst xmlns:a="http://schemas.openxmlformats.org/drawingml/2006/main">
              <a:ext uri="{FF2B5EF4-FFF2-40B4-BE49-F238E27FC236}">
                <a16:creationId xmlns:a16="http://schemas.microsoft.com/office/drawing/2014/main" id="{3AFDC735-53B4-4265-BD22-A73ACBEF5B0B}"/>
              </a:ext>
            </a:extLst>
          </p:cNvPr>
          <p:cNvSpPr>
            <a:spLocks xmlns:a="http://schemas.openxmlformats.org/drawingml/2006/main" noGrp="1"/>
          </p:cNvSpPr>
          <p:nvPr/>
        </p:nvSpPr>
        <p:spPr>
          <a:xfrm xmlns:a="http://schemas.openxmlformats.org/drawingml/2006/main">
            <a:off x="9591675" y="4600575"/>
            <a:ext cx="1666875" cy="1143000"/>
          </a:xfrm>
          <a:prstGeom xmlns:a="http://schemas.openxmlformats.org/drawingml/2006/main" prst="roundRect">
            <a:avLst>
              <a:gd name="adj" fmla="val 6667"/>
            </a:avLst>
          </a:prstGeom>
          <a:solidFill xmlns:a="http://schemas.openxmlformats.org/drawingml/2006/main">
            <a:srgbClr val="0D1119"/>
          </a:solidFill>
          <a:ln xmlns:a="http://schemas.openxmlformats.org/drawingml/2006/main" w="9525">
            <a:solidFill>
              <a:srgbClr val="39404D"/>
            </a:solidFill>
            <a:prstDash val="solid"/>
          </a:ln>
        </p:spPr>
      </p:sp>
      <p:sp>
        <p:nvSpPr>
          <p:cNvPr id="29" name="">
            <a:extLst xmlns:a="http://schemas.openxmlformats.org/drawingml/2006/main">
              <a:ext uri="{FF2B5EF4-FFF2-40B4-BE49-F238E27FC236}">
                <a16:creationId xmlns:a16="http://schemas.microsoft.com/office/drawing/2014/main" id="{8D6520D3-789B-46A8-9AE0-9063B0F0C7D1}"/>
              </a:ext>
            </a:extLst>
          </p:cNvPr>
          <p:cNvSpPr>
            <a:spLocks xmlns:a="http://schemas.openxmlformats.org/drawingml/2006/main" noGrp="1"/>
          </p:cNvSpPr>
          <p:nvPr/>
        </p:nvSpPr>
        <p:spPr>
          <a:xfrm xmlns:a="http://schemas.openxmlformats.org/drawingml/2006/main">
            <a:off x="9763125" y="47815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7F9FC"/>
                </a:solidFill>
              </a:defRPr>
            </a:pPr>
            <a:r>
              <a:rPr sz="1275" b="1">
                <a:solidFill>
                  <a:srgbClr val="F7F9FC"/>
                </a:solidFill>
              </a:rPr>
              <a:t>Offline-ready</a:t>
            </a:r>
          </a:p>
        </p:txBody>
      </p:sp>
      <p:sp>
        <p:nvSpPr>
          <p:cNvPr id="30" name="">
            <a:extLst xmlns:a="http://schemas.openxmlformats.org/drawingml/2006/main">
              <a:ext uri="{FF2B5EF4-FFF2-40B4-BE49-F238E27FC236}">
                <a16:creationId xmlns:a16="http://schemas.microsoft.com/office/drawing/2014/main" id="{E5013122-6C9D-4257-BB7B-71D51DE6B13B}"/>
              </a:ext>
            </a:extLst>
          </p:cNvPr>
          <p:cNvSpPr>
            <a:spLocks xmlns:a="http://schemas.openxmlformats.org/drawingml/2006/main" noGrp="1"/>
          </p:cNvSpPr>
          <p:nvPr/>
        </p:nvSpPr>
        <p:spPr>
          <a:xfrm xmlns:a="http://schemas.openxmlformats.org/drawingml/2006/main">
            <a:off x="9763125" y="5114925"/>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98A1AF"/>
                </a:solidFill>
              </a:defRPr>
            </a:pPr>
            <a:r>
              <a:rPr sz="975" b="0">
                <a:solidFill>
                  <a:srgbClr val="98A1AF"/>
                </a:solidFill>
              </a:rPr>
              <a:t>Explicit deterministic fallback when Gemini is unavailable.</a:t>
            </a:r>
          </a:p>
        </p:txBody>
      </p:sp>
    </p:spTree>
    <p:extLst>
      <p:ext uri="{BB962C8B-B14F-4D97-AF65-F5344CB8AC3E}">
        <p14:creationId xmlns:p14="http://schemas.microsoft.com/office/powerpoint/2010/main" val="704881573"/>
      </p:ext>
    </p:extLst>
  </p:cSld>
</p:sld>
</file>

<file path=ppt/slides/slide10.xml><?xml version="1.0" encoding="utf-8"?>
<p:sld xmlns:p="http://schemas.openxmlformats.org/presentationml/2006/main">
  <p:cSld>
    <p:bg>
      <p:bgPr>
        <a:solidFill xmlns:a="http://schemas.openxmlformats.org/drawingml/2006/main">
          <a:srgbClr val="090A0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8BA6E9D-D1D2-43EB-84F7-20FBF937CC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D"/>
          </a:solidFill>
          <a:ln xmlns:a="http://schemas.openxmlformats.org/drawingml/2006/main" w="0">
            <a:solidFill>
              <a:srgbClr val="090A0D"/>
            </a:solidFill>
            <a:prstDash val="solid"/>
          </a:ln>
        </p:spPr>
      </p:sp>
      <p:sp>
        <p:nvSpPr>
          <p:cNvPr id="2" name="">
            <a:extLst xmlns:a="http://schemas.openxmlformats.org/drawingml/2006/main">
              <a:ext uri="{FF2B5EF4-FFF2-40B4-BE49-F238E27FC236}">
                <a16:creationId xmlns:a16="http://schemas.microsoft.com/office/drawing/2014/main" id="{627A5F90-63AC-4102-BA1A-DED386D5FFA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DFF"/>
          </a:solidFill>
          <a:ln xmlns:a="http://schemas.openxmlformats.org/drawingml/2006/main" w="0">
            <a:solidFill>
              <a:srgbClr val="4D8DFF"/>
            </a:solidFill>
            <a:prstDash val="solid"/>
          </a:ln>
        </p:spPr>
      </p:sp>
      <p:sp>
        <p:nvSpPr>
          <p:cNvPr id="3" name="">
            <a:extLst xmlns:a="http://schemas.openxmlformats.org/drawingml/2006/main">
              <a:ext uri="{FF2B5EF4-FFF2-40B4-BE49-F238E27FC236}">
                <a16:creationId xmlns:a16="http://schemas.microsoft.com/office/drawing/2014/main" id="{7F3505C1-5AE3-4B44-B8F7-0D01BA8C317D}"/>
              </a:ext>
            </a:extLst>
          </p:cNvPr>
          <p:cNvSpPr>
            <a:spLocks xmlns:a="http://schemas.openxmlformats.org/drawingml/2006/main" noGrp="1"/>
          </p:cNvSpPr>
          <p:nvPr/>
        </p:nvSpPr>
        <p:spPr>
          <a:xfrm xmlns:a="http://schemas.openxmlformats.org/drawingml/2006/main">
            <a:off x="685800" y="6286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8AAFF"/>
                </a:solidFill>
              </a:defRPr>
            </a:pPr>
            <a:r>
              <a:rPr sz="1050" b="1">
                <a:solidFill>
                  <a:srgbClr val="78AAFF"/>
                </a:solidFill>
              </a:rPr>
              <a:t>WHY PETRAVIGIL SHOULD WIN</a:t>
            </a:r>
          </a:p>
        </p:txBody>
      </p:sp>
      <p:sp>
        <p:nvSpPr>
          <p:cNvPr id="4" name="">
            <a:extLst xmlns:a="http://schemas.openxmlformats.org/drawingml/2006/main">
              <a:ext uri="{FF2B5EF4-FFF2-40B4-BE49-F238E27FC236}">
                <a16:creationId xmlns:a16="http://schemas.microsoft.com/office/drawing/2014/main" id="{4A461AE0-3281-4C60-82E6-7D216A16DA8E}"/>
              </a:ext>
            </a:extLst>
          </p:cNvPr>
          <p:cNvSpPr>
            <a:spLocks xmlns:a="http://schemas.openxmlformats.org/drawingml/2006/main" noGrp="1"/>
          </p:cNvSpPr>
          <p:nvPr/>
        </p:nvSpPr>
        <p:spPr>
          <a:xfrm xmlns:a="http://schemas.openxmlformats.org/drawingml/2006/main">
            <a:off x="685800" y="1143000"/>
            <a:ext cx="9048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450" b="1">
                <a:solidFill>
                  <a:srgbClr val="F7F9FC"/>
                </a:solidFill>
              </a:defRPr>
            </a:pPr>
            <a:r>
              <a:rPr sz="3450" b="1">
                <a:solidFill>
                  <a:srgbClr val="F7F9FC"/>
                </a:solidFill>
              </a:rPr>
              <a:t>The winning standard for AI decision tools</a:t>
            </a:r>
          </a:p>
          <a:p xmlns:a="http://schemas.openxmlformats.org/drawingml/2006/main">
            <a:pPr algn="l">
              <a:defRPr sz="3450" b="1">
                <a:solidFill>
                  <a:srgbClr val="F7F9FC"/>
                </a:solidFill>
              </a:defRPr>
            </a:pPr>
            <a:r>
              <a:rPr sz="3450" b="1">
                <a:solidFill>
                  <a:srgbClr val="F7F9FC"/>
                </a:solidFill>
              </a:rPr>
              <a:t>is not autonomy. It is accountable speed.</a:t>
            </a:r>
          </a:p>
        </p:txBody>
      </p:sp>
      <p:sp>
        <p:nvSpPr>
          <p:cNvPr id="5" name="">
            <a:extLst xmlns:a="http://schemas.openxmlformats.org/drawingml/2006/main">
              <a:ext uri="{FF2B5EF4-FFF2-40B4-BE49-F238E27FC236}">
                <a16:creationId xmlns:a16="http://schemas.microsoft.com/office/drawing/2014/main" id="{C045BD04-631F-4210-BFC9-0B4CC8597CD1}"/>
              </a:ext>
            </a:extLst>
          </p:cNvPr>
          <p:cNvSpPr>
            <a:spLocks xmlns:a="http://schemas.openxmlformats.org/drawingml/2006/main" noGrp="1"/>
          </p:cNvSpPr>
          <p:nvPr/>
        </p:nvSpPr>
        <p:spPr>
          <a:xfrm xmlns:a="http://schemas.openxmlformats.org/drawingml/2006/main">
            <a:off x="685800" y="3257550"/>
            <a:ext cx="209550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6" name="">
            <a:extLst xmlns:a="http://schemas.openxmlformats.org/drawingml/2006/main">
              <a:ext uri="{FF2B5EF4-FFF2-40B4-BE49-F238E27FC236}">
                <a16:creationId xmlns:a16="http://schemas.microsoft.com/office/drawing/2014/main" id="{DC555E8F-9C01-48E8-9CA2-34D9F6ACCA8E}"/>
              </a:ext>
            </a:extLst>
          </p:cNvPr>
          <p:cNvSpPr>
            <a:spLocks xmlns:a="http://schemas.openxmlformats.org/drawingml/2006/main" noGrp="1"/>
          </p:cNvSpPr>
          <p:nvPr/>
        </p:nvSpPr>
        <p:spPr>
          <a:xfrm xmlns:a="http://schemas.openxmlformats.org/drawingml/2006/main">
            <a:off x="685800" y="3476625"/>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9FC"/>
                </a:solidFill>
              </a:defRPr>
            </a:pPr>
            <a:r>
              <a:rPr sz="1275" b="1">
                <a:solidFill>
                  <a:srgbClr val="F7F9FC"/>
                </a:solidFill>
              </a:rPr>
              <a:t>Problem understanding</a:t>
            </a:r>
          </a:p>
        </p:txBody>
      </p:sp>
      <p:sp>
        <p:nvSpPr>
          <p:cNvPr id="7" name="">
            <a:extLst xmlns:a="http://schemas.openxmlformats.org/drawingml/2006/main">
              <a:ext uri="{FF2B5EF4-FFF2-40B4-BE49-F238E27FC236}">
                <a16:creationId xmlns:a16="http://schemas.microsoft.com/office/drawing/2014/main" id="{D16A2C0C-567E-4DB4-8741-23FDBACA09B4}"/>
              </a:ext>
            </a:extLst>
          </p:cNvPr>
          <p:cNvSpPr>
            <a:spLocks xmlns:a="http://schemas.openxmlformats.org/drawingml/2006/main" noGrp="1"/>
          </p:cNvSpPr>
          <p:nvPr/>
        </p:nvSpPr>
        <p:spPr>
          <a:xfrm xmlns:a="http://schemas.openxmlformats.org/drawingml/2006/main">
            <a:off x="685800" y="3829050"/>
            <a:ext cx="2266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It attacks the signal-to-decision bottleneck.</a:t>
            </a:r>
          </a:p>
        </p:txBody>
      </p:sp>
      <p:sp>
        <p:nvSpPr>
          <p:cNvPr id="8" name="">
            <a:extLst xmlns:a="http://schemas.openxmlformats.org/drawingml/2006/main">
              <a:ext uri="{FF2B5EF4-FFF2-40B4-BE49-F238E27FC236}">
                <a16:creationId xmlns:a16="http://schemas.microsoft.com/office/drawing/2014/main" id="{3202C2C9-2EA1-4DDE-8105-B59D49C76EEF}"/>
              </a:ext>
            </a:extLst>
          </p:cNvPr>
          <p:cNvSpPr>
            <a:spLocks xmlns:a="http://schemas.openxmlformats.org/drawingml/2006/main" noGrp="1"/>
          </p:cNvSpPr>
          <p:nvPr/>
        </p:nvSpPr>
        <p:spPr>
          <a:xfrm xmlns:a="http://schemas.openxmlformats.org/drawingml/2006/main">
            <a:off x="3390900" y="3257550"/>
            <a:ext cx="2095500" cy="0"/>
          </a:xfrm>
          <a:prstGeom xmlns:a="http://schemas.openxmlformats.org/drawingml/2006/main" prst="line">
            <a:avLst/>
          </a:prstGeom>
          <a:noFill xmlns:a="http://schemas.openxmlformats.org/drawingml/2006/main"/>
          <a:ln xmlns:a="http://schemas.openxmlformats.org/drawingml/2006/main" w="19050">
            <a:solidFill>
              <a:srgbClr val="54D2C5"/>
            </a:solidFill>
            <a:prstDash val="solid"/>
          </a:ln>
        </p:spPr>
      </p:sp>
      <p:sp>
        <p:nvSpPr>
          <p:cNvPr id="9" name="">
            <a:extLst xmlns:a="http://schemas.openxmlformats.org/drawingml/2006/main">
              <a:ext uri="{FF2B5EF4-FFF2-40B4-BE49-F238E27FC236}">
                <a16:creationId xmlns:a16="http://schemas.microsoft.com/office/drawing/2014/main" id="{DD42DB9D-AA42-403E-962B-3812DE47CDEF}"/>
              </a:ext>
            </a:extLst>
          </p:cNvPr>
          <p:cNvSpPr>
            <a:spLocks xmlns:a="http://schemas.openxmlformats.org/drawingml/2006/main" noGrp="1"/>
          </p:cNvSpPr>
          <p:nvPr/>
        </p:nvSpPr>
        <p:spPr>
          <a:xfrm xmlns:a="http://schemas.openxmlformats.org/drawingml/2006/main">
            <a:off x="3390900" y="3476625"/>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9FC"/>
                </a:solidFill>
              </a:defRPr>
            </a:pPr>
            <a:r>
              <a:rPr sz="1275" b="1">
                <a:solidFill>
                  <a:srgbClr val="F7F9FC"/>
                </a:solidFill>
              </a:rPr>
              <a:t>Meaningful AI</a:t>
            </a:r>
          </a:p>
        </p:txBody>
      </p:sp>
      <p:sp>
        <p:nvSpPr>
          <p:cNvPr id="10" name="">
            <a:extLst xmlns:a="http://schemas.openxmlformats.org/drawingml/2006/main">
              <a:ext uri="{FF2B5EF4-FFF2-40B4-BE49-F238E27FC236}">
                <a16:creationId xmlns:a16="http://schemas.microsoft.com/office/drawing/2014/main" id="{2D9F7A6E-5B49-4D09-B255-A8302C61C7E4}"/>
              </a:ext>
            </a:extLst>
          </p:cNvPr>
          <p:cNvSpPr>
            <a:spLocks xmlns:a="http://schemas.openxmlformats.org/drawingml/2006/main" noGrp="1"/>
          </p:cNvSpPr>
          <p:nvPr/>
        </p:nvSpPr>
        <p:spPr>
          <a:xfrm xmlns:a="http://schemas.openxmlformats.org/drawingml/2006/main">
            <a:off x="3390900" y="3829050"/>
            <a:ext cx="2266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LLM intelligence is bounded by deterministic controls.</a:t>
            </a:r>
          </a:p>
        </p:txBody>
      </p:sp>
      <p:sp>
        <p:nvSpPr>
          <p:cNvPr id="11" name="">
            <a:extLst xmlns:a="http://schemas.openxmlformats.org/drawingml/2006/main">
              <a:ext uri="{FF2B5EF4-FFF2-40B4-BE49-F238E27FC236}">
                <a16:creationId xmlns:a16="http://schemas.microsoft.com/office/drawing/2014/main" id="{F855669B-F386-4200-BEFE-43DB99A37933}"/>
              </a:ext>
            </a:extLst>
          </p:cNvPr>
          <p:cNvSpPr>
            <a:spLocks xmlns:a="http://schemas.openxmlformats.org/drawingml/2006/main" noGrp="1"/>
          </p:cNvSpPr>
          <p:nvPr/>
        </p:nvSpPr>
        <p:spPr>
          <a:xfrm xmlns:a="http://schemas.openxmlformats.org/drawingml/2006/main">
            <a:off x="6096000" y="3257550"/>
            <a:ext cx="209550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2" name="">
            <a:extLst xmlns:a="http://schemas.openxmlformats.org/drawingml/2006/main">
              <a:ext uri="{FF2B5EF4-FFF2-40B4-BE49-F238E27FC236}">
                <a16:creationId xmlns:a16="http://schemas.microsoft.com/office/drawing/2014/main" id="{0D163102-C485-41E1-8A1E-4AC3BEF32B7D}"/>
              </a:ext>
            </a:extLst>
          </p:cNvPr>
          <p:cNvSpPr>
            <a:spLocks xmlns:a="http://schemas.openxmlformats.org/drawingml/2006/main" noGrp="1"/>
          </p:cNvSpPr>
          <p:nvPr/>
        </p:nvSpPr>
        <p:spPr>
          <a:xfrm xmlns:a="http://schemas.openxmlformats.org/drawingml/2006/main">
            <a:off x="6096000" y="3476625"/>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9FC"/>
                </a:solidFill>
              </a:defRPr>
            </a:pPr>
            <a:r>
              <a:rPr sz="1275" b="1">
                <a:solidFill>
                  <a:srgbClr val="F7F9FC"/>
                </a:solidFill>
              </a:rPr>
              <a:t>Technical excellence</a:t>
            </a:r>
          </a:p>
        </p:txBody>
      </p:sp>
      <p:sp>
        <p:nvSpPr>
          <p:cNvPr id="13" name="">
            <a:extLst xmlns:a="http://schemas.openxmlformats.org/drawingml/2006/main">
              <a:ext uri="{FF2B5EF4-FFF2-40B4-BE49-F238E27FC236}">
                <a16:creationId xmlns:a16="http://schemas.microsoft.com/office/drawing/2014/main" id="{CFC498F4-2FC7-4620-9EA8-E15A2DBDAF57}"/>
              </a:ext>
            </a:extLst>
          </p:cNvPr>
          <p:cNvSpPr>
            <a:spLocks xmlns:a="http://schemas.openxmlformats.org/drawingml/2006/main" noGrp="1"/>
          </p:cNvSpPr>
          <p:nvPr/>
        </p:nvSpPr>
        <p:spPr>
          <a:xfrm xmlns:a="http://schemas.openxmlformats.org/drawingml/2006/main">
            <a:off x="6096000" y="3829050"/>
            <a:ext cx="2266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Typed, tested, reproducible, constraint-driven workflow.</a:t>
            </a:r>
          </a:p>
        </p:txBody>
      </p:sp>
      <p:sp>
        <p:nvSpPr>
          <p:cNvPr id="14" name="">
            <a:extLst xmlns:a="http://schemas.openxmlformats.org/drawingml/2006/main">
              <a:ext uri="{FF2B5EF4-FFF2-40B4-BE49-F238E27FC236}">
                <a16:creationId xmlns:a16="http://schemas.microsoft.com/office/drawing/2014/main" id="{06160DE0-F143-4AA1-925B-EB49B55D11C4}"/>
              </a:ext>
            </a:extLst>
          </p:cNvPr>
          <p:cNvSpPr>
            <a:spLocks xmlns:a="http://schemas.openxmlformats.org/drawingml/2006/main" noGrp="1"/>
          </p:cNvSpPr>
          <p:nvPr/>
        </p:nvSpPr>
        <p:spPr>
          <a:xfrm xmlns:a="http://schemas.openxmlformats.org/drawingml/2006/main">
            <a:off x="8801100" y="3257550"/>
            <a:ext cx="2095500" cy="0"/>
          </a:xfrm>
          <a:prstGeom xmlns:a="http://schemas.openxmlformats.org/drawingml/2006/main" prst="line">
            <a:avLst/>
          </a:prstGeom>
          <a:noFill xmlns:a="http://schemas.openxmlformats.org/drawingml/2006/main"/>
          <a:ln xmlns:a="http://schemas.openxmlformats.org/drawingml/2006/main" w="19050">
            <a:solidFill>
              <a:srgbClr val="39404D"/>
            </a:solidFill>
            <a:prstDash val="solid"/>
          </a:ln>
        </p:spPr>
      </p:sp>
      <p:sp>
        <p:nvSpPr>
          <p:cNvPr id="15" name="">
            <a:extLst xmlns:a="http://schemas.openxmlformats.org/drawingml/2006/main">
              <a:ext uri="{FF2B5EF4-FFF2-40B4-BE49-F238E27FC236}">
                <a16:creationId xmlns:a16="http://schemas.microsoft.com/office/drawing/2014/main" id="{47F134EE-FFE1-4D76-AFC1-5BE3FDBD6B7F}"/>
              </a:ext>
            </a:extLst>
          </p:cNvPr>
          <p:cNvSpPr>
            <a:spLocks xmlns:a="http://schemas.openxmlformats.org/drawingml/2006/main" noGrp="1"/>
          </p:cNvSpPr>
          <p:nvPr/>
        </p:nvSpPr>
        <p:spPr>
          <a:xfrm xmlns:a="http://schemas.openxmlformats.org/drawingml/2006/main">
            <a:off x="8801100" y="3476625"/>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7F9FC"/>
                </a:solidFill>
              </a:defRPr>
            </a:pPr>
            <a:r>
              <a:rPr sz="1275" b="1">
                <a:solidFill>
                  <a:srgbClr val="F7F9FC"/>
                </a:solidFill>
              </a:rPr>
              <a:t>Real-world viability</a:t>
            </a:r>
          </a:p>
        </p:txBody>
      </p:sp>
      <p:sp>
        <p:nvSpPr>
          <p:cNvPr id="16" name="">
            <a:extLst xmlns:a="http://schemas.openxmlformats.org/drawingml/2006/main">
              <a:ext uri="{FF2B5EF4-FFF2-40B4-BE49-F238E27FC236}">
                <a16:creationId xmlns:a16="http://schemas.microsoft.com/office/drawing/2014/main" id="{FBE7FA6B-8079-42FA-A5A7-62945BC126AF}"/>
              </a:ext>
            </a:extLst>
          </p:cNvPr>
          <p:cNvSpPr>
            <a:spLocks xmlns:a="http://schemas.openxmlformats.org/drawingml/2006/main" noGrp="1"/>
          </p:cNvSpPr>
          <p:nvPr/>
        </p:nvSpPr>
        <p:spPr>
          <a:xfrm xmlns:a="http://schemas.openxmlformats.org/drawingml/2006/main">
            <a:off x="8801100" y="3829050"/>
            <a:ext cx="2266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8A1AF"/>
                </a:solidFill>
              </a:defRPr>
            </a:pPr>
            <a:r>
              <a:rPr sz="1200" b="0">
                <a:solidFill>
                  <a:srgbClr val="98A1AF"/>
                </a:solidFill>
              </a:rPr>
              <a:t>Human approval, explicit limits, and a practical roadmap.</a:t>
            </a:r>
          </a:p>
        </p:txBody>
      </p:sp>
      <p:sp>
        <p:nvSpPr>
          <p:cNvPr id="17" name="">
            <a:extLst xmlns:a="http://schemas.openxmlformats.org/drawingml/2006/main">
              <a:ext uri="{FF2B5EF4-FFF2-40B4-BE49-F238E27FC236}">
                <a16:creationId xmlns:a16="http://schemas.microsoft.com/office/drawing/2014/main" id="{7DBF7C2E-E2B5-4217-8868-971D5DE82F6F}"/>
              </a:ext>
            </a:extLst>
          </p:cNvPr>
          <p:cNvSpPr>
            <a:spLocks xmlns:a="http://schemas.openxmlformats.org/drawingml/2006/main" noGrp="1"/>
          </p:cNvSpPr>
          <p:nvPr/>
        </p:nvSpPr>
        <p:spPr>
          <a:xfrm xmlns:a="http://schemas.openxmlformats.org/drawingml/2006/main">
            <a:off x="685800" y="5143500"/>
            <a:ext cx="9715500" cy="647700"/>
          </a:xfrm>
          <a:prstGeom xmlns:a="http://schemas.openxmlformats.org/drawingml/2006/main" prst="roundRect">
            <a:avLst>
              <a:gd name="adj" fmla="val 13235"/>
            </a:avLst>
          </a:prstGeom>
          <a:solidFill xmlns:a="http://schemas.openxmlformats.org/drawingml/2006/main">
            <a:srgbClr val="0D1119"/>
          </a:solidFill>
          <a:ln xmlns:a="http://schemas.openxmlformats.org/drawingml/2006/main" w="9525">
            <a:solidFill>
              <a:srgbClr val="4D8DFF"/>
            </a:solidFill>
            <a:prstDash val="solid"/>
          </a:ln>
        </p:spPr>
      </p:sp>
      <p:sp>
        <p:nvSpPr>
          <p:cNvPr id="18" name="">
            <a:extLst xmlns:a="http://schemas.openxmlformats.org/drawingml/2006/main">
              <a:ext uri="{FF2B5EF4-FFF2-40B4-BE49-F238E27FC236}">
                <a16:creationId xmlns:a16="http://schemas.microsoft.com/office/drawing/2014/main" id="{EBF4223F-7F77-4A9A-AC9E-775F14224DEA}"/>
              </a:ext>
            </a:extLst>
          </p:cNvPr>
          <p:cNvSpPr>
            <a:spLocks xmlns:a="http://schemas.openxmlformats.org/drawingml/2006/main" noGrp="1"/>
          </p:cNvSpPr>
          <p:nvPr/>
        </p:nvSpPr>
        <p:spPr>
          <a:xfrm xmlns:a="http://schemas.openxmlformats.org/drawingml/2006/main">
            <a:off x="971550" y="5305425"/>
            <a:ext cx="912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7F9FC"/>
                </a:solidFill>
              </a:defRPr>
            </a:pPr>
            <a:r>
              <a:rPr sz="1875" b="1">
                <a:solidFill>
                  <a:srgbClr val="F7F9FC"/>
                </a:solidFill>
              </a:rPr>
              <a:t>Make resilience a rehearsed decision—not a crisis improvisation.</a:t>
            </a:r>
          </a:p>
        </p:txBody>
      </p:sp>
      <p:sp>
        <p:nvSpPr>
          <p:cNvPr id="19" name="">
            <a:extLst xmlns:a="http://schemas.openxmlformats.org/drawingml/2006/main">
              <a:ext uri="{FF2B5EF4-FFF2-40B4-BE49-F238E27FC236}">
                <a16:creationId xmlns:a16="http://schemas.microsoft.com/office/drawing/2014/main" id="{559E0E9D-21C0-439C-8215-3760784FE5C7}"/>
              </a:ext>
            </a:extLst>
          </p:cNvPr>
          <p:cNvSpPr>
            <a:spLocks xmlns:a="http://schemas.openxmlformats.org/drawingml/2006/main" noGrp="1"/>
          </p:cNvSpPr>
          <p:nvPr/>
        </p:nvSpPr>
        <p:spPr>
          <a:xfrm xmlns:a="http://schemas.openxmlformats.org/drawingml/2006/main">
            <a:off x="685800" y="6229350"/>
            <a:ext cx="476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687180"/>
                </a:solidFill>
              </a:defRPr>
            </a:pPr>
            <a:r>
              <a:rPr sz="825" b="1">
                <a:solidFill>
                  <a:srgbClr val="687180"/>
                </a:solidFill>
              </a:rPr>
              <a:t>PETRAVIGIL · EVIDENCE-FIRST ENERGY SUPPLY RESILIENCE</a:t>
            </a:r>
          </a:p>
        </p:txBody>
      </p:sp>
    </p:spTree>
    <p:extLst>
      <p:ext uri="{BB962C8B-B14F-4D97-AF65-F5344CB8AC3E}">
        <p14:creationId xmlns:p14="http://schemas.microsoft.com/office/powerpoint/2010/main" val="165601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2026-07-21T18:10:11.4730000Z</dcterms:created>
  <dcterms:modified xsi:type="dcterms:W3CDTF">2026-07-21T18:10:11.4730000Z</dcterms:modified>
</coreProperties>
</file>