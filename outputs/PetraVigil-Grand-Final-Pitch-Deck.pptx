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9716c1eb324ef0" /><Relationship Type="http://schemas.openxmlformats.org/officeDocument/2006/relationships/extended-properties" Target="/docProps/app.xml" Id="R5c4c33d9e8c5415c" /><Relationship Type="http://schemas.openxmlformats.org/officeDocument/2006/relationships/officeDocument" Target="/ppt/presentation.xml" Id="Re337b6bd590c4dc8" /></Relationships>
</file>

<file path=ppt/presentation.xml><?xml version="1.0" encoding="utf-8"?>
<p:presentation xmlns:p="http://schemas.openxmlformats.org/presentationml/2006/main">
  <p:sldMasterIdLst>
    <p:sldMasterId xmlns:r="http://schemas.openxmlformats.org/officeDocument/2006/relationships" id="2147483648" r:id="Rf4557c2f1e224cd3"/>
  </p:sldMasterIdLst>
  <p:notesMasterIdLst>
    <p:notesMasterId xmlns:r="http://schemas.openxmlformats.org/officeDocument/2006/relationships" r:id="R87b36efad2da436a"/>
  </p:notesMasterIdLst>
  <p:sldIdLst>
    <p:sldId xmlns:r="http://schemas.openxmlformats.org/officeDocument/2006/relationships" id="256" r:id="R025d3e8369454f88"/>
    <p:sldId xmlns:r="http://schemas.openxmlformats.org/officeDocument/2006/relationships" id="257" r:id="R00f07e2fa871476c"/>
    <p:sldId xmlns:r="http://schemas.openxmlformats.org/officeDocument/2006/relationships" id="258" r:id="Rae2a07916a1b4a61"/>
    <p:sldId xmlns:r="http://schemas.openxmlformats.org/officeDocument/2006/relationships" id="259" r:id="Rfd4d05dc24d0475a"/>
    <p:sldId xmlns:r="http://schemas.openxmlformats.org/officeDocument/2006/relationships" id="260" r:id="Rc5ac0dda862a432d"/>
    <p:sldId xmlns:r="http://schemas.openxmlformats.org/officeDocument/2006/relationships" id="261" r:id="R6c0f458343b64468"/>
    <p:sldId xmlns:r="http://schemas.openxmlformats.org/officeDocument/2006/relationships" id="262" r:id="Rc27d83783e034b82"/>
    <p:sldId xmlns:r="http://schemas.openxmlformats.org/officeDocument/2006/relationships" id="263" r:id="R029a21745dce45e7"/>
    <p:sldId xmlns:r="http://schemas.openxmlformats.org/officeDocument/2006/relationships" id="264" r:id="Rfcd9266d7e604e5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a70745b07248bb" /><Relationship Type="http://schemas.openxmlformats.org/officeDocument/2006/relationships/slideMaster" Target="/ppt/slideMasters/slideMaster1.xml" Id="Rf4557c2f1e224cd3" /><Relationship Type="http://schemas.openxmlformats.org/officeDocument/2006/relationships/notesMaster" Target="/ppt/notesMasters/notesMaster1.xml" Id="R87b36efad2da436a" /><Relationship Type="http://schemas.openxmlformats.org/officeDocument/2006/relationships/presProps" Target="/ppt/presProps.xml" Id="Rb983fcc7cb524cd5" /><Relationship Type="http://schemas.openxmlformats.org/officeDocument/2006/relationships/tableStyles" Target="/ppt/tableStyles.xml" Id="R45b694086adf4792" /><Relationship Type="http://schemas.openxmlformats.org/officeDocument/2006/relationships/slide" Target="/ppt/slides/slide1.xml" Id="R025d3e8369454f88" /><Relationship Type="http://schemas.openxmlformats.org/officeDocument/2006/relationships/slide" Target="/ppt/slides/slide2.xml" Id="R00f07e2fa871476c" /><Relationship Type="http://schemas.openxmlformats.org/officeDocument/2006/relationships/slide" Target="/ppt/slides/slide3.xml" Id="Rae2a07916a1b4a61" /><Relationship Type="http://schemas.openxmlformats.org/officeDocument/2006/relationships/slide" Target="/ppt/slides/slide4.xml" Id="Rfd4d05dc24d0475a" /><Relationship Type="http://schemas.openxmlformats.org/officeDocument/2006/relationships/slide" Target="/ppt/slides/slide5.xml" Id="Rc5ac0dda862a432d" /><Relationship Type="http://schemas.openxmlformats.org/officeDocument/2006/relationships/slide" Target="/ppt/slides/slide6.xml" Id="R6c0f458343b64468" /><Relationship Type="http://schemas.openxmlformats.org/officeDocument/2006/relationships/slide" Target="/ppt/slides/slide7.xml" Id="Rc27d83783e034b82" /><Relationship Type="http://schemas.openxmlformats.org/officeDocument/2006/relationships/slide" Target="/ppt/slides/slide8.xml" Id="R029a21745dce45e7" /><Relationship Type="http://schemas.openxmlformats.org/officeDocument/2006/relationships/slide" Target="/ppt/slides/slide9.xml" Id="Rfcd9266d7e604e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567c55a00146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466d7fafc34f98" /><Relationship Type="http://schemas.openxmlformats.org/officeDocument/2006/relationships/notesMaster" Target="/ppt/notesMasters/notesMaster1.xml" Id="Re82072cbb5ca4a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195821811e40dd" /><Relationship Type="http://schemas.openxmlformats.org/officeDocument/2006/relationships/notesMaster" Target="/ppt/notesMasters/notesMaster1.xml" Id="Reeaa024533eb4d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ac97fcae614090" /><Relationship Type="http://schemas.openxmlformats.org/officeDocument/2006/relationships/notesMaster" Target="/ppt/notesMasters/notesMaster1.xml" Id="R9b444a4bf5714b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013700128d4797" /><Relationship Type="http://schemas.openxmlformats.org/officeDocument/2006/relationships/notesMaster" Target="/ppt/notesMasters/notesMaster1.xml" Id="Rab274604968946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54ff0ecc8d4f7a" /><Relationship Type="http://schemas.openxmlformats.org/officeDocument/2006/relationships/notesMaster" Target="/ppt/notesMasters/notesMaster1.xml" Id="Rd6d3098373c140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0c151171644170" /><Relationship Type="http://schemas.openxmlformats.org/officeDocument/2006/relationships/notesMaster" Target="/ppt/notesMasters/notesMaster1.xml" Id="R0b61b4d61d3342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2f13a342884b87" /><Relationship Type="http://schemas.openxmlformats.org/officeDocument/2006/relationships/notesMaster" Target="/ppt/notesMasters/notesMaster1.xml" Id="R07782159067a43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ff256ade1f4eec" /><Relationship Type="http://schemas.openxmlformats.org/officeDocument/2006/relationships/notesMaster" Target="/ppt/notesMasters/notesMaster1.xml" Id="Re9f7f39531614d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653d29556f4fc7" /><Relationship Type="http://schemas.openxmlformats.org/officeDocument/2006/relationships/notesMaster" Target="/ppt/notesMasters/notesMaster1.xml" Id="R81e4a0c85da746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India's energy supply chain does not fail because leaders lack dashboards. It fails when a moving disruption turns into a late, opaque decision. PetraVigil is built for that exact moment: it turns one source-labelled signal into a reviewable procurement decision, with the analyst still in control. This is not an AI that buys crude. It is decision intelligence that shows its work.</a:t>
            </a:r>
          </a:p>
          <a:p xmlns:a="http://schemas.openxmlformats.org/drawingml/2006/main">
            <a:r>
              <a:t/>
            </a:r>
          </a:p>
          <a:p xmlns:a="http://schemas.openxmlformats.org/drawingml/2006/main">
            <a:r>
              <a:t>Transition: Why does this matter enough to act now? Because India’s exposure is structural, not theoretical.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urgency is simple: India meets about 88 percent of its crude needs through imports. A disruption is not just a news event; it becomes a procurement, route, refinery, and cost decision. Today those threads are often separated—signals in one place, alternatives in another, approvals elsewhere. The consequence is slower, more reactive timing when the market is least forgiving.</a:t>
            </a:r>
          </a:p>
          <a:p xmlns:a="http://schemas.openxmlformats.org/drawingml/2006/main">
            <a:r>
              <a:t/>
            </a:r>
          </a:p>
          <a:p xmlns:a="http://schemas.openxmlformats.org/drawingml/2006/main">
            <a:r>
              <a:t>Transition: The issue is not a lack of data. It is that generic tools overlook the physics and accountability of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risk products stop at an alert, and most generic supply tools treat oil as interchangeable. But a decision is only useful if it respects the refinery’s compatible crude grades, alternative-route capacity, corridor exposure, and a named human approver. PetraVigil makes those constraints part of the product—not a spreadsheet after the fact.</a:t>
            </a:r>
          </a:p>
          <a:p xmlns:a="http://schemas.openxmlformats.org/drawingml/2006/main">
            <a:r>
              <a:t/>
            </a:r>
          </a:p>
          <a:p xmlns:a="http://schemas.openxmlformats.org/drawingml/2006/main">
            <a:r>
              <a:t>Transition: That insight leads to a very different kind of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product in one line: a source-labelled signal becomes a case, the system extracts and resolves what it can, scores corridor risk, and then stops. The analyst sees and confirms the assumptions. Only then do the simulation and portfolio comparison run. The outcome is recorded locally—never sent as a purchase order or supplier instruction.</a:t>
            </a:r>
          </a:p>
          <a:p xmlns:a="http://schemas.openxmlformats.org/drawingml/2006/main">
            <a:r>
              <a:t/>
            </a:r>
          </a:p>
          <a:p xmlns:a="http://schemas.openxmlformats.org/drawingml/2006/main">
            <a:r>
              <a:t>Transition: That workflow is deliberately structured so AI has a precise job, not unchecked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AI story is intentionally sober. Gemini turns unstructured input into a structured proposal and later explains the selected portfolio. It does not create prices, approve suppliers, or invent legal status. The risk score is deterministic. The scenario engine is reproducible. The optimizer respects compatibility and capacity constraints. That separation is how we turn AI from a demo trick into decision support a procurement leader can inspect.</a:t>
            </a:r>
          </a:p>
          <a:p xmlns:a="http://schemas.openxmlformats.org/drawingml/2006/main">
            <a:r>
              <a:t/>
            </a:r>
          </a:p>
          <a:p xmlns:a="http://schemas.openxmlformats.org/drawingml/2006/main">
            <a:r>
              <a:t>Transition: Let me make that concrete with the canonical Hormuz case already implemented in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shipping advisory reports elevated military activity near Hormuz. PetraVigil retains it as user-entered evidence, extracts a structured proposal, resolves the corridor, and surfaces a 78 out of 100 simulated corridor-risk score. The analyst confirms the scenario assumptions. In the canonical simulated case, we then see a P50 1.2 million bpd supply impact and a 6.5 dollar-per-barrel Brent premium. The system proposes a refinery-compatible 150 thousand bpd WTI Midland alternative via the Cape route—then waits for a human decision.</a:t>
            </a:r>
          </a:p>
          <a:p xmlns:a="http://schemas.openxmlformats.org/drawingml/2006/main">
            <a:r>
              <a:t/>
            </a:r>
          </a:p>
          <a:p xmlns:a="http://schemas.openxmlformats.org/drawingml/2006/main">
            <a:r>
              <a:t>Transition: The key is that the product does not hide the trade-off behind a single “best”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deliverable is not a score or a chatbot answer. It is a comparison: do nothing, optimize for lowest cost, balance the trade-off, or prioritize resilience. The selected option is accompanied by the evidence chain, analyst-confirmed assumptions, simulated impact range, rejected alternatives, and the open unknowns. That makes the recommendation contestable—which is exactly what a high-stakes decision needs.</a:t>
            </a:r>
          </a:p>
          <a:p xmlns:a="http://schemas.openxmlformats.org/drawingml/2006/main">
            <a:r>
              <a:t/>
            </a:r>
          </a:p>
          <a:p xmlns:a="http://schemas.openxmlformats.org/drawingml/2006/main">
            <a:r>
              <a:t>Transition: And it is built with a credible boundary between what works today and what becomes live in a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not asking you to believe a fictional control room. The MVP is a working, vertically complete chain: FastAPI and Next.js, typed contracts, persistent local case records, reproducible NumPy scenarios, OR-Tools optimization, and a passing backend regression suite. The production path is also clear: connect trusted feeds and commercial validation into the same governed workflow. Importantly, those integrations are roadmap, not demo theatre.</a:t>
            </a:r>
          </a:p>
          <a:p xmlns:a="http://schemas.openxmlformats.org/drawingml/2006/main">
            <a:r>
              <a:t/>
            </a:r>
          </a:p>
          <a:p xmlns:a="http://schemas.openxmlformats.org/drawingml/2006/main">
            <a:r>
              <a:t>Transition: That clarity is why this project deserves to win.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should this win? Because it is practical. We understood the problem as an evidence-to-action gap, not a dashboard gap. We use AI where language and explanation help, deterministic models where math matters, and humans where accountability belongs. We built the complete workflow, tested the safeguards, and drew a clean line between a working prototype and a future pilot. PetraVigil does not decide for India. It helps India decide before the market does.</a:t>
            </a:r>
          </a:p>
          <a:p xmlns:a="http://schemas.openxmlformats.org/drawingml/2006/main">
            <a:r>
              <a:t/>
            </a:r>
          </a:p>
          <a:p xmlns:a="http://schemas.openxmlformats.org/drawingml/2006/main">
            <a:r>
              <a:t>Transition: Thank you. We welcome questions on the workflow, the model assumptions, and the pilot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54031aec5141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39cd1c17504a6a" /><Relationship Type="http://schemas.openxmlformats.org/officeDocument/2006/relationships/slideLayout" Target="/ppt/slideLayouts/slideLayout1.xml" Id="Rc343a93dbf4d41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43a93dbf4d41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d8a7d283674192" /><Relationship Type="http://schemas.openxmlformats.org/officeDocument/2006/relationships/notesSlide" Target="/ppt/notesSlides/notesSlide1.xml" Id="R0996367ec23f4c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f7e8559d0c43b9" /><Relationship Type="http://schemas.openxmlformats.org/officeDocument/2006/relationships/notesSlide" Target="/ppt/notesSlides/notesSlide2.xml" Id="R2b6e51656b774a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da313ebf114466" /><Relationship Type="http://schemas.openxmlformats.org/officeDocument/2006/relationships/notesSlide" Target="/ppt/notesSlides/notesSlide3.xml" Id="R63f4bb10c44842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6a9c5c460b4afb" /><Relationship Type="http://schemas.openxmlformats.org/officeDocument/2006/relationships/notesSlide" Target="/ppt/notesSlides/notesSlide4.xml" Id="R736957e1546a4b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985af7867f45b8" /><Relationship Type="http://schemas.openxmlformats.org/officeDocument/2006/relationships/notesSlide" Target="/ppt/notesSlides/notesSlide5.xml" Id="R5af0da3205644a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b15f850d2546f0" /><Relationship Type="http://schemas.openxmlformats.org/officeDocument/2006/relationships/notesSlide" Target="/ppt/notesSlides/notesSlide6.xml" Id="Rd6c4d0a6c00e4f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bebe0db2474107" /><Relationship Type="http://schemas.openxmlformats.org/officeDocument/2006/relationships/notesSlide" Target="/ppt/notesSlides/notesSlide7.xml" Id="R937adb4b461547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769a42ebf9432f" /><Relationship Type="http://schemas.openxmlformats.org/officeDocument/2006/relationships/notesSlide" Target="/ppt/notesSlides/notesSlide8.xml" Id="R47840d411ed34b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91423b18d64d7b" /><Relationship Type="http://schemas.openxmlformats.org/officeDocument/2006/relationships/notesSlide" Target="/ppt/notesSlides/notesSlide9.xml" Id="R5da2de7acca1497f"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0" name="brand">
            <a:extLst xmlns:a="http://schemas.openxmlformats.org/drawingml/2006/main">
              <a:ext uri="{FF2B5EF4-FFF2-40B4-BE49-F238E27FC236}">
                <a16:creationId xmlns:a16="http://schemas.microsoft.com/office/drawing/2014/main" id="{A8BA1C7B-0F85-4CA8-84E9-0841AA48222D}"/>
              </a:ext>
            </a:extLst>
          </p:cNvPr>
          <p:cNvSpPr>
            <a:spLocks xmlns:a="http://schemas.openxmlformats.org/drawingml/2006/main" noGrp="1"/>
          </p:cNvSpPr>
          <p:nvPr/>
        </p:nvSpPr>
        <p:spPr>
          <a:xfrm xmlns:a="http://schemas.openxmlformats.org/drawingml/2006/main">
            <a:off x="685800" y="6096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1E5D6"/>
                </a:solidFill>
              </a:defRPr>
            </a:pPr>
            <a:r>
              <a:rPr sz="1200" b="1">
                <a:solidFill>
                  <a:srgbClr val="51E5D6"/>
                </a:solidFill>
              </a:rPr>
              <a:t>PETRAVIGIL</a:t>
            </a:r>
          </a:p>
        </p:txBody>
      </p:sp>
      <p:sp>
        <p:nvSpPr>
          <p:cNvPr id="2" name="hero-title">
            <a:extLst xmlns:a="http://schemas.openxmlformats.org/drawingml/2006/main">
              <a:ext uri="{FF2B5EF4-FFF2-40B4-BE49-F238E27FC236}">
                <a16:creationId xmlns:a16="http://schemas.microsoft.com/office/drawing/2014/main" id="{37877797-086F-4F08-A63C-CCAC71E5835D}"/>
              </a:ext>
            </a:extLst>
          </p:cNvPr>
          <p:cNvSpPr>
            <a:spLocks xmlns:a="http://schemas.openxmlformats.org/drawingml/2006/main" noGrp="1"/>
          </p:cNvSpPr>
          <p:nvPr/>
        </p:nvSpPr>
        <p:spPr>
          <a:xfrm xmlns:a="http://schemas.openxmlformats.org/drawingml/2006/main">
            <a:off x="685800" y="1409700"/>
            <a:ext cx="6858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F5F8FC"/>
                </a:solidFill>
              </a:defRPr>
            </a:pPr>
            <a:r>
              <a:rPr sz="4050" b="1">
                <a:solidFill>
                  <a:srgbClr val="F5F8FC"/>
                </a:solidFill>
              </a:rPr>
              <a:t>When a chokepoint moves,</a:t>
            </a:r>
          </a:p>
          <a:p xmlns:a="http://schemas.openxmlformats.org/drawingml/2006/main">
            <a:pPr>
              <a:defRPr sz="4050" b="1">
                <a:solidFill>
                  <a:srgbClr val="F5F8FC"/>
                </a:solidFill>
              </a:defRPr>
            </a:pPr>
            <a:r>
              <a:rPr sz="4050" b="1">
                <a:solidFill>
                  <a:srgbClr val="F5F8FC"/>
                </a:solidFill>
              </a:rPr>
              <a:t>India needs a decision—</a:t>
            </a:r>
          </a:p>
          <a:p xmlns:a="http://schemas.openxmlformats.org/drawingml/2006/main">
            <a:pPr>
              <a:defRPr sz="4050" b="1">
                <a:solidFill>
                  <a:srgbClr val="F5F8FC"/>
                </a:solidFill>
              </a:defRPr>
            </a:pPr>
            <a:r>
              <a:rPr sz="4050" b="1">
                <a:solidFill>
                  <a:srgbClr val="F5F8FC"/>
                </a:solidFill>
              </a:rPr>
              <a:t>not another dashboard.</a:t>
            </a:r>
          </a:p>
        </p:txBody>
      </p:sp>
      <p:sp>
        <p:nvSpPr>
          <p:cNvPr id="3" name="tagline">
            <a:extLst xmlns:a="http://schemas.openxmlformats.org/drawingml/2006/main">
              <a:ext uri="{FF2B5EF4-FFF2-40B4-BE49-F238E27FC236}">
                <a16:creationId xmlns:a16="http://schemas.microsoft.com/office/drawing/2014/main" id="{3C0C7564-E7D0-403E-BDC0-D0EF055BD633}"/>
              </a:ext>
            </a:extLst>
          </p:cNvPr>
          <p:cNvSpPr>
            <a:spLocks xmlns:a="http://schemas.openxmlformats.org/drawingml/2006/main" noGrp="1"/>
          </p:cNvSpPr>
          <p:nvPr/>
        </p:nvSpPr>
        <p:spPr>
          <a:xfrm xmlns:a="http://schemas.openxmlformats.org/drawingml/2006/main">
            <a:off x="723900" y="39052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AABFD2"/>
                </a:solidFill>
              </a:defRPr>
            </a:pPr>
            <a:r>
              <a:rPr sz="1650" b="0">
                <a:solidFill>
                  <a:srgbClr val="AABFD2"/>
                </a:solidFill>
              </a:rPr>
              <a:t>Evidence-first energy supply resilience</a:t>
            </a:r>
          </a:p>
        </p:txBody>
      </p:sp>
      <p:sp>
        <p:nvSpPr>
          <p:cNvPr id="4" name="chip">
            <a:extLst xmlns:a="http://schemas.openxmlformats.org/drawingml/2006/main">
              <a:ext uri="{FF2B5EF4-FFF2-40B4-BE49-F238E27FC236}">
                <a16:creationId xmlns:a16="http://schemas.microsoft.com/office/drawing/2014/main" id="{8235279B-43BD-4507-B395-B6A5877AA795}"/>
              </a:ext>
            </a:extLst>
          </p:cNvPr>
          <p:cNvSpPr>
            <a:spLocks xmlns:a="http://schemas.openxmlformats.org/drawingml/2006/main" noGrp="1"/>
          </p:cNvSpPr>
          <p:nvPr/>
        </p:nvSpPr>
        <p:spPr>
          <a:xfrm xmlns:a="http://schemas.openxmlformats.org/drawingml/2006/main">
            <a:off x="723900" y="4476750"/>
            <a:ext cx="173355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51E5D6"/>
            </a:solidFill>
            <a:prstDash val="solid"/>
          </a:ln>
        </p:spPr>
        <p:txBody>
          <a:bodyPr xmlns:a="http://schemas.openxmlformats.org/drawingml/2006/main"/>
          <a:lstStyle xmlns:a="http://schemas.openxmlformats.org/drawingml/2006/main"/>
          <a:p xmlns:a="http://schemas.openxmlformats.org/drawingml/2006/main">
            <a:pPr>
              <a:defRPr sz="900" b="1">
                <a:solidFill>
                  <a:srgbClr val="51E5D6"/>
                </a:solidFill>
              </a:defRPr>
            </a:pPr>
            <a:r>
              <a:rPr sz="900" b="1">
                <a:solidFill>
                  <a:srgbClr val="51E5D6"/>
                </a:solidFill>
              </a:rPr>
              <a:t>ANALYST-CONFIRMED</a:t>
            </a:r>
          </a:p>
        </p:txBody>
      </p:sp>
      <p:sp>
        <p:nvSpPr>
          <p:cNvPr id="5" name="hero-orbit">
            <a:extLst xmlns:a="http://schemas.openxmlformats.org/drawingml/2006/main">
              <a:ext uri="{FF2B5EF4-FFF2-40B4-BE49-F238E27FC236}">
                <a16:creationId xmlns:a16="http://schemas.microsoft.com/office/drawing/2014/main" id="{794D4750-246F-43A5-B3A9-D8274864082E}"/>
              </a:ext>
            </a:extLst>
          </p:cNvPr>
          <p:cNvSpPr>
            <a:spLocks xmlns:a="http://schemas.openxmlformats.org/drawingml/2006/main" noGrp="1"/>
          </p:cNvSpPr>
          <p:nvPr/>
        </p:nvSpPr>
        <p:spPr>
          <a:xfrm xmlns:a="http://schemas.openxmlformats.org/drawingml/2006/main">
            <a:off x="8096250" y="1362075"/>
            <a:ext cx="2381250" cy="2381250"/>
          </a:xfrm>
          <a:prstGeom xmlns:a="http://schemas.openxmlformats.org/drawingml/2006/main" prst="ellipse">
            <a:avLst/>
          </a:prstGeom>
          <a:solidFill xmlns:a="http://schemas.openxmlformats.org/drawingml/2006/main">
            <a:srgbClr val="0E3154"/>
          </a:solidFill>
          <a:ln xmlns:a="http://schemas.openxmlformats.org/drawingml/2006/main" w="9525">
            <a:solidFill>
              <a:srgbClr val="2A78B7"/>
            </a:solidFill>
            <a:prstDash val="solid"/>
          </a:ln>
        </p:spPr>
      </p:sp>
      <p:sp>
        <p:nvSpPr>
          <p:cNvPr id="6" name="hero-core">
            <a:extLst xmlns:a="http://schemas.openxmlformats.org/drawingml/2006/main">
              <a:ext uri="{FF2B5EF4-FFF2-40B4-BE49-F238E27FC236}">
                <a16:creationId xmlns:a16="http://schemas.microsoft.com/office/drawing/2014/main" id="{E87E3923-F5C9-4ADE-9681-02AD3DC93E57}"/>
              </a:ext>
            </a:extLst>
          </p:cNvPr>
          <p:cNvSpPr>
            <a:spLocks xmlns:a="http://schemas.openxmlformats.org/drawingml/2006/main" noGrp="1"/>
          </p:cNvSpPr>
          <p:nvPr/>
        </p:nvSpPr>
        <p:spPr>
          <a:xfrm xmlns:a="http://schemas.openxmlformats.org/drawingml/2006/main">
            <a:off x="8572500" y="1838325"/>
            <a:ext cx="1428750" cy="1428750"/>
          </a:xfrm>
          <a:prstGeom xmlns:a="http://schemas.openxmlformats.org/drawingml/2006/main" prst="ellipse">
            <a:avLst/>
          </a:prstGeom>
          <a:solidFill xmlns:a="http://schemas.openxmlformats.org/drawingml/2006/main">
            <a:srgbClr val="123E66"/>
          </a:solidFill>
          <a:ln xmlns:a="http://schemas.openxmlformats.org/drawingml/2006/main" w="9525">
            <a:solidFill>
              <a:srgbClr val="51E5D6"/>
            </a:solidFill>
            <a:prstDash val="solid"/>
          </a:ln>
        </p:spPr>
      </p:sp>
      <p:sp>
        <p:nvSpPr>
          <p:cNvPr id="7" name="decision">
            <a:extLst xmlns:a="http://schemas.openxmlformats.org/drawingml/2006/main">
              <a:ext uri="{FF2B5EF4-FFF2-40B4-BE49-F238E27FC236}">
                <a16:creationId xmlns:a16="http://schemas.microsoft.com/office/drawing/2014/main" id="{4E59A2CB-0331-48DC-BF5C-84E6CB1837A6}"/>
              </a:ext>
            </a:extLst>
          </p:cNvPr>
          <p:cNvSpPr>
            <a:spLocks xmlns:a="http://schemas.openxmlformats.org/drawingml/2006/main" noGrp="1"/>
          </p:cNvSpPr>
          <p:nvPr/>
        </p:nvSpPr>
        <p:spPr>
          <a:xfrm xmlns:a="http://schemas.openxmlformats.org/drawingml/2006/main">
            <a:off x="8743950" y="2333625"/>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5F8FC"/>
                </a:solidFill>
              </a:defRPr>
            </a:pPr>
            <a:r>
              <a:rPr sz="1350" b="1">
                <a:solidFill>
                  <a:srgbClr val="F5F8FC"/>
                </a:solidFill>
              </a:rPr>
              <a:t>DECISION</a:t>
            </a:r>
          </a:p>
        </p:txBody>
      </p:sp>
      <p:sp>
        <p:nvSpPr>
          <p:cNvPr id="8" name="decision-sub">
            <a:extLst xmlns:a="http://schemas.openxmlformats.org/drawingml/2006/main">
              <a:ext uri="{FF2B5EF4-FFF2-40B4-BE49-F238E27FC236}">
                <a16:creationId xmlns:a16="http://schemas.microsoft.com/office/drawing/2014/main" id="{6A793B60-E66E-4855-8C13-7E994E260D7E}"/>
              </a:ext>
            </a:extLst>
          </p:cNvPr>
          <p:cNvSpPr>
            <a:spLocks xmlns:a="http://schemas.openxmlformats.org/drawingml/2006/main" noGrp="1"/>
          </p:cNvSpPr>
          <p:nvPr/>
        </p:nvSpPr>
        <p:spPr>
          <a:xfrm xmlns:a="http://schemas.openxmlformats.org/drawingml/2006/main">
            <a:off x="8439150" y="2781300"/>
            <a:ext cx="1733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not a prediction</a:t>
            </a:r>
          </a:p>
          <a:p xmlns:a="http://schemas.openxmlformats.org/drawingml/2006/main">
            <a:pPr>
              <a:defRPr sz="1050" b="0">
                <a:solidFill>
                  <a:srgbClr val="AABFD2"/>
                </a:solidFill>
              </a:defRPr>
            </a:pPr>
            <a:r>
              <a:rPr sz="1050" b="0">
                <a:solidFill>
                  <a:srgbClr val="AABFD2"/>
                </a:solidFill>
              </a:rPr>
              <a:t>— a reviewable action</a:t>
            </a:r>
          </a:p>
        </p:txBody>
      </p:sp>
      <p:sp>
        <p:nvSpPr>
          <p:cNvPr id="9" name="hero-step">
            <a:extLst xmlns:a="http://schemas.openxmlformats.org/drawingml/2006/main">
              <a:ext uri="{FF2B5EF4-FFF2-40B4-BE49-F238E27FC236}">
                <a16:creationId xmlns:a16="http://schemas.microsoft.com/office/drawing/2014/main" id="{5B516C2D-EC3B-4865-99ED-1360E88C9788}"/>
              </a:ext>
            </a:extLst>
          </p:cNvPr>
          <p:cNvSpPr>
            <a:spLocks xmlns:a="http://schemas.openxmlformats.org/drawingml/2006/main" noGrp="1"/>
          </p:cNvSpPr>
          <p:nvPr/>
        </p:nvSpPr>
        <p:spPr>
          <a:xfrm xmlns:a="http://schemas.openxmlformats.org/drawingml/2006/main">
            <a:off x="7143750" y="4333875"/>
            <a:ext cx="857250" cy="857250"/>
          </a:xfrm>
          <a:prstGeom xmlns:a="http://schemas.openxmlformats.org/drawingml/2006/main" prst="ellipse">
            <a:avLst/>
          </a:prstGeom>
          <a:solidFill xmlns:a="http://schemas.openxmlformats.org/drawingml/2006/main">
            <a:srgbClr val="0D1D31"/>
          </a:solidFill>
          <a:ln xmlns:a="http://schemas.openxmlformats.org/drawingml/2006/main" w="9525">
            <a:solidFill>
              <a:srgbClr val="F58D95"/>
            </a:solidFill>
            <a:prstDash val="solid"/>
          </a:ln>
        </p:spPr>
      </p:sp>
      <p:sp>
        <p:nvSpPr>
          <p:cNvPr id="10" name="hero-step-label">
            <a:extLst xmlns:a="http://schemas.openxmlformats.org/drawingml/2006/main">
              <a:ext uri="{FF2B5EF4-FFF2-40B4-BE49-F238E27FC236}">
                <a16:creationId xmlns:a16="http://schemas.microsoft.com/office/drawing/2014/main" id="{7427E75C-BE91-416F-B3BE-E9B4593E5008}"/>
              </a:ext>
            </a:extLst>
          </p:cNvPr>
          <p:cNvSpPr>
            <a:spLocks xmlns:a="http://schemas.openxmlformats.org/drawingml/2006/main" noGrp="1"/>
          </p:cNvSpPr>
          <p:nvPr/>
        </p:nvSpPr>
        <p:spPr>
          <a:xfrm xmlns:a="http://schemas.openxmlformats.org/drawingml/2006/main">
            <a:off x="7258050" y="46767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58D95"/>
                </a:solidFill>
              </a:defRPr>
            </a:pPr>
            <a:r>
              <a:rPr sz="900" b="1">
                <a:solidFill>
                  <a:srgbClr val="F58D95"/>
                </a:solidFill>
              </a:rPr>
              <a:t>SIGNAL</a:t>
            </a:r>
          </a:p>
        </p:txBody>
      </p:sp>
      <p:sp>
        <p:nvSpPr>
          <p:cNvPr id="11" name="hero-step">
            <a:extLst xmlns:a="http://schemas.openxmlformats.org/drawingml/2006/main">
              <a:ext uri="{FF2B5EF4-FFF2-40B4-BE49-F238E27FC236}">
                <a16:creationId xmlns:a16="http://schemas.microsoft.com/office/drawing/2014/main" id="{0799361A-7A99-4F13-97A6-F61CCAC4CCB4}"/>
              </a:ext>
            </a:extLst>
          </p:cNvPr>
          <p:cNvSpPr>
            <a:spLocks xmlns:a="http://schemas.openxmlformats.org/drawingml/2006/main" noGrp="1"/>
          </p:cNvSpPr>
          <p:nvPr/>
        </p:nvSpPr>
        <p:spPr>
          <a:xfrm xmlns:a="http://schemas.openxmlformats.org/drawingml/2006/main">
            <a:off x="8515350" y="4333875"/>
            <a:ext cx="857250" cy="857250"/>
          </a:xfrm>
          <a:prstGeom xmlns:a="http://schemas.openxmlformats.org/drawingml/2006/main" prst="ellipse">
            <a:avLst/>
          </a:prstGeom>
          <a:solidFill xmlns:a="http://schemas.openxmlformats.org/drawingml/2006/main">
            <a:srgbClr val="0D1D31"/>
          </a:solidFill>
          <a:ln xmlns:a="http://schemas.openxmlformats.org/drawingml/2006/main" w="9525">
            <a:solidFill>
              <a:srgbClr val="FFC56E"/>
            </a:solidFill>
            <a:prstDash val="solid"/>
          </a:ln>
        </p:spPr>
      </p:sp>
      <p:sp>
        <p:nvSpPr>
          <p:cNvPr id="12" name="hero-step-label">
            <a:extLst xmlns:a="http://schemas.openxmlformats.org/drawingml/2006/main">
              <a:ext uri="{FF2B5EF4-FFF2-40B4-BE49-F238E27FC236}">
                <a16:creationId xmlns:a16="http://schemas.microsoft.com/office/drawing/2014/main" id="{917D760C-02F0-41D6-82A6-E6065552C057}"/>
              </a:ext>
            </a:extLst>
          </p:cNvPr>
          <p:cNvSpPr>
            <a:spLocks xmlns:a="http://schemas.openxmlformats.org/drawingml/2006/main" noGrp="1"/>
          </p:cNvSpPr>
          <p:nvPr/>
        </p:nvSpPr>
        <p:spPr>
          <a:xfrm xmlns:a="http://schemas.openxmlformats.org/drawingml/2006/main">
            <a:off x="8629650" y="46767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FC56E"/>
                </a:solidFill>
              </a:defRPr>
            </a:pPr>
            <a:r>
              <a:rPr sz="900" b="1">
                <a:solidFill>
                  <a:srgbClr val="FFC56E"/>
                </a:solidFill>
              </a:rPr>
              <a:t>RISK</a:t>
            </a:r>
          </a:p>
        </p:txBody>
      </p:sp>
      <p:sp>
        <p:nvSpPr>
          <p:cNvPr id="13" name="hero-step">
            <a:extLst xmlns:a="http://schemas.openxmlformats.org/drawingml/2006/main">
              <a:ext uri="{FF2B5EF4-FFF2-40B4-BE49-F238E27FC236}">
                <a16:creationId xmlns:a16="http://schemas.microsoft.com/office/drawing/2014/main" id="{603B95A2-18A6-4CE8-BE93-25DC0F749850}"/>
              </a:ext>
            </a:extLst>
          </p:cNvPr>
          <p:cNvSpPr>
            <a:spLocks xmlns:a="http://schemas.openxmlformats.org/drawingml/2006/main" noGrp="1"/>
          </p:cNvSpPr>
          <p:nvPr/>
        </p:nvSpPr>
        <p:spPr>
          <a:xfrm xmlns:a="http://schemas.openxmlformats.org/drawingml/2006/main">
            <a:off x="9886950" y="4333875"/>
            <a:ext cx="857250" cy="857250"/>
          </a:xfrm>
          <a:prstGeom xmlns:a="http://schemas.openxmlformats.org/drawingml/2006/main" prst="ellipse">
            <a:avLst/>
          </a:prstGeom>
          <a:solidFill xmlns:a="http://schemas.openxmlformats.org/drawingml/2006/main">
            <a:srgbClr val="0D1D31"/>
          </a:solidFill>
          <a:ln xmlns:a="http://schemas.openxmlformats.org/drawingml/2006/main" w="9525">
            <a:solidFill>
              <a:srgbClr val="86E5B6"/>
            </a:solidFill>
            <a:prstDash val="solid"/>
          </a:ln>
        </p:spPr>
      </p:sp>
      <p:sp>
        <p:nvSpPr>
          <p:cNvPr id="14" name="hero-step-label">
            <a:extLst xmlns:a="http://schemas.openxmlformats.org/drawingml/2006/main">
              <a:ext uri="{FF2B5EF4-FFF2-40B4-BE49-F238E27FC236}">
                <a16:creationId xmlns:a16="http://schemas.microsoft.com/office/drawing/2014/main" id="{5E1D4CAD-DEDF-4442-9A48-B2F59400400F}"/>
              </a:ext>
            </a:extLst>
          </p:cNvPr>
          <p:cNvSpPr>
            <a:spLocks xmlns:a="http://schemas.openxmlformats.org/drawingml/2006/main" noGrp="1"/>
          </p:cNvSpPr>
          <p:nvPr/>
        </p:nvSpPr>
        <p:spPr>
          <a:xfrm xmlns:a="http://schemas.openxmlformats.org/drawingml/2006/main">
            <a:off x="10001250" y="46767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86E5B6"/>
                </a:solidFill>
              </a:defRPr>
            </a:pPr>
            <a:r>
              <a:rPr sz="900" b="1">
                <a:solidFill>
                  <a:srgbClr val="86E5B6"/>
                </a:solidFill>
              </a:rPr>
              <a:t>ACTION</a:t>
            </a:r>
          </a:p>
        </p:txBody>
      </p:sp>
      <p:sp>
        <p:nvSpPr>
          <p:cNvPr id="15" name="">
            <a:extLst xmlns:a="http://schemas.openxmlformats.org/drawingml/2006/main">
              <a:ext uri="{FF2B5EF4-FFF2-40B4-BE49-F238E27FC236}">
                <a16:creationId xmlns:a16="http://schemas.microsoft.com/office/drawing/2014/main" id="{C37ADD36-610B-42D5-8D24-9FF1388C3BCF}"/>
              </a:ext>
            </a:extLst>
          </p:cNvPr>
          <p:cNvSpPr>
            <a:spLocks xmlns:a="http://schemas.openxmlformats.org/drawingml/2006/main" noGrp="1"/>
          </p:cNvSpPr>
          <p:nvPr/>
        </p:nvSpPr>
        <p:spPr>
          <a:xfrm xmlns:a="http://schemas.openxmlformats.org/drawingml/2006/main">
            <a:off x="7572375" y="4762500"/>
            <a:ext cx="9048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6" name="">
            <a:extLst xmlns:a="http://schemas.openxmlformats.org/drawingml/2006/main">
              <a:ext uri="{FF2B5EF4-FFF2-40B4-BE49-F238E27FC236}">
                <a16:creationId xmlns:a16="http://schemas.microsoft.com/office/drawing/2014/main" id="{3C47CDF8-58B7-4F2C-AEA1-030686134249}"/>
              </a:ext>
            </a:extLst>
          </p:cNvPr>
          <p:cNvSpPr>
            <a:spLocks xmlns:a="http://schemas.openxmlformats.org/drawingml/2006/main" noGrp="1"/>
          </p:cNvSpPr>
          <p:nvPr/>
        </p:nvSpPr>
        <p:spPr>
          <a:xfrm xmlns:a="http://schemas.openxmlformats.org/drawingml/2006/main">
            <a:off x="8943975" y="4762500"/>
            <a:ext cx="9048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7" name="memorable-line">
            <a:extLst xmlns:a="http://schemas.openxmlformats.org/drawingml/2006/main">
              <a:ext uri="{FF2B5EF4-FFF2-40B4-BE49-F238E27FC236}">
                <a16:creationId xmlns:a16="http://schemas.microsoft.com/office/drawing/2014/main" id="{7CC33C55-211A-46E6-9A75-ABE4B847109B}"/>
              </a:ext>
            </a:extLst>
          </p:cNvPr>
          <p:cNvSpPr>
            <a:spLocks xmlns:a="http://schemas.openxmlformats.org/drawingml/2006/main" noGrp="1"/>
          </p:cNvSpPr>
          <p:nvPr/>
        </p:nvSpPr>
        <p:spPr>
          <a:xfrm xmlns:a="http://schemas.openxmlformats.org/drawingml/2006/main">
            <a:off x="723900" y="535305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66B3FF"/>
                </a:solidFill>
              </a:defRPr>
            </a:pPr>
            <a:r>
              <a:rPr sz="1650" b="1">
                <a:solidFill>
                  <a:srgbClr val="66B3FF"/>
                </a:solidFill>
              </a:rPr>
              <a:t>The product that helps India decide before the market does.</a:t>
            </a:r>
          </a:p>
        </p:txBody>
      </p:sp>
      <p:sp>
        <p:nvSpPr>
          <p:cNvPr id="18" name="">
            <a:extLst xmlns:a="http://schemas.openxmlformats.org/drawingml/2006/main">
              <a:ext uri="{FF2B5EF4-FFF2-40B4-BE49-F238E27FC236}">
                <a16:creationId xmlns:a16="http://schemas.microsoft.com/office/drawing/2014/main" id="{253EC9C0-6D4D-4443-84AA-FB07EED36C5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9" name="footer">
            <a:extLst xmlns:a="http://schemas.openxmlformats.org/drawingml/2006/main">
              <a:ext uri="{FF2B5EF4-FFF2-40B4-BE49-F238E27FC236}">
                <a16:creationId xmlns:a16="http://schemas.microsoft.com/office/drawing/2014/main" id="{207BBEDC-780A-41C9-A044-4DDCF5CE4D4D}"/>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224789139"/>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A89BEAD0-87D3-4C46-BE86-88D66BF737C2}"/>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ACT 1 · THE PROBLEM</a:t>
            </a:r>
          </a:p>
        </p:txBody>
      </p:sp>
      <p:sp>
        <p:nvSpPr>
          <p:cNvPr id="2" name="slide-number">
            <a:extLst xmlns:a="http://schemas.openxmlformats.org/drawingml/2006/main">
              <a:ext uri="{FF2B5EF4-FFF2-40B4-BE49-F238E27FC236}">
                <a16:creationId xmlns:a16="http://schemas.microsoft.com/office/drawing/2014/main" id="{40C3C442-3D68-4B57-BB38-6546CAF6DDB0}"/>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02</a:t>
            </a:r>
          </a:p>
        </p:txBody>
      </p:sp>
      <p:sp>
        <p:nvSpPr>
          <p:cNvPr id="3" name="title">
            <a:extLst xmlns:a="http://schemas.openxmlformats.org/drawingml/2006/main">
              <a:ext uri="{FF2B5EF4-FFF2-40B4-BE49-F238E27FC236}">
                <a16:creationId xmlns:a16="http://schemas.microsoft.com/office/drawing/2014/main" id="{845AA67C-0944-42F7-A626-B0E718481B3B}"/>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5F8FC"/>
                </a:solidFill>
              </a:defRPr>
            </a:pPr>
            <a:r>
              <a:rPr sz="3150" b="1">
                <a:solidFill>
                  <a:srgbClr val="F5F8FC"/>
                </a:solidFill>
              </a:rPr>
              <a:t>India cannot wait for a crisis call.</a:t>
            </a:r>
          </a:p>
        </p:txBody>
      </p:sp>
      <p:sp>
        <p:nvSpPr>
          <p:cNvPr id="4" name="subtitle">
            <a:extLst xmlns:a="http://schemas.openxmlformats.org/drawingml/2006/main">
              <a:ext uri="{FF2B5EF4-FFF2-40B4-BE49-F238E27FC236}">
                <a16:creationId xmlns:a16="http://schemas.microsoft.com/office/drawing/2014/main" id="{F7402E69-75FF-475B-9FE2-B0387DEEBC82}"/>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AABFD2"/>
                </a:solidFill>
              </a:defRPr>
            </a:pPr>
            <a:r>
              <a:rPr sz="1500" b="0">
                <a:solidFill>
                  <a:srgbClr val="AABFD2"/>
                </a:solidFill>
              </a:rPr>
              <a:t>When disruption hits, the cost of delay compounds across energy, freight, and refining.</a:t>
            </a:r>
          </a:p>
        </p:txBody>
      </p:sp>
      <p:sp>
        <p:nvSpPr>
          <p:cNvPr id="5" name="metric">
            <a:extLst xmlns:a="http://schemas.openxmlformats.org/drawingml/2006/main">
              <a:ext uri="{FF2B5EF4-FFF2-40B4-BE49-F238E27FC236}">
                <a16:creationId xmlns:a16="http://schemas.microsoft.com/office/drawing/2014/main" id="{7B1DB93F-7450-41A2-9FA4-86DCB5CC94A3}"/>
              </a:ext>
            </a:extLst>
          </p:cNvPr>
          <p:cNvSpPr>
            <a:spLocks xmlns:a="http://schemas.openxmlformats.org/drawingml/2006/main" noGrp="1"/>
          </p:cNvSpPr>
          <p:nvPr/>
        </p:nvSpPr>
        <p:spPr>
          <a:xfrm xmlns:a="http://schemas.openxmlformats.org/drawingml/2006/main">
            <a:off x="685800" y="2809875"/>
            <a:ext cx="3048000" cy="1123950"/>
          </a:xfrm>
          <a:prstGeom xmlns:a="http://schemas.openxmlformats.org/drawingml/2006/main" prst="roundRect">
            <a:avLst>
              <a:gd name="adj" fmla="val 10169"/>
            </a:avLst>
          </a:prstGeom>
          <a:solidFill xmlns:a="http://schemas.openxmlformats.org/drawingml/2006/main">
            <a:srgbClr val="0D1D31"/>
          </a:solidFill>
          <a:ln xmlns:a="http://schemas.openxmlformats.org/drawingml/2006/main" w="9525">
            <a:solidFill>
              <a:srgbClr val="244563"/>
            </a:solidFill>
            <a:prstDash val="solid"/>
          </a:ln>
        </p:spPr>
      </p:sp>
      <p:sp>
        <p:nvSpPr>
          <p:cNvPr id="6" name="metric-value">
            <a:extLst xmlns:a="http://schemas.openxmlformats.org/drawingml/2006/main">
              <a:ext uri="{FF2B5EF4-FFF2-40B4-BE49-F238E27FC236}">
                <a16:creationId xmlns:a16="http://schemas.microsoft.com/office/drawing/2014/main" id="{D296579F-65E9-48D5-A83E-DDEA194EAAB3}"/>
              </a:ext>
            </a:extLst>
          </p:cNvPr>
          <p:cNvSpPr>
            <a:spLocks xmlns:a="http://schemas.openxmlformats.org/drawingml/2006/main" noGrp="1"/>
          </p:cNvSpPr>
          <p:nvPr/>
        </p:nvSpPr>
        <p:spPr>
          <a:xfrm xmlns:a="http://schemas.openxmlformats.org/drawingml/2006/main">
            <a:off x="857250" y="2981325"/>
            <a:ext cx="2705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51E5D6"/>
                </a:solidFill>
              </a:defRPr>
            </a:pPr>
            <a:r>
              <a:rPr sz="2400" b="1">
                <a:solidFill>
                  <a:srgbClr val="51E5D6"/>
                </a:solidFill>
              </a:rPr>
              <a:t>88%</a:t>
            </a:r>
          </a:p>
        </p:txBody>
      </p:sp>
      <p:sp>
        <p:nvSpPr>
          <p:cNvPr id="7" name="metric-label">
            <a:extLst xmlns:a="http://schemas.openxmlformats.org/drawingml/2006/main">
              <a:ext uri="{FF2B5EF4-FFF2-40B4-BE49-F238E27FC236}">
                <a16:creationId xmlns:a16="http://schemas.microsoft.com/office/drawing/2014/main" id="{E21C5FF5-450D-4B52-B3FA-0C3A20854C29}"/>
              </a:ext>
            </a:extLst>
          </p:cNvPr>
          <p:cNvSpPr>
            <a:spLocks xmlns:a="http://schemas.openxmlformats.org/drawingml/2006/main" noGrp="1"/>
          </p:cNvSpPr>
          <p:nvPr/>
        </p:nvSpPr>
        <p:spPr>
          <a:xfrm xmlns:a="http://schemas.openxmlformats.org/drawingml/2006/main">
            <a:off x="857250" y="3533775"/>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AABFD2"/>
                </a:solidFill>
              </a:defRPr>
            </a:pPr>
            <a:r>
              <a:rPr sz="1125" b="0">
                <a:solidFill>
                  <a:srgbClr val="AABFD2"/>
                </a:solidFill>
              </a:rPr>
              <a:t>of India’s crude needs are met through imports</a:t>
            </a:r>
          </a:p>
        </p:txBody>
      </p:sp>
      <p:sp>
        <p:nvSpPr>
          <p:cNvPr id="8" name="gap-label">
            <a:extLst xmlns:a="http://schemas.openxmlformats.org/drawingml/2006/main">
              <a:ext uri="{FF2B5EF4-FFF2-40B4-BE49-F238E27FC236}">
                <a16:creationId xmlns:a16="http://schemas.microsoft.com/office/drawing/2014/main" id="{0A1497FF-C14F-46F5-8A25-3090CB18442A}"/>
              </a:ext>
            </a:extLst>
          </p:cNvPr>
          <p:cNvSpPr>
            <a:spLocks xmlns:a="http://schemas.openxmlformats.org/drawingml/2006/main" noGrp="1"/>
          </p:cNvSpPr>
          <p:nvPr/>
        </p:nvSpPr>
        <p:spPr>
          <a:xfrm xmlns:a="http://schemas.openxmlformats.org/drawingml/2006/main">
            <a:off x="4381500" y="27622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AABFD2"/>
                </a:solidFill>
              </a:defRPr>
            </a:pPr>
            <a:r>
              <a:rPr sz="1350" b="1">
                <a:solidFill>
                  <a:srgbClr val="AABFD2"/>
                </a:solidFill>
              </a:rPr>
              <a:t>The signal-to-decision gap</a:t>
            </a:r>
          </a:p>
        </p:txBody>
      </p:sp>
      <p:sp>
        <p:nvSpPr>
          <p:cNvPr id="9" name="problem-step">
            <a:extLst xmlns:a="http://schemas.openxmlformats.org/drawingml/2006/main">
              <a:ext uri="{FF2B5EF4-FFF2-40B4-BE49-F238E27FC236}">
                <a16:creationId xmlns:a16="http://schemas.microsoft.com/office/drawing/2014/main" id="{06E81991-079D-47B5-9B00-54731323D76C}"/>
              </a:ext>
            </a:extLst>
          </p:cNvPr>
          <p:cNvSpPr>
            <a:spLocks xmlns:a="http://schemas.openxmlformats.org/drawingml/2006/main" noGrp="1"/>
          </p:cNvSpPr>
          <p:nvPr/>
        </p:nvSpPr>
        <p:spPr>
          <a:xfrm xmlns:a="http://schemas.openxmlformats.org/drawingml/2006/main">
            <a:off x="4381500" y="3190875"/>
            <a:ext cx="190500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10" name="problem-head">
            <a:extLst xmlns:a="http://schemas.openxmlformats.org/drawingml/2006/main">
              <a:ext uri="{FF2B5EF4-FFF2-40B4-BE49-F238E27FC236}">
                <a16:creationId xmlns:a16="http://schemas.microsoft.com/office/drawing/2014/main" id="{C336A36B-F453-4183-8087-74E1D52BF472}"/>
              </a:ext>
            </a:extLst>
          </p:cNvPr>
          <p:cNvSpPr>
            <a:spLocks xmlns:a="http://schemas.openxmlformats.org/drawingml/2006/main" noGrp="1"/>
          </p:cNvSpPr>
          <p:nvPr/>
        </p:nvSpPr>
        <p:spPr>
          <a:xfrm xmlns:a="http://schemas.openxmlformats.org/drawingml/2006/main">
            <a:off x="4533900" y="3409950"/>
            <a:ext cx="1600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5F8FC"/>
                </a:solidFill>
              </a:defRPr>
            </a:pPr>
            <a:r>
              <a:rPr sz="1425" b="1">
                <a:solidFill>
                  <a:srgbClr val="F5F8FC"/>
                </a:solidFill>
              </a:rPr>
              <a:t>Fragmented signal</a:t>
            </a:r>
          </a:p>
        </p:txBody>
      </p:sp>
      <p:sp>
        <p:nvSpPr>
          <p:cNvPr id="11" name="problem-copy">
            <a:extLst xmlns:a="http://schemas.openxmlformats.org/drawingml/2006/main">
              <a:ext uri="{FF2B5EF4-FFF2-40B4-BE49-F238E27FC236}">
                <a16:creationId xmlns:a16="http://schemas.microsoft.com/office/drawing/2014/main" id="{A008ABEA-D36B-4BE0-8E7F-0EA2410A3015}"/>
              </a:ext>
            </a:extLst>
          </p:cNvPr>
          <p:cNvSpPr>
            <a:spLocks xmlns:a="http://schemas.openxmlformats.org/drawingml/2006/main" noGrp="1"/>
          </p:cNvSpPr>
          <p:nvPr/>
        </p:nvSpPr>
        <p:spPr>
          <a:xfrm xmlns:a="http://schemas.openxmlformats.org/drawingml/2006/main">
            <a:off x="4533900" y="395287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news · shipping · insurance</a:t>
            </a:r>
          </a:p>
        </p:txBody>
      </p:sp>
      <p:sp>
        <p:nvSpPr>
          <p:cNvPr id="12" name="problem-dot">
            <a:extLst xmlns:a="http://schemas.openxmlformats.org/drawingml/2006/main">
              <a:ext uri="{FF2B5EF4-FFF2-40B4-BE49-F238E27FC236}">
                <a16:creationId xmlns:a16="http://schemas.microsoft.com/office/drawing/2014/main" id="{330193B0-F637-422A-8B08-FF6980E8861A}"/>
              </a:ext>
            </a:extLst>
          </p:cNvPr>
          <p:cNvSpPr>
            <a:spLocks xmlns:a="http://schemas.openxmlformats.org/drawingml/2006/main" noGrp="1"/>
          </p:cNvSpPr>
          <p:nvPr/>
        </p:nvSpPr>
        <p:spPr>
          <a:xfrm xmlns:a="http://schemas.openxmlformats.org/drawingml/2006/main">
            <a:off x="4533900" y="4572000"/>
            <a:ext cx="95250" cy="95250"/>
          </a:xfrm>
          <a:prstGeom xmlns:a="http://schemas.openxmlformats.org/drawingml/2006/main" prst="ellipse">
            <a:avLst/>
          </a:prstGeom>
          <a:solidFill xmlns:a="http://schemas.openxmlformats.org/drawingml/2006/main">
            <a:srgbClr val="F58D95"/>
          </a:solidFill>
          <a:ln xmlns:a="http://schemas.openxmlformats.org/drawingml/2006/main" w="9525">
            <a:solidFill>
              <a:srgbClr val="F58D95"/>
            </a:solidFill>
            <a:prstDash val="solid"/>
          </a:ln>
        </p:spPr>
      </p:sp>
      <p:sp>
        <p:nvSpPr>
          <p:cNvPr id="13" name="">
            <a:extLst xmlns:a="http://schemas.openxmlformats.org/drawingml/2006/main">
              <a:ext uri="{FF2B5EF4-FFF2-40B4-BE49-F238E27FC236}">
                <a16:creationId xmlns:a16="http://schemas.microsoft.com/office/drawing/2014/main" id="{83DF6706-396B-47A7-A7C7-492A0140673F}"/>
              </a:ext>
            </a:extLst>
          </p:cNvPr>
          <p:cNvSpPr>
            <a:spLocks xmlns:a="http://schemas.openxmlformats.org/drawingml/2006/main" noGrp="1"/>
          </p:cNvSpPr>
          <p:nvPr/>
        </p:nvSpPr>
        <p:spPr>
          <a:xfrm xmlns:a="http://schemas.openxmlformats.org/drawingml/2006/main">
            <a:off x="6286500" y="3867150"/>
            <a:ext cx="28575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4" name="problem-step">
            <a:extLst xmlns:a="http://schemas.openxmlformats.org/drawingml/2006/main">
              <a:ext uri="{FF2B5EF4-FFF2-40B4-BE49-F238E27FC236}">
                <a16:creationId xmlns:a16="http://schemas.microsoft.com/office/drawing/2014/main" id="{417A5A72-5C21-4D28-9C53-A02D290DFCB0}"/>
              </a:ext>
            </a:extLst>
          </p:cNvPr>
          <p:cNvSpPr>
            <a:spLocks xmlns:a="http://schemas.openxmlformats.org/drawingml/2006/main" noGrp="1"/>
          </p:cNvSpPr>
          <p:nvPr/>
        </p:nvSpPr>
        <p:spPr>
          <a:xfrm xmlns:a="http://schemas.openxmlformats.org/drawingml/2006/main">
            <a:off x="6572250" y="3190875"/>
            <a:ext cx="190500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15" name="problem-head">
            <a:extLst xmlns:a="http://schemas.openxmlformats.org/drawingml/2006/main">
              <a:ext uri="{FF2B5EF4-FFF2-40B4-BE49-F238E27FC236}">
                <a16:creationId xmlns:a16="http://schemas.microsoft.com/office/drawing/2014/main" id="{D92A95D8-7634-423A-A636-7795A76D58B5}"/>
              </a:ext>
            </a:extLst>
          </p:cNvPr>
          <p:cNvSpPr>
            <a:spLocks xmlns:a="http://schemas.openxmlformats.org/drawingml/2006/main" noGrp="1"/>
          </p:cNvSpPr>
          <p:nvPr/>
        </p:nvSpPr>
        <p:spPr>
          <a:xfrm xmlns:a="http://schemas.openxmlformats.org/drawingml/2006/main">
            <a:off x="6724650" y="3409950"/>
            <a:ext cx="1600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5F8FC"/>
                </a:solidFill>
              </a:defRPr>
            </a:pPr>
            <a:r>
              <a:rPr sz="1425" b="1">
                <a:solidFill>
                  <a:srgbClr val="F5F8FC"/>
                </a:solidFill>
              </a:rPr>
              <a:t>Manual interpretation</a:t>
            </a:r>
          </a:p>
        </p:txBody>
      </p:sp>
      <p:sp>
        <p:nvSpPr>
          <p:cNvPr id="16" name="problem-copy">
            <a:extLst xmlns:a="http://schemas.openxmlformats.org/drawingml/2006/main">
              <a:ext uri="{FF2B5EF4-FFF2-40B4-BE49-F238E27FC236}">
                <a16:creationId xmlns:a16="http://schemas.microsoft.com/office/drawing/2014/main" id="{ED2BCD88-9F79-47E9-BE4E-8D4637C252C3}"/>
              </a:ext>
            </a:extLst>
          </p:cNvPr>
          <p:cNvSpPr>
            <a:spLocks xmlns:a="http://schemas.openxmlformats.org/drawingml/2006/main" noGrp="1"/>
          </p:cNvSpPr>
          <p:nvPr/>
        </p:nvSpPr>
        <p:spPr>
          <a:xfrm xmlns:a="http://schemas.openxmlformats.org/drawingml/2006/main">
            <a:off x="6724650" y="395287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spreadsheets · calls</a:t>
            </a:r>
          </a:p>
        </p:txBody>
      </p:sp>
      <p:sp>
        <p:nvSpPr>
          <p:cNvPr id="17" name="problem-dot">
            <a:extLst xmlns:a="http://schemas.openxmlformats.org/drawingml/2006/main">
              <a:ext uri="{FF2B5EF4-FFF2-40B4-BE49-F238E27FC236}">
                <a16:creationId xmlns:a16="http://schemas.microsoft.com/office/drawing/2014/main" id="{36E749DD-BF3F-43B9-AB45-83EC8FBEB025}"/>
              </a:ext>
            </a:extLst>
          </p:cNvPr>
          <p:cNvSpPr>
            <a:spLocks xmlns:a="http://schemas.openxmlformats.org/drawingml/2006/main" noGrp="1"/>
          </p:cNvSpPr>
          <p:nvPr/>
        </p:nvSpPr>
        <p:spPr>
          <a:xfrm xmlns:a="http://schemas.openxmlformats.org/drawingml/2006/main">
            <a:off x="6724650" y="4572000"/>
            <a:ext cx="95250" cy="95250"/>
          </a:xfrm>
          <a:prstGeom xmlns:a="http://schemas.openxmlformats.org/drawingml/2006/main" prst="ellipse">
            <a:avLst/>
          </a:prstGeom>
          <a:solidFill xmlns:a="http://schemas.openxmlformats.org/drawingml/2006/main">
            <a:srgbClr val="FFC56E"/>
          </a:solidFill>
          <a:ln xmlns:a="http://schemas.openxmlformats.org/drawingml/2006/main" w="9525">
            <a:solidFill>
              <a:srgbClr val="FFC56E"/>
            </a:solidFill>
            <a:prstDash val="solid"/>
          </a:ln>
        </p:spPr>
      </p:sp>
      <p:sp>
        <p:nvSpPr>
          <p:cNvPr id="18" name="">
            <a:extLst xmlns:a="http://schemas.openxmlformats.org/drawingml/2006/main">
              <a:ext uri="{FF2B5EF4-FFF2-40B4-BE49-F238E27FC236}">
                <a16:creationId xmlns:a16="http://schemas.microsoft.com/office/drawing/2014/main" id="{0DDBB5B6-3C64-4816-8646-401E8143991B}"/>
              </a:ext>
            </a:extLst>
          </p:cNvPr>
          <p:cNvSpPr>
            <a:spLocks xmlns:a="http://schemas.openxmlformats.org/drawingml/2006/main" noGrp="1"/>
          </p:cNvSpPr>
          <p:nvPr/>
        </p:nvSpPr>
        <p:spPr>
          <a:xfrm xmlns:a="http://schemas.openxmlformats.org/drawingml/2006/main">
            <a:off x="8477250" y="3867150"/>
            <a:ext cx="28575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9" name="problem-step">
            <a:extLst xmlns:a="http://schemas.openxmlformats.org/drawingml/2006/main">
              <a:ext uri="{FF2B5EF4-FFF2-40B4-BE49-F238E27FC236}">
                <a16:creationId xmlns:a16="http://schemas.microsoft.com/office/drawing/2014/main" id="{262DF57B-9E64-4DD2-9304-3196EA1137E5}"/>
              </a:ext>
            </a:extLst>
          </p:cNvPr>
          <p:cNvSpPr>
            <a:spLocks xmlns:a="http://schemas.openxmlformats.org/drawingml/2006/main" noGrp="1"/>
          </p:cNvSpPr>
          <p:nvPr/>
        </p:nvSpPr>
        <p:spPr>
          <a:xfrm xmlns:a="http://schemas.openxmlformats.org/drawingml/2006/main">
            <a:off x="8763000" y="3190875"/>
            <a:ext cx="190500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20" name="problem-head">
            <a:extLst xmlns:a="http://schemas.openxmlformats.org/drawingml/2006/main">
              <a:ext uri="{FF2B5EF4-FFF2-40B4-BE49-F238E27FC236}">
                <a16:creationId xmlns:a16="http://schemas.microsoft.com/office/drawing/2014/main" id="{39A51BC0-632D-49E9-B7F8-2064D3DA5D9E}"/>
              </a:ext>
            </a:extLst>
          </p:cNvPr>
          <p:cNvSpPr>
            <a:spLocks xmlns:a="http://schemas.openxmlformats.org/drawingml/2006/main" noGrp="1"/>
          </p:cNvSpPr>
          <p:nvPr/>
        </p:nvSpPr>
        <p:spPr>
          <a:xfrm xmlns:a="http://schemas.openxmlformats.org/drawingml/2006/main">
            <a:off x="8915400" y="3409950"/>
            <a:ext cx="1600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5F8FC"/>
                </a:solidFill>
              </a:defRPr>
            </a:pPr>
            <a:r>
              <a:rPr sz="1425" b="1">
                <a:solidFill>
                  <a:srgbClr val="F5F8FC"/>
                </a:solidFill>
              </a:rPr>
              <a:t>Late decision</a:t>
            </a:r>
          </a:p>
        </p:txBody>
      </p:sp>
      <p:sp>
        <p:nvSpPr>
          <p:cNvPr id="21" name="problem-copy">
            <a:extLst xmlns:a="http://schemas.openxmlformats.org/drawingml/2006/main">
              <a:ext uri="{FF2B5EF4-FFF2-40B4-BE49-F238E27FC236}">
                <a16:creationId xmlns:a16="http://schemas.microsoft.com/office/drawing/2014/main" id="{3F6E02FE-5334-4964-AEB8-1039B078A337}"/>
              </a:ext>
            </a:extLst>
          </p:cNvPr>
          <p:cNvSpPr>
            <a:spLocks xmlns:a="http://schemas.openxmlformats.org/drawingml/2006/main" noGrp="1"/>
          </p:cNvSpPr>
          <p:nvPr/>
        </p:nvSpPr>
        <p:spPr>
          <a:xfrm xmlns:a="http://schemas.openxmlformats.org/drawingml/2006/main">
            <a:off x="8915400" y="395287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panic-market timing</a:t>
            </a:r>
          </a:p>
        </p:txBody>
      </p:sp>
      <p:sp>
        <p:nvSpPr>
          <p:cNvPr id="22" name="problem-dot">
            <a:extLst xmlns:a="http://schemas.openxmlformats.org/drawingml/2006/main">
              <a:ext uri="{FF2B5EF4-FFF2-40B4-BE49-F238E27FC236}">
                <a16:creationId xmlns:a16="http://schemas.microsoft.com/office/drawing/2014/main" id="{BCBE6340-7794-4E49-AB02-3C4CF6DDC2B2}"/>
              </a:ext>
            </a:extLst>
          </p:cNvPr>
          <p:cNvSpPr>
            <a:spLocks xmlns:a="http://schemas.openxmlformats.org/drawingml/2006/main" noGrp="1"/>
          </p:cNvSpPr>
          <p:nvPr/>
        </p:nvSpPr>
        <p:spPr>
          <a:xfrm xmlns:a="http://schemas.openxmlformats.org/drawingml/2006/main">
            <a:off x="8915400" y="4572000"/>
            <a:ext cx="95250" cy="95250"/>
          </a:xfrm>
          <a:prstGeom xmlns:a="http://schemas.openxmlformats.org/drawingml/2006/main" prst="ellipse">
            <a:avLst/>
          </a:prstGeom>
          <a:solidFill xmlns:a="http://schemas.openxmlformats.org/drawingml/2006/main">
            <a:srgbClr val="F58D95"/>
          </a:solidFill>
          <a:ln xmlns:a="http://schemas.openxmlformats.org/drawingml/2006/main" w="9525">
            <a:solidFill>
              <a:srgbClr val="F58D95"/>
            </a:solidFill>
            <a:prstDash val="solid"/>
          </a:ln>
        </p:spPr>
      </p:sp>
      <p:sp>
        <p:nvSpPr>
          <p:cNvPr id="23" name="problem-statement">
            <a:extLst xmlns:a="http://schemas.openxmlformats.org/drawingml/2006/main">
              <a:ext uri="{FF2B5EF4-FFF2-40B4-BE49-F238E27FC236}">
                <a16:creationId xmlns:a16="http://schemas.microsoft.com/office/drawing/2014/main" id="{8FD44517-FE98-476A-B646-9415AA07131C}"/>
              </a:ext>
            </a:extLst>
          </p:cNvPr>
          <p:cNvSpPr>
            <a:spLocks xmlns:a="http://schemas.openxmlformats.org/drawingml/2006/main" noGrp="1"/>
          </p:cNvSpPr>
          <p:nvPr/>
        </p:nvSpPr>
        <p:spPr>
          <a:xfrm xmlns:a="http://schemas.openxmlformats.org/drawingml/2006/main">
            <a:off x="685800" y="495300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5F8FC"/>
                </a:solidFill>
              </a:defRPr>
            </a:pPr>
            <a:r>
              <a:rPr sz="1875" b="1">
                <a:solidFill>
                  <a:srgbClr val="F5F8FC"/>
                </a:solidFill>
              </a:rPr>
              <a:t>No single place connects a signal, its assumptions, an impact range, and a constrained alternative.</a:t>
            </a:r>
          </a:p>
        </p:txBody>
      </p:sp>
      <p:sp>
        <p:nvSpPr>
          <p:cNvPr id="24" name="source">
            <a:extLst xmlns:a="http://schemas.openxmlformats.org/drawingml/2006/main">
              <a:ext uri="{FF2B5EF4-FFF2-40B4-BE49-F238E27FC236}">
                <a16:creationId xmlns:a16="http://schemas.microsoft.com/office/drawing/2014/main" id="{EB3B0CC1-E00C-4F3E-A1D2-4FF3E76A525B}"/>
              </a:ext>
            </a:extLst>
          </p:cNvPr>
          <p:cNvSpPr>
            <a:spLocks xmlns:a="http://schemas.openxmlformats.org/drawingml/2006/main" noGrp="1"/>
          </p:cNvSpPr>
          <p:nvPr/>
        </p:nvSpPr>
        <p:spPr>
          <a:xfrm xmlns:a="http://schemas.openxmlformats.org/drawingml/2006/main">
            <a:off x="685800" y="5791200"/>
            <a:ext cx="923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a:solidFill>
                  <a:srgbClr val="AABFD2"/>
                </a:solidFill>
              </a:defRPr>
            </a:pPr>
            <a:r>
              <a:rPr sz="900" b="0">
                <a:solidFill>
                  <a:srgbClr val="AABFD2"/>
                </a:solidFill>
              </a:rPr>
              <a:t>Source: Government of India, Press Information Bureau (2025): India meets about 88% of crude needs through imports.</a:t>
            </a:r>
          </a:p>
        </p:txBody>
      </p:sp>
      <p:sp>
        <p:nvSpPr>
          <p:cNvPr id="25" name="">
            <a:extLst xmlns:a="http://schemas.openxmlformats.org/drawingml/2006/main">
              <a:ext uri="{FF2B5EF4-FFF2-40B4-BE49-F238E27FC236}">
                <a16:creationId xmlns:a16="http://schemas.microsoft.com/office/drawing/2014/main" id="{43CBCBE0-AEF9-437D-B2E8-2C79826B352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6" name="footer">
            <a:extLst xmlns:a="http://schemas.openxmlformats.org/drawingml/2006/main">
              <a:ext uri="{FF2B5EF4-FFF2-40B4-BE49-F238E27FC236}">
                <a16:creationId xmlns:a16="http://schemas.microsoft.com/office/drawing/2014/main" id="{929D7559-845D-4330-BFAF-EF1FB95A2A27}"/>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507422993"/>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5" name="eyebrow">
            <a:extLst xmlns:a="http://schemas.openxmlformats.org/drawingml/2006/main">
              <a:ext uri="{FF2B5EF4-FFF2-40B4-BE49-F238E27FC236}">
                <a16:creationId xmlns:a16="http://schemas.microsoft.com/office/drawing/2014/main" id="{346274D0-9D71-4660-9A0A-58BE0B05B267}"/>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ACT 2 · THE INSIGHT</a:t>
            </a:r>
          </a:p>
        </p:txBody>
      </p:sp>
      <p:sp>
        <p:nvSpPr>
          <p:cNvPr id="2" name="slide-number">
            <a:extLst xmlns:a="http://schemas.openxmlformats.org/drawingml/2006/main">
              <a:ext uri="{FF2B5EF4-FFF2-40B4-BE49-F238E27FC236}">
                <a16:creationId xmlns:a16="http://schemas.microsoft.com/office/drawing/2014/main" id="{F014EB94-FE76-4BBA-9F6B-BDDEA509AB8C}"/>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03</a:t>
            </a:r>
          </a:p>
        </p:txBody>
      </p:sp>
      <p:sp>
        <p:nvSpPr>
          <p:cNvPr id="3" name="title">
            <a:extLst xmlns:a="http://schemas.openxmlformats.org/drawingml/2006/main">
              <a:ext uri="{FF2B5EF4-FFF2-40B4-BE49-F238E27FC236}">
                <a16:creationId xmlns:a16="http://schemas.microsoft.com/office/drawing/2014/main" id="{3BDC9CE2-0C75-449F-B0C5-94CFD6F5AC0C}"/>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5F8FC"/>
                </a:solidFill>
              </a:defRPr>
            </a:pPr>
            <a:r>
              <a:rPr sz="3150" b="1">
                <a:solidFill>
                  <a:srgbClr val="F5F8FC"/>
                </a:solidFill>
              </a:rPr>
              <a:t>The blind spot: oil is not fungible.</a:t>
            </a:r>
          </a:p>
        </p:txBody>
      </p:sp>
      <p:sp>
        <p:nvSpPr>
          <p:cNvPr id="4" name="subtitle">
            <a:extLst xmlns:a="http://schemas.openxmlformats.org/drawingml/2006/main">
              <a:ext uri="{FF2B5EF4-FFF2-40B4-BE49-F238E27FC236}">
                <a16:creationId xmlns:a16="http://schemas.microsoft.com/office/drawing/2014/main" id="{EE2E26BA-E0E0-44AC-B3EB-EF2452ED9FFF}"/>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AABFD2"/>
                </a:solidFill>
              </a:defRPr>
            </a:pPr>
            <a:r>
              <a:rPr sz="1500" b="0">
                <a:solidFill>
                  <a:srgbClr val="AABFD2"/>
                </a:solidFill>
              </a:rPr>
              <a:t>A route that avoids disruption is useless if the crude cannot run in the refinery—or the capacity is not there.</a:t>
            </a:r>
          </a:p>
        </p:txBody>
      </p:sp>
      <p:sp>
        <p:nvSpPr>
          <p:cNvPr id="5" name="generic-tools">
            <a:extLst xmlns:a="http://schemas.openxmlformats.org/drawingml/2006/main">
              <a:ext uri="{FF2B5EF4-FFF2-40B4-BE49-F238E27FC236}">
                <a16:creationId xmlns:a16="http://schemas.microsoft.com/office/drawing/2014/main" id="{E1E8FF89-047D-4CEF-BEA5-2CB3B2FD35A7}"/>
              </a:ext>
            </a:extLst>
          </p:cNvPr>
          <p:cNvSpPr>
            <a:spLocks xmlns:a="http://schemas.openxmlformats.org/drawingml/2006/main" noGrp="1"/>
          </p:cNvSpPr>
          <p:nvPr/>
        </p:nvSpPr>
        <p:spPr>
          <a:xfrm xmlns:a="http://schemas.openxmlformats.org/drawingml/2006/main">
            <a:off x="685800" y="2800350"/>
            <a:ext cx="4495800" cy="2571750"/>
          </a:xfrm>
          <a:prstGeom xmlns:a="http://schemas.openxmlformats.org/drawingml/2006/main" prst="roundRect">
            <a:avLst>
              <a:gd name="adj" fmla="val 4444"/>
            </a:avLst>
          </a:prstGeom>
          <a:solidFill xmlns:a="http://schemas.openxmlformats.org/drawingml/2006/main">
            <a:srgbClr val="0D1D31"/>
          </a:solidFill>
          <a:ln xmlns:a="http://schemas.openxmlformats.org/drawingml/2006/main" w="9525">
            <a:solidFill>
              <a:srgbClr val="244563"/>
            </a:solidFill>
            <a:prstDash val="solid"/>
          </a:ln>
        </p:spPr>
      </p:sp>
      <p:sp>
        <p:nvSpPr>
          <p:cNvPr id="6" name="generic-label">
            <a:extLst xmlns:a="http://schemas.openxmlformats.org/drawingml/2006/main">
              <a:ext uri="{FF2B5EF4-FFF2-40B4-BE49-F238E27FC236}">
                <a16:creationId xmlns:a16="http://schemas.microsoft.com/office/drawing/2014/main" id="{BB1E511C-D8C9-4972-A118-593EA3CFFFEF}"/>
              </a:ext>
            </a:extLst>
          </p:cNvPr>
          <p:cNvSpPr>
            <a:spLocks xmlns:a="http://schemas.openxmlformats.org/drawingml/2006/main" noGrp="1"/>
          </p:cNvSpPr>
          <p:nvPr/>
        </p:nvSpPr>
        <p:spPr>
          <a:xfrm xmlns:a="http://schemas.openxmlformats.org/drawingml/2006/main">
            <a:off x="933450" y="30480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GENERIC RISK TOOLS</a:t>
            </a:r>
          </a:p>
        </p:txBody>
      </p:sp>
      <p:sp>
        <p:nvSpPr>
          <p:cNvPr id="7" name="generic-flow">
            <a:extLst xmlns:a="http://schemas.openxmlformats.org/drawingml/2006/main">
              <a:ext uri="{FF2B5EF4-FFF2-40B4-BE49-F238E27FC236}">
                <a16:creationId xmlns:a16="http://schemas.microsoft.com/office/drawing/2014/main" id="{04FD467D-9496-4C46-B609-A61C9421F012}"/>
              </a:ext>
            </a:extLst>
          </p:cNvPr>
          <p:cNvSpPr>
            <a:spLocks xmlns:a="http://schemas.openxmlformats.org/drawingml/2006/main" noGrp="1"/>
          </p:cNvSpPr>
          <p:nvPr/>
        </p:nvSpPr>
        <p:spPr>
          <a:xfrm xmlns:a="http://schemas.openxmlformats.org/drawingml/2006/main">
            <a:off x="933450" y="3476625"/>
            <a:ext cx="2667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5F8FC"/>
                </a:solidFill>
              </a:defRPr>
            </a:pPr>
            <a:r>
              <a:rPr sz="2025" b="1">
                <a:solidFill>
                  <a:srgbClr val="F5F8FC"/>
                </a:solidFill>
              </a:rPr>
              <a:t>Alert</a:t>
            </a:r>
          </a:p>
          <a:p xmlns:a="http://schemas.openxmlformats.org/drawingml/2006/main">
            <a:pPr>
              <a:defRPr sz="2025" b="1">
                <a:solidFill>
                  <a:srgbClr val="F5F8FC"/>
                </a:solidFill>
              </a:defRPr>
            </a:pPr>
            <a:r>
              <a:rPr sz="2025" b="1">
                <a:solidFill>
                  <a:srgbClr val="F5F8FC"/>
                </a:solidFill>
              </a:rPr>
              <a:t>↓</a:t>
            </a:r>
          </a:p>
          <a:p xmlns:a="http://schemas.openxmlformats.org/drawingml/2006/main">
            <a:pPr>
              <a:defRPr sz="2025" b="1">
                <a:solidFill>
                  <a:srgbClr val="F5F8FC"/>
                </a:solidFill>
              </a:defRPr>
            </a:pPr>
            <a:r>
              <a:rPr sz="2025" b="1">
                <a:solidFill>
                  <a:srgbClr val="F5F8FC"/>
                </a:solidFill>
              </a:rPr>
              <a:t>“Consider alternatives”</a:t>
            </a:r>
          </a:p>
        </p:txBody>
      </p:sp>
      <p:sp>
        <p:nvSpPr>
          <p:cNvPr id="8" name="petravigil-insight">
            <a:extLst xmlns:a="http://schemas.openxmlformats.org/drawingml/2006/main">
              <a:ext uri="{FF2B5EF4-FFF2-40B4-BE49-F238E27FC236}">
                <a16:creationId xmlns:a16="http://schemas.microsoft.com/office/drawing/2014/main" id="{70D04B9D-090F-420B-935A-93B901965A89}"/>
              </a:ext>
            </a:extLst>
          </p:cNvPr>
          <p:cNvSpPr>
            <a:spLocks xmlns:a="http://schemas.openxmlformats.org/drawingml/2006/main" noGrp="1"/>
          </p:cNvSpPr>
          <p:nvPr/>
        </p:nvSpPr>
        <p:spPr>
          <a:xfrm xmlns:a="http://schemas.openxmlformats.org/drawingml/2006/main">
            <a:off x="5715000" y="2800350"/>
            <a:ext cx="5791200" cy="2571750"/>
          </a:xfrm>
          <a:prstGeom xmlns:a="http://schemas.openxmlformats.org/drawingml/2006/main" prst="roundRect">
            <a:avLst>
              <a:gd name="adj" fmla="val 4444"/>
            </a:avLst>
          </a:prstGeom>
          <a:solidFill xmlns:a="http://schemas.openxmlformats.org/drawingml/2006/main">
            <a:srgbClr val="102B47"/>
          </a:solidFill>
          <a:ln xmlns:a="http://schemas.openxmlformats.org/drawingml/2006/main" w="9525">
            <a:solidFill>
              <a:srgbClr val="66B3FF"/>
            </a:solidFill>
            <a:prstDash val="solid"/>
          </a:ln>
        </p:spPr>
      </p:sp>
      <p:sp>
        <p:nvSpPr>
          <p:cNvPr id="9" name="pv-label">
            <a:extLst xmlns:a="http://schemas.openxmlformats.org/drawingml/2006/main">
              <a:ext uri="{FF2B5EF4-FFF2-40B4-BE49-F238E27FC236}">
                <a16:creationId xmlns:a16="http://schemas.microsoft.com/office/drawing/2014/main" id="{EE7A1E41-1B2B-422B-972F-B3FABF561A64}"/>
              </a:ext>
            </a:extLst>
          </p:cNvPr>
          <p:cNvSpPr>
            <a:spLocks xmlns:a="http://schemas.openxmlformats.org/drawingml/2006/main" noGrp="1"/>
          </p:cNvSpPr>
          <p:nvPr/>
        </p:nvSpPr>
        <p:spPr>
          <a:xfrm xmlns:a="http://schemas.openxmlformats.org/drawingml/2006/main">
            <a:off x="5981700" y="3048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PETRAVIGIL’S DECISION MODEL</a:t>
            </a:r>
          </a:p>
        </p:txBody>
      </p:sp>
      <p:sp>
        <p:nvSpPr>
          <p:cNvPr id="10" name="check-circle">
            <a:extLst xmlns:a="http://schemas.openxmlformats.org/drawingml/2006/main">
              <a:ext uri="{FF2B5EF4-FFF2-40B4-BE49-F238E27FC236}">
                <a16:creationId xmlns:a16="http://schemas.microsoft.com/office/drawing/2014/main" id="{24183EE5-EB1A-4843-B45E-E7ADB3376081}"/>
              </a:ext>
            </a:extLst>
          </p:cNvPr>
          <p:cNvSpPr>
            <a:spLocks xmlns:a="http://schemas.openxmlformats.org/drawingml/2006/main" noGrp="1"/>
          </p:cNvSpPr>
          <p:nvPr/>
        </p:nvSpPr>
        <p:spPr>
          <a:xfrm xmlns:a="http://schemas.openxmlformats.org/drawingml/2006/main">
            <a:off x="5981700" y="3476625"/>
            <a:ext cx="323850" cy="323850"/>
          </a:xfrm>
          <a:prstGeom xmlns:a="http://schemas.openxmlformats.org/drawingml/2006/main" prst="ellipse">
            <a:avLst/>
          </a:prstGeom>
          <a:solidFill xmlns:a="http://schemas.openxmlformats.org/drawingml/2006/main">
            <a:srgbClr val="F58D95"/>
          </a:solidFill>
          <a:ln xmlns:a="http://schemas.openxmlformats.org/drawingml/2006/main" w="9525">
            <a:solidFill>
              <a:srgbClr val="F58D95"/>
            </a:solidFill>
            <a:prstDash val="solid"/>
          </a:ln>
        </p:spPr>
      </p:sp>
      <p:sp>
        <p:nvSpPr>
          <p:cNvPr id="11" name="check-num">
            <a:extLst xmlns:a="http://schemas.openxmlformats.org/drawingml/2006/main">
              <a:ext uri="{FF2B5EF4-FFF2-40B4-BE49-F238E27FC236}">
                <a16:creationId xmlns:a16="http://schemas.microsoft.com/office/drawing/2014/main" id="{24E28809-39D6-4EFF-8CDA-82F06483274B}"/>
              </a:ext>
            </a:extLst>
          </p:cNvPr>
          <p:cNvSpPr>
            <a:spLocks xmlns:a="http://schemas.openxmlformats.org/drawingml/2006/main" noGrp="1"/>
          </p:cNvSpPr>
          <p:nvPr/>
        </p:nvSpPr>
        <p:spPr>
          <a:xfrm xmlns:a="http://schemas.openxmlformats.org/drawingml/2006/main">
            <a:off x="6086475" y="3552825"/>
            <a:ext cx="123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111F"/>
                </a:solidFill>
              </a:defRPr>
            </a:pPr>
            <a:r>
              <a:rPr sz="975" b="1">
                <a:solidFill>
                  <a:srgbClr val="07111F"/>
                </a:solidFill>
              </a:rPr>
              <a:t>1</a:t>
            </a:r>
          </a:p>
        </p:txBody>
      </p:sp>
      <p:sp>
        <p:nvSpPr>
          <p:cNvPr id="12" name="check-label">
            <a:extLst xmlns:a="http://schemas.openxmlformats.org/drawingml/2006/main">
              <a:ext uri="{FF2B5EF4-FFF2-40B4-BE49-F238E27FC236}">
                <a16:creationId xmlns:a16="http://schemas.microsoft.com/office/drawing/2014/main" id="{BEF3680D-8AEF-4391-BAAA-DE1F5D72C335}"/>
              </a:ext>
            </a:extLst>
          </p:cNvPr>
          <p:cNvSpPr>
            <a:spLocks xmlns:a="http://schemas.openxmlformats.org/drawingml/2006/main" noGrp="1"/>
          </p:cNvSpPr>
          <p:nvPr/>
        </p:nvSpPr>
        <p:spPr>
          <a:xfrm xmlns:a="http://schemas.openxmlformats.org/drawingml/2006/main">
            <a:off x="6457950" y="35528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Corridor exposure</a:t>
            </a:r>
          </a:p>
        </p:txBody>
      </p:sp>
      <p:sp>
        <p:nvSpPr>
          <p:cNvPr id="13" name="check-circle">
            <a:extLst xmlns:a="http://schemas.openxmlformats.org/drawingml/2006/main">
              <a:ext uri="{FF2B5EF4-FFF2-40B4-BE49-F238E27FC236}">
                <a16:creationId xmlns:a16="http://schemas.microsoft.com/office/drawing/2014/main" id="{8CEE2C24-648F-4DC2-A514-845DE0889DD6}"/>
              </a:ext>
            </a:extLst>
          </p:cNvPr>
          <p:cNvSpPr>
            <a:spLocks xmlns:a="http://schemas.openxmlformats.org/drawingml/2006/main" noGrp="1"/>
          </p:cNvSpPr>
          <p:nvPr/>
        </p:nvSpPr>
        <p:spPr>
          <a:xfrm xmlns:a="http://schemas.openxmlformats.org/drawingml/2006/main">
            <a:off x="8553450" y="3476625"/>
            <a:ext cx="323850" cy="323850"/>
          </a:xfrm>
          <a:prstGeom xmlns:a="http://schemas.openxmlformats.org/drawingml/2006/main" prst="ellipse">
            <a:avLst/>
          </a:prstGeom>
          <a:solidFill xmlns:a="http://schemas.openxmlformats.org/drawingml/2006/main">
            <a:srgbClr val="FFC56E"/>
          </a:solidFill>
          <a:ln xmlns:a="http://schemas.openxmlformats.org/drawingml/2006/main" w="9525">
            <a:solidFill>
              <a:srgbClr val="FFC56E"/>
            </a:solidFill>
            <a:prstDash val="solid"/>
          </a:ln>
        </p:spPr>
      </p:sp>
      <p:sp>
        <p:nvSpPr>
          <p:cNvPr id="14" name="check-num">
            <a:extLst xmlns:a="http://schemas.openxmlformats.org/drawingml/2006/main">
              <a:ext uri="{FF2B5EF4-FFF2-40B4-BE49-F238E27FC236}">
                <a16:creationId xmlns:a16="http://schemas.microsoft.com/office/drawing/2014/main" id="{1F767055-1FA3-4585-BB11-CA57C6144497}"/>
              </a:ext>
            </a:extLst>
          </p:cNvPr>
          <p:cNvSpPr>
            <a:spLocks xmlns:a="http://schemas.openxmlformats.org/drawingml/2006/main" noGrp="1"/>
          </p:cNvSpPr>
          <p:nvPr/>
        </p:nvSpPr>
        <p:spPr>
          <a:xfrm xmlns:a="http://schemas.openxmlformats.org/drawingml/2006/main">
            <a:off x="8658225" y="3552825"/>
            <a:ext cx="123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111F"/>
                </a:solidFill>
              </a:defRPr>
            </a:pPr>
            <a:r>
              <a:rPr sz="975" b="1">
                <a:solidFill>
                  <a:srgbClr val="07111F"/>
                </a:solidFill>
              </a:rPr>
              <a:t>2</a:t>
            </a:r>
          </a:p>
        </p:txBody>
      </p:sp>
      <p:sp>
        <p:nvSpPr>
          <p:cNvPr id="15" name="check-label">
            <a:extLst xmlns:a="http://schemas.openxmlformats.org/drawingml/2006/main">
              <a:ext uri="{FF2B5EF4-FFF2-40B4-BE49-F238E27FC236}">
                <a16:creationId xmlns:a16="http://schemas.microsoft.com/office/drawing/2014/main" id="{6401179A-B47C-43BE-99F4-8063BF02DC7A}"/>
              </a:ext>
            </a:extLst>
          </p:cNvPr>
          <p:cNvSpPr>
            <a:spLocks xmlns:a="http://schemas.openxmlformats.org/drawingml/2006/main" noGrp="1"/>
          </p:cNvSpPr>
          <p:nvPr/>
        </p:nvSpPr>
        <p:spPr>
          <a:xfrm xmlns:a="http://schemas.openxmlformats.org/drawingml/2006/main">
            <a:off x="9029700" y="35528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Refinery-grade fit</a:t>
            </a:r>
          </a:p>
        </p:txBody>
      </p:sp>
      <p:sp>
        <p:nvSpPr>
          <p:cNvPr id="16" name="check-circle">
            <a:extLst xmlns:a="http://schemas.openxmlformats.org/drawingml/2006/main">
              <a:ext uri="{FF2B5EF4-FFF2-40B4-BE49-F238E27FC236}">
                <a16:creationId xmlns:a16="http://schemas.microsoft.com/office/drawing/2014/main" id="{C875B0CB-68B2-4048-B3B9-EE05853CDB38}"/>
              </a:ext>
            </a:extLst>
          </p:cNvPr>
          <p:cNvSpPr>
            <a:spLocks xmlns:a="http://schemas.openxmlformats.org/drawingml/2006/main" noGrp="1"/>
          </p:cNvSpPr>
          <p:nvPr/>
        </p:nvSpPr>
        <p:spPr>
          <a:xfrm xmlns:a="http://schemas.openxmlformats.org/drawingml/2006/main">
            <a:off x="5981700" y="4295775"/>
            <a:ext cx="323850" cy="323850"/>
          </a:xfrm>
          <a:prstGeom xmlns:a="http://schemas.openxmlformats.org/drawingml/2006/main" prst="ellipse">
            <a:avLst/>
          </a:prstGeom>
          <a:solidFill xmlns:a="http://schemas.openxmlformats.org/drawingml/2006/main">
            <a:srgbClr val="66B3FF"/>
          </a:solidFill>
          <a:ln xmlns:a="http://schemas.openxmlformats.org/drawingml/2006/main" w="9525">
            <a:solidFill>
              <a:srgbClr val="66B3FF"/>
            </a:solidFill>
            <a:prstDash val="solid"/>
          </a:ln>
        </p:spPr>
      </p:sp>
      <p:sp>
        <p:nvSpPr>
          <p:cNvPr id="17" name="check-num">
            <a:extLst xmlns:a="http://schemas.openxmlformats.org/drawingml/2006/main">
              <a:ext uri="{FF2B5EF4-FFF2-40B4-BE49-F238E27FC236}">
                <a16:creationId xmlns:a16="http://schemas.microsoft.com/office/drawing/2014/main" id="{8B12C345-FD67-4010-8EEF-B475E7B91681}"/>
              </a:ext>
            </a:extLst>
          </p:cNvPr>
          <p:cNvSpPr>
            <a:spLocks xmlns:a="http://schemas.openxmlformats.org/drawingml/2006/main" noGrp="1"/>
          </p:cNvSpPr>
          <p:nvPr/>
        </p:nvSpPr>
        <p:spPr>
          <a:xfrm xmlns:a="http://schemas.openxmlformats.org/drawingml/2006/main">
            <a:off x="6086475" y="4371975"/>
            <a:ext cx="123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111F"/>
                </a:solidFill>
              </a:defRPr>
            </a:pPr>
            <a:r>
              <a:rPr sz="975" b="1">
                <a:solidFill>
                  <a:srgbClr val="07111F"/>
                </a:solidFill>
              </a:rPr>
              <a:t>3</a:t>
            </a:r>
          </a:p>
        </p:txBody>
      </p:sp>
      <p:sp>
        <p:nvSpPr>
          <p:cNvPr id="18" name="check-label">
            <a:extLst xmlns:a="http://schemas.openxmlformats.org/drawingml/2006/main">
              <a:ext uri="{FF2B5EF4-FFF2-40B4-BE49-F238E27FC236}">
                <a16:creationId xmlns:a16="http://schemas.microsoft.com/office/drawing/2014/main" id="{1E5A4E9D-168C-42A3-9156-D8E897348AEE}"/>
              </a:ext>
            </a:extLst>
          </p:cNvPr>
          <p:cNvSpPr>
            <a:spLocks xmlns:a="http://schemas.openxmlformats.org/drawingml/2006/main" noGrp="1"/>
          </p:cNvSpPr>
          <p:nvPr/>
        </p:nvSpPr>
        <p:spPr>
          <a:xfrm xmlns:a="http://schemas.openxmlformats.org/drawingml/2006/main">
            <a:off x="6457950" y="437197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Route capacity</a:t>
            </a:r>
          </a:p>
        </p:txBody>
      </p:sp>
      <p:sp>
        <p:nvSpPr>
          <p:cNvPr id="19" name="check-circle">
            <a:extLst xmlns:a="http://schemas.openxmlformats.org/drawingml/2006/main">
              <a:ext uri="{FF2B5EF4-FFF2-40B4-BE49-F238E27FC236}">
                <a16:creationId xmlns:a16="http://schemas.microsoft.com/office/drawing/2014/main" id="{398F1746-7DE4-4447-8647-9CD8B3A3B093}"/>
              </a:ext>
            </a:extLst>
          </p:cNvPr>
          <p:cNvSpPr>
            <a:spLocks xmlns:a="http://schemas.openxmlformats.org/drawingml/2006/main" noGrp="1"/>
          </p:cNvSpPr>
          <p:nvPr/>
        </p:nvSpPr>
        <p:spPr>
          <a:xfrm xmlns:a="http://schemas.openxmlformats.org/drawingml/2006/main">
            <a:off x="8553450" y="4295775"/>
            <a:ext cx="323850" cy="323850"/>
          </a:xfrm>
          <a:prstGeom xmlns:a="http://schemas.openxmlformats.org/drawingml/2006/main" prst="ellipse">
            <a:avLst/>
          </a:prstGeom>
          <a:solidFill xmlns:a="http://schemas.openxmlformats.org/drawingml/2006/main">
            <a:srgbClr val="86E5B6"/>
          </a:solidFill>
          <a:ln xmlns:a="http://schemas.openxmlformats.org/drawingml/2006/main" w="9525">
            <a:solidFill>
              <a:srgbClr val="86E5B6"/>
            </a:solidFill>
            <a:prstDash val="solid"/>
          </a:ln>
        </p:spPr>
      </p:sp>
      <p:sp>
        <p:nvSpPr>
          <p:cNvPr id="20" name="check-num">
            <a:extLst xmlns:a="http://schemas.openxmlformats.org/drawingml/2006/main">
              <a:ext uri="{FF2B5EF4-FFF2-40B4-BE49-F238E27FC236}">
                <a16:creationId xmlns:a16="http://schemas.microsoft.com/office/drawing/2014/main" id="{46854E54-84EC-42E5-B903-D0FB5AA50D5A}"/>
              </a:ext>
            </a:extLst>
          </p:cNvPr>
          <p:cNvSpPr>
            <a:spLocks xmlns:a="http://schemas.openxmlformats.org/drawingml/2006/main" noGrp="1"/>
          </p:cNvSpPr>
          <p:nvPr/>
        </p:nvSpPr>
        <p:spPr>
          <a:xfrm xmlns:a="http://schemas.openxmlformats.org/drawingml/2006/main">
            <a:off x="8658225" y="4371975"/>
            <a:ext cx="123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111F"/>
                </a:solidFill>
              </a:defRPr>
            </a:pPr>
            <a:r>
              <a:rPr sz="975" b="1">
                <a:solidFill>
                  <a:srgbClr val="07111F"/>
                </a:solidFill>
              </a:rPr>
              <a:t>4</a:t>
            </a:r>
          </a:p>
        </p:txBody>
      </p:sp>
      <p:sp>
        <p:nvSpPr>
          <p:cNvPr id="21" name="check-label">
            <a:extLst xmlns:a="http://schemas.openxmlformats.org/drawingml/2006/main">
              <a:ext uri="{FF2B5EF4-FFF2-40B4-BE49-F238E27FC236}">
                <a16:creationId xmlns:a16="http://schemas.microsoft.com/office/drawing/2014/main" id="{352BA5A1-CC39-4AE5-8ECE-4C30AC37976D}"/>
              </a:ext>
            </a:extLst>
          </p:cNvPr>
          <p:cNvSpPr>
            <a:spLocks xmlns:a="http://schemas.openxmlformats.org/drawingml/2006/main" noGrp="1"/>
          </p:cNvSpPr>
          <p:nvPr/>
        </p:nvSpPr>
        <p:spPr>
          <a:xfrm xmlns:a="http://schemas.openxmlformats.org/drawingml/2006/main">
            <a:off x="9029700" y="437197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Human approval</a:t>
            </a:r>
          </a:p>
        </p:txBody>
      </p:sp>
      <p:sp>
        <p:nvSpPr>
          <p:cNvPr id="22" name="insight-conclusion">
            <a:extLst xmlns:a="http://schemas.openxmlformats.org/drawingml/2006/main">
              <a:ext uri="{FF2B5EF4-FFF2-40B4-BE49-F238E27FC236}">
                <a16:creationId xmlns:a16="http://schemas.microsoft.com/office/drawing/2014/main" id="{79748169-70EF-48B8-8366-900C6346AFDF}"/>
              </a:ext>
            </a:extLst>
          </p:cNvPr>
          <p:cNvSpPr>
            <a:spLocks xmlns:a="http://schemas.openxmlformats.org/drawingml/2006/main" noGrp="1"/>
          </p:cNvSpPr>
          <p:nvPr/>
        </p:nvSpPr>
        <p:spPr>
          <a:xfrm xmlns:a="http://schemas.openxmlformats.org/drawingml/2006/main">
            <a:off x="685800" y="5715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5F8FC"/>
                </a:solidFill>
              </a:defRPr>
            </a:pPr>
            <a:r>
              <a:rPr sz="1725" b="1">
                <a:solidFill>
                  <a:srgbClr val="F5F8FC"/>
                </a:solidFill>
              </a:rPr>
              <a:t>The differentiator is not “AI writes a recommendation.”</a:t>
            </a:r>
          </a:p>
          <a:p xmlns:a="http://schemas.openxmlformats.org/drawingml/2006/main">
            <a:pPr>
              <a:defRPr sz="1725" b="1">
                <a:solidFill>
                  <a:srgbClr val="F5F8FC"/>
                </a:solidFill>
              </a:defRPr>
            </a:pPr>
            <a:r>
              <a:rPr sz="1725" b="1">
                <a:solidFill>
                  <a:srgbClr val="F5F8FC"/>
                </a:solidFill>
              </a:rPr>
              <a:t>It is making the recommendation feasible, explainable, and accountable.</a:t>
            </a:r>
          </a:p>
        </p:txBody>
      </p:sp>
      <p:sp>
        <p:nvSpPr>
          <p:cNvPr id="23" name="">
            <a:extLst xmlns:a="http://schemas.openxmlformats.org/drawingml/2006/main">
              <a:ext uri="{FF2B5EF4-FFF2-40B4-BE49-F238E27FC236}">
                <a16:creationId xmlns:a16="http://schemas.microsoft.com/office/drawing/2014/main" id="{3733E773-9DE8-4D6A-AE7E-C4B8988B7E3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4" name="footer">
            <a:extLst xmlns:a="http://schemas.openxmlformats.org/drawingml/2006/main">
              <a:ext uri="{FF2B5EF4-FFF2-40B4-BE49-F238E27FC236}">
                <a16:creationId xmlns:a16="http://schemas.microsoft.com/office/drawing/2014/main" id="{3C0D2481-4A28-489D-A8E1-7721ADC9203C}"/>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511773843"/>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9" name="eyebrow">
            <a:extLst xmlns:a="http://schemas.openxmlformats.org/drawingml/2006/main">
              <a:ext uri="{FF2B5EF4-FFF2-40B4-BE49-F238E27FC236}">
                <a16:creationId xmlns:a16="http://schemas.microsoft.com/office/drawing/2014/main" id="{5ADAA447-FCA8-480A-A184-3ECA94B2E999}"/>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ACT 3 · THE SOLUTION</a:t>
            </a:r>
          </a:p>
        </p:txBody>
      </p:sp>
      <p:sp>
        <p:nvSpPr>
          <p:cNvPr id="2" name="slide-number">
            <a:extLst xmlns:a="http://schemas.openxmlformats.org/drawingml/2006/main">
              <a:ext uri="{FF2B5EF4-FFF2-40B4-BE49-F238E27FC236}">
                <a16:creationId xmlns:a16="http://schemas.microsoft.com/office/drawing/2014/main" id="{778BCA74-E788-4DAC-AF73-7136D0A5F4EE}"/>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04</a:t>
            </a:r>
          </a:p>
        </p:txBody>
      </p:sp>
      <p:sp>
        <p:nvSpPr>
          <p:cNvPr id="3" name="title">
            <a:extLst xmlns:a="http://schemas.openxmlformats.org/drawingml/2006/main">
              <a:ext uri="{FF2B5EF4-FFF2-40B4-BE49-F238E27FC236}">
                <a16:creationId xmlns:a16="http://schemas.microsoft.com/office/drawing/2014/main" id="{AAFFAFE1-C578-41B5-BB26-97FA9A3F4E7D}"/>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5F8FC"/>
                </a:solidFill>
              </a:defRPr>
            </a:pPr>
            <a:r>
              <a:rPr sz="3150" b="1">
                <a:solidFill>
                  <a:srgbClr val="F5F8FC"/>
                </a:solidFill>
              </a:rPr>
              <a:t>One signal. One reviewable decision.</a:t>
            </a:r>
          </a:p>
        </p:txBody>
      </p:sp>
      <p:sp>
        <p:nvSpPr>
          <p:cNvPr id="4" name="subtitle">
            <a:extLst xmlns:a="http://schemas.openxmlformats.org/drawingml/2006/main">
              <a:ext uri="{FF2B5EF4-FFF2-40B4-BE49-F238E27FC236}">
                <a16:creationId xmlns:a16="http://schemas.microsoft.com/office/drawing/2014/main" id="{DA86BA93-F34C-4206-9A2E-D2322FAE562C}"/>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AABFD2"/>
                </a:solidFill>
              </a:defRPr>
            </a:pPr>
            <a:r>
              <a:rPr sz="1500" b="0">
                <a:solidFill>
                  <a:srgbClr val="AABFD2"/>
                </a:solidFill>
              </a:rPr>
              <a:t>PetraVigil links every stage—from intake to human decision—into a single case record.</a:t>
            </a:r>
          </a:p>
        </p:txBody>
      </p:sp>
      <p:sp>
        <p:nvSpPr>
          <p:cNvPr id="5" name="">
            <a:extLst xmlns:a="http://schemas.openxmlformats.org/drawingml/2006/main">
              <a:ext uri="{FF2B5EF4-FFF2-40B4-BE49-F238E27FC236}">
                <a16:creationId xmlns:a16="http://schemas.microsoft.com/office/drawing/2014/main" id="{76008693-6BD8-4B64-AC10-65DAB077A706}"/>
              </a:ext>
            </a:extLst>
          </p:cNvPr>
          <p:cNvSpPr>
            <a:spLocks xmlns:a="http://schemas.openxmlformats.org/drawingml/2006/main" noGrp="1"/>
          </p:cNvSpPr>
          <p:nvPr/>
        </p:nvSpPr>
        <p:spPr>
          <a:xfrm xmlns:a="http://schemas.openxmlformats.org/drawingml/2006/main">
            <a:off x="2171700"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6" name="node">
            <a:extLst xmlns:a="http://schemas.openxmlformats.org/drawingml/2006/main">
              <a:ext uri="{FF2B5EF4-FFF2-40B4-BE49-F238E27FC236}">
                <a16:creationId xmlns:a16="http://schemas.microsoft.com/office/drawing/2014/main" id="{C0994448-69C9-40E7-9C53-4E8DB181BC1C}"/>
              </a:ext>
            </a:extLst>
          </p:cNvPr>
          <p:cNvSpPr>
            <a:spLocks xmlns:a="http://schemas.openxmlformats.org/drawingml/2006/main" noGrp="1"/>
          </p:cNvSpPr>
          <p:nvPr/>
        </p:nvSpPr>
        <p:spPr>
          <a:xfrm xmlns:a="http://schemas.openxmlformats.org/drawingml/2006/main">
            <a:off x="685800"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F58D95"/>
            </a:solidFill>
            <a:prstDash val="solid"/>
          </a:ln>
        </p:spPr>
      </p:sp>
      <p:sp>
        <p:nvSpPr>
          <p:cNvPr id="7" name="node-label">
            <a:extLst xmlns:a="http://schemas.openxmlformats.org/drawingml/2006/main">
              <a:ext uri="{FF2B5EF4-FFF2-40B4-BE49-F238E27FC236}">
                <a16:creationId xmlns:a16="http://schemas.microsoft.com/office/drawing/2014/main" id="{0D01CBAB-C834-42A2-BBED-9E3A37B890BF}"/>
              </a:ext>
            </a:extLst>
          </p:cNvPr>
          <p:cNvSpPr>
            <a:spLocks xmlns:a="http://schemas.openxmlformats.org/drawingml/2006/main" noGrp="1"/>
          </p:cNvSpPr>
          <p:nvPr/>
        </p:nvSpPr>
        <p:spPr>
          <a:xfrm xmlns:a="http://schemas.openxmlformats.org/drawingml/2006/main">
            <a:off x="809625"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5F8FC"/>
                </a:solidFill>
              </a:defRPr>
            </a:pPr>
            <a:r>
              <a:rPr sz="1200" b="1">
                <a:solidFill>
                  <a:srgbClr val="F5F8FC"/>
                </a:solidFill>
              </a:rPr>
              <a:t>01  Signal</a:t>
            </a:r>
          </a:p>
        </p:txBody>
      </p:sp>
      <p:sp>
        <p:nvSpPr>
          <p:cNvPr id="8" name="">
            <a:extLst xmlns:a="http://schemas.openxmlformats.org/drawingml/2006/main">
              <a:ext uri="{FF2B5EF4-FFF2-40B4-BE49-F238E27FC236}">
                <a16:creationId xmlns:a16="http://schemas.microsoft.com/office/drawing/2014/main" id="{F4B60626-5D43-4607-8049-193EA5CE071B}"/>
              </a:ext>
            </a:extLst>
          </p:cNvPr>
          <p:cNvSpPr>
            <a:spLocks xmlns:a="http://schemas.openxmlformats.org/drawingml/2006/main" noGrp="1"/>
          </p:cNvSpPr>
          <p:nvPr/>
        </p:nvSpPr>
        <p:spPr>
          <a:xfrm xmlns:a="http://schemas.openxmlformats.org/drawingml/2006/main">
            <a:off x="3952875"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9" name="node">
            <a:extLst xmlns:a="http://schemas.openxmlformats.org/drawingml/2006/main">
              <a:ext uri="{FF2B5EF4-FFF2-40B4-BE49-F238E27FC236}">
                <a16:creationId xmlns:a16="http://schemas.microsoft.com/office/drawing/2014/main" id="{522983A5-DD82-480F-B54D-5A4D3FD24555}"/>
              </a:ext>
            </a:extLst>
          </p:cNvPr>
          <p:cNvSpPr>
            <a:spLocks xmlns:a="http://schemas.openxmlformats.org/drawingml/2006/main" noGrp="1"/>
          </p:cNvSpPr>
          <p:nvPr/>
        </p:nvSpPr>
        <p:spPr>
          <a:xfrm xmlns:a="http://schemas.openxmlformats.org/drawingml/2006/main">
            <a:off x="2466975"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66B3FF"/>
            </a:solidFill>
            <a:prstDash val="solid"/>
          </a:ln>
        </p:spPr>
      </p:sp>
      <p:sp>
        <p:nvSpPr>
          <p:cNvPr id="10" name="node-label">
            <a:extLst xmlns:a="http://schemas.openxmlformats.org/drawingml/2006/main">
              <a:ext uri="{FF2B5EF4-FFF2-40B4-BE49-F238E27FC236}">
                <a16:creationId xmlns:a16="http://schemas.microsoft.com/office/drawing/2014/main" id="{85176F3B-4B49-403F-BED4-1F51F40A0A66}"/>
              </a:ext>
            </a:extLst>
          </p:cNvPr>
          <p:cNvSpPr>
            <a:spLocks xmlns:a="http://schemas.openxmlformats.org/drawingml/2006/main" noGrp="1"/>
          </p:cNvSpPr>
          <p:nvPr/>
        </p:nvSpPr>
        <p:spPr>
          <a:xfrm xmlns:a="http://schemas.openxmlformats.org/drawingml/2006/main">
            <a:off x="2590800"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5F8FC"/>
                </a:solidFill>
              </a:defRPr>
            </a:pPr>
            <a:r>
              <a:rPr sz="1200" b="1">
                <a:solidFill>
                  <a:srgbClr val="F5F8FC"/>
                </a:solidFill>
              </a:rPr>
              <a:t>02  Extract &amp; resolve</a:t>
            </a:r>
          </a:p>
        </p:txBody>
      </p:sp>
      <p:sp>
        <p:nvSpPr>
          <p:cNvPr id="11" name="">
            <a:extLst xmlns:a="http://schemas.openxmlformats.org/drawingml/2006/main">
              <a:ext uri="{FF2B5EF4-FFF2-40B4-BE49-F238E27FC236}">
                <a16:creationId xmlns:a16="http://schemas.microsoft.com/office/drawing/2014/main" id="{9CE5C087-932B-415B-AEC7-64FE2EA673BE}"/>
              </a:ext>
            </a:extLst>
          </p:cNvPr>
          <p:cNvSpPr>
            <a:spLocks xmlns:a="http://schemas.openxmlformats.org/drawingml/2006/main" noGrp="1"/>
          </p:cNvSpPr>
          <p:nvPr/>
        </p:nvSpPr>
        <p:spPr>
          <a:xfrm xmlns:a="http://schemas.openxmlformats.org/drawingml/2006/main">
            <a:off x="5734050"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2" name="node">
            <a:extLst xmlns:a="http://schemas.openxmlformats.org/drawingml/2006/main">
              <a:ext uri="{FF2B5EF4-FFF2-40B4-BE49-F238E27FC236}">
                <a16:creationId xmlns:a16="http://schemas.microsoft.com/office/drawing/2014/main" id="{A6A8FE33-A72C-41C3-B61D-76FAEACD32A1}"/>
              </a:ext>
            </a:extLst>
          </p:cNvPr>
          <p:cNvSpPr>
            <a:spLocks xmlns:a="http://schemas.openxmlformats.org/drawingml/2006/main" noGrp="1"/>
          </p:cNvSpPr>
          <p:nvPr/>
        </p:nvSpPr>
        <p:spPr>
          <a:xfrm xmlns:a="http://schemas.openxmlformats.org/drawingml/2006/main">
            <a:off x="4248150"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FFC56E"/>
            </a:solidFill>
            <a:prstDash val="solid"/>
          </a:ln>
        </p:spPr>
      </p:sp>
      <p:sp>
        <p:nvSpPr>
          <p:cNvPr id="13" name="node-label">
            <a:extLst xmlns:a="http://schemas.openxmlformats.org/drawingml/2006/main">
              <a:ext uri="{FF2B5EF4-FFF2-40B4-BE49-F238E27FC236}">
                <a16:creationId xmlns:a16="http://schemas.microsoft.com/office/drawing/2014/main" id="{37BDB8DF-EE4A-4063-992E-0FABB71DC235}"/>
              </a:ext>
            </a:extLst>
          </p:cNvPr>
          <p:cNvSpPr>
            <a:spLocks xmlns:a="http://schemas.openxmlformats.org/drawingml/2006/main" noGrp="1"/>
          </p:cNvSpPr>
          <p:nvPr/>
        </p:nvSpPr>
        <p:spPr>
          <a:xfrm xmlns:a="http://schemas.openxmlformats.org/drawingml/2006/main">
            <a:off x="4371975"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5F8FC"/>
                </a:solidFill>
              </a:defRPr>
            </a:pPr>
            <a:r>
              <a:rPr sz="1200" b="1">
                <a:solidFill>
                  <a:srgbClr val="F5F8FC"/>
                </a:solidFill>
              </a:rPr>
              <a:t>03  Score risk</a:t>
            </a:r>
          </a:p>
        </p:txBody>
      </p:sp>
      <p:sp>
        <p:nvSpPr>
          <p:cNvPr id="14" name="">
            <a:extLst xmlns:a="http://schemas.openxmlformats.org/drawingml/2006/main">
              <a:ext uri="{FF2B5EF4-FFF2-40B4-BE49-F238E27FC236}">
                <a16:creationId xmlns:a16="http://schemas.microsoft.com/office/drawing/2014/main" id="{62D27265-DB8A-4773-A38E-7DCCDEC4ABD0}"/>
              </a:ext>
            </a:extLst>
          </p:cNvPr>
          <p:cNvSpPr>
            <a:spLocks xmlns:a="http://schemas.openxmlformats.org/drawingml/2006/main" noGrp="1"/>
          </p:cNvSpPr>
          <p:nvPr/>
        </p:nvSpPr>
        <p:spPr>
          <a:xfrm xmlns:a="http://schemas.openxmlformats.org/drawingml/2006/main">
            <a:off x="7515225"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5" name="node">
            <a:extLst xmlns:a="http://schemas.openxmlformats.org/drawingml/2006/main">
              <a:ext uri="{FF2B5EF4-FFF2-40B4-BE49-F238E27FC236}">
                <a16:creationId xmlns:a16="http://schemas.microsoft.com/office/drawing/2014/main" id="{A3A87D99-BB44-4F9A-98D6-DF01FCED640A}"/>
              </a:ext>
            </a:extLst>
          </p:cNvPr>
          <p:cNvSpPr>
            <a:spLocks xmlns:a="http://schemas.openxmlformats.org/drawingml/2006/main" noGrp="1"/>
          </p:cNvSpPr>
          <p:nvPr/>
        </p:nvSpPr>
        <p:spPr>
          <a:xfrm xmlns:a="http://schemas.openxmlformats.org/drawingml/2006/main">
            <a:off x="6029325"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51E5D6"/>
            </a:solidFill>
            <a:prstDash val="solid"/>
          </a:ln>
        </p:spPr>
      </p:sp>
      <p:sp>
        <p:nvSpPr>
          <p:cNvPr id="16" name="node-label">
            <a:extLst xmlns:a="http://schemas.openxmlformats.org/drawingml/2006/main">
              <a:ext uri="{FF2B5EF4-FFF2-40B4-BE49-F238E27FC236}">
                <a16:creationId xmlns:a16="http://schemas.microsoft.com/office/drawing/2014/main" id="{32157E0B-FBB4-4AEE-84A0-DB1BF4E5D7A3}"/>
              </a:ext>
            </a:extLst>
          </p:cNvPr>
          <p:cNvSpPr>
            <a:spLocks xmlns:a="http://schemas.openxmlformats.org/drawingml/2006/main" noGrp="1"/>
          </p:cNvSpPr>
          <p:nvPr/>
        </p:nvSpPr>
        <p:spPr>
          <a:xfrm xmlns:a="http://schemas.openxmlformats.org/drawingml/2006/main">
            <a:off x="6153150"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5F8FC"/>
                </a:solidFill>
              </a:defRPr>
            </a:pPr>
            <a:r>
              <a:rPr sz="1200" b="1">
                <a:solidFill>
                  <a:srgbClr val="F5F8FC"/>
                </a:solidFill>
              </a:rPr>
              <a:t>04  Confirm assumptions</a:t>
            </a:r>
          </a:p>
        </p:txBody>
      </p:sp>
      <p:sp>
        <p:nvSpPr>
          <p:cNvPr id="17" name="">
            <a:extLst xmlns:a="http://schemas.openxmlformats.org/drawingml/2006/main">
              <a:ext uri="{FF2B5EF4-FFF2-40B4-BE49-F238E27FC236}">
                <a16:creationId xmlns:a16="http://schemas.microsoft.com/office/drawing/2014/main" id="{3BDD4244-8063-4D1E-B665-7E41C53544B3}"/>
              </a:ext>
            </a:extLst>
          </p:cNvPr>
          <p:cNvSpPr>
            <a:spLocks xmlns:a="http://schemas.openxmlformats.org/drawingml/2006/main" noGrp="1"/>
          </p:cNvSpPr>
          <p:nvPr/>
        </p:nvSpPr>
        <p:spPr>
          <a:xfrm xmlns:a="http://schemas.openxmlformats.org/drawingml/2006/main">
            <a:off x="9296400"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8" name="node">
            <a:extLst xmlns:a="http://schemas.openxmlformats.org/drawingml/2006/main">
              <a:ext uri="{FF2B5EF4-FFF2-40B4-BE49-F238E27FC236}">
                <a16:creationId xmlns:a16="http://schemas.microsoft.com/office/drawing/2014/main" id="{F37BAEC9-ACA3-4A06-AB4E-C7263682EDDF}"/>
              </a:ext>
            </a:extLst>
          </p:cNvPr>
          <p:cNvSpPr>
            <a:spLocks xmlns:a="http://schemas.openxmlformats.org/drawingml/2006/main" noGrp="1"/>
          </p:cNvSpPr>
          <p:nvPr/>
        </p:nvSpPr>
        <p:spPr>
          <a:xfrm xmlns:a="http://schemas.openxmlformats.org/drawingml/2006/main">
            <a:off x="7810500"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66B3FF"/>
            </a:solidFill>
            <a:prstDash val="solid"/>
          </a:ln>
        </p:spPr>
      </p:sp>
      <p:sp>
        <p:nvSpPr>
          <p:cNvPr id="19" name="node-label">
            <a:extLst xmlns:a="http://schemas.openxmlformats.org/drawingml/2006/main">
              <a:ext uri="{FF2B5EF4-FFF2-40B4-BE49-F238E27FC236}">
                <a16:creationId xmlns:a16="http://schemas.microsoft.com/office/drawing/2014/main" id="{BC7785DD-6E34-48CE-B475-D98800851420}"/>
              </a:ext>
            </a:extLst>
          </p:cNvPr>
          <p:cNvSpPr>
            <a:spLocks xmlns:a="http://schemas.openxmlformats.org/drawingml/2006/main" noGrp="1"/>
          </p:cNvSpPr>
          <p:nvPr/>
        </p:nvSpPr>
        <p:spPr>
          <a:xfrm xmlns:a="http://schemas.openxmlformats.org/drawingml/2006/main">
            <a:off x="7934325"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5F8FC"/>
                </a:solidFill>
              </a:defRPr>
            </a:pPr>
            <a:r>
              <a:rPr sz="1200" b="1">
                <a:solidFill>
                  <a:srgbClr val="F5F8FC"/>
                </a:solidFill>
              </a:rPr>
              <a:t>05  Simulate &amp; optimize</a:t>
            </a:r>
          </a:p>
        </p:txBody>
      </p:sp>
      <p:sp>
        <p:nvSpPr>
          <p:cNvPr id="20" name="node">
            <a:extLst xmlns:a="http://schemas.openxmlformats.org/drawingml/2006/main">
              <a:ext uri="{FF2B5EF4-FFF2-40B4-BE49-F238E27FC236}">
                <a16:creationId xmlns:a16="http://schemas.microsoft.com/office/drawing/2014/main" id="{94EDB7D1-7C44-400F-82F1-55D13FB60AF3}"/>
              </a:ext>
            </a:extLst>
          </p:cNvPr>
          <p:cNvSpPr>
            <a:spLocks xmlns:a="http://schemas.openxmlformats.org/drawingml/2006/main" noGrp="1"/>
          </p:cNvSpPr>
          <p:nvPr/>
        </p:nvSpPr>
        <p:spPr>
          <a:xfrm xmlns:a="http://schemas.openxmlformats.org/drawingml/2006/main">
            <a:off x="9591675"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86E5B6"/>
            </a:solidFill>
            <a:prstDash val="solid"/>
          </a:ln>
        </p:spPr>
      </p:sp>
      <p:sp>
        <p:nvSpPr>
          <p:cNvPr id="21" name="node-label">
            <a:extLst xmlns:a="http://schemas.openxmlformats.org/drawingml/2006/main">
              <a:ext uri="{FF2B5EF4-FFF2-40B4-BE49-F238E27FC236}">
                <a16:creationId xmlns:a16="http://schemas.microsoft.com/office/drawing/2014/main" id="{A3E73CB9-25C7-4DE8-89AE-9225DB89440F}"/>
              </a:ext>
            </a:extLst>
          </p:cNvPr>
          <p:cNvSpPr>
            <a:spLocks xmlns:a="http://schemas.openxmlformats.org/drawingml/2006/main" noGrp="1"/>
          </p:cNvSpPr>
          <p:nvPr/>
        </p:nvSpPr>
        <p:spPr>
          <a:xfrm xmlns:a="http://schemas.openxmlformats.org/drawingml/2006/main">
            <a:off x="9715500"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5F8FC"/>
                </a:solidFill>
              </a:defRPr>
            </a:pPr>
            <a:r>
              <a:rPr sz="1200" b="1">
                <a:solidFill>
                  <a:srgbClr val="F5F8FC"/>
                </a:solidFill>
              </a:rPr>
              <a:t>06  Decide</a:t>
            </a:r>
          </a:p>
        </p:txBody>
      </p:sp>
      <p:sp>
        <p:nvSpPr>
          <p:cNvPr id="22" name="human-gate">
            <a:extLst xmlns:a="http://schemas.openxmlformats.org/drawingml/2006/main">
              <a:ext uri="{FF2B5EF4-FFF2-40B4-BE49-F238E27FC236}">
                <a16:creationId xmlns:a16="http://schemas.microsoft.com/office/drawing/2014/main" id="{C186E4F1-2FB9-4622-8407-777075976A14}"/>
              </a:ext>
            </a:extLst>
          </p:cNvPr>
          <p:cNvSpPr>
            <a:spLocks xmlns:a="http://schemas.openxmlformats.org/drawingml/2006/main" noGrp="1"/>
          </p:cNvSpPr>
          <p:nvPr/>
        </p:nvSpPr>
        <p:spPr>
          <a:xfrm xmlns:a="http://schemas.openxmlformats.org/drawingml/2006/main">
            <a:off x="2533650" y="4667250"/>
            <a:ext cx="7124700" cy="723900"/>
          </a:xfrm>
          <a:prstGeom xmlns:a="http://schemas.openxmlformats.org/drawingml/2006/main" prst="roundRect">
            <a:avLst>
              <a:gd name="adj" fmla="val 15789"/>
            </a:avLst>
          </a:prstGeom>
          <a:solidFill xmlns:a="http://schemas.openxmlformats.org/drawingml/2006/main">
            <a:srgbClr val="102B47"/>
          </a:solidFill>
          <a:ln xmlns:a="http://schemas.openxmlformats.org/drawingml/2006/main" w="9525">
            <a:solidFill>
              <a:srgbClr val="51E5D6"/>
            </a:solidFill>
            <a:prstDash val="solid"/>
          </a:ln>
        </p:spPr>
      </p:sp>
      <p:sp>
        <p:nvSpPr>
          <p:cNvPr id="23" name="gate-text">
            <a:extLst xmlns:a="http://schemas.openxmlformats.org/drawingml/2006/main">
              <a:ext uri="{FF2B5EF4-FFF2-40B4-BE49-F238E27FC236}">
                <a16:creationId xmlns:a16="http://schemas.microsoft.com/office/drawing/2014/main" id="{FE658B94-6054-451D-9A23-F1FC31E8F8F4}"/>
              </a:ext>
            </a:extLst>
          </p:cNvPr>
          <p:cNvSpPr>
            <a:spLocks xmlns:a="http://schemas.openxmlformats.org/drawingml/2006/main" noGrp="1"/>
          </p:cNvSpPr>
          <p:nvPr/>
        </p:nvSpPr>
        <p:spPr>
          <a:xfrm xmlns:a="http://schemas.openxmlformats.org/drawingml/2006/main">
            <a:off x="2800350" y="4905375"/>
            <a:ext cx="6619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THE CONTROL POINT  ·  Analyst confirms visible assumptions before simulation and procurement comparison run.</a:t>
            </a:r>
          </a:p>
        </p:txBody>
      </p:sp>
      <p:sp>
        <p:nvSpPr>
          <p:cNvPr id="24" name="chip">
            <a:extLst xmlns:a="http://schemas.openxmlformats.org/drawingml/2006/main">
              <a:ext uri="{FF2B5EF4-FFF2-40B4-BE49-F238E27FC236}">
                <a16:creationId xmlns:a16="http://schemas.microsoft.com/office/drawing/2014/main" id="{11CA48B7-BA64-4069-AC21-27F2EF6D1444}"/>
              </a:ext>
            </a:extLst>
          </p:cNvPr>
          <p:cNvSpPr>
            <a:spLocks xmlns:a="http://schemas.openxmlformats.org/drawingml/2006/main" noGrp="1"/>
          </p:cNvSpPr>
          <p:nvPr/>
        </p:nvSpPr>
        <p:spPr>
          <a:xfrm xmlns:a="http://schemas.openxmlformats.org/drawingml/2006/main">
            <a:off x="685800" y="5743575"/>
            <a:ext cx="17145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FFC56E"/>
            </a:solidFill>
            <a:prstDash val="solid"/>
          </a:ln>
        </p:spPr>
        <p:txBody>
          <a:bodyPr xmlns:a="http://schemas.openxmlformats.org/drawingml/2006/main"/>
          <a:lstStyle xmlns:a="http://schemas.openxmlformats.org/drawingml/2006/main"/>
          <a:p xmlns:a="http://schemas.openxmlformats.org/drawingml/2006/main">
            <a:pPr>
              <a:defRPr sz="900" b="1">
                <a:solidFill>
                  <a:srgbClr val="FFC56E"/>
                </a:solidFill>
              </a:defRPr>
            </a:pPr>
            <a:r>
              <a:rPr sz="900" b="1">
                <a:solidFill>
                  <a:srgbClr val="FFC56E"/>
                </a:solidFill>
              </a:rPr>
              <a:t>USER-ENTERED SIGNAL</a:t>
            </a:r>
          </a:p>
        </p:txBody>
      </p:sp>
      <p:sp>
        <p:nvSpPr>
          <p:cNvPr id="25" name="chip">
            <a:extLst xmlns:a="http://schemas.openxmlformats.org/drawingml/2006/main">
              <a:ext uri="{FF2B5EF4-FFF2-40B4-BE49-F238E27FC236}">
                <a16:creationId xmlns:a16="http://schemas.microsoft.com/office/drawing/2014/main" id="{FBB34FCB-30C7-44F2-A630-995981275557}"/>
              </a:ext>
            </a:extLst>
          </p:cNvPr>
          <p:cNvSpPr>
            <a:spLocks xmlns:a="http://schemas.openxmlformats.org/drawingml/2006/main" noGrp="1"/>
          </p:cNvSpPr>
          <p:nvPr/>
        </p:nvSpPr>
        <p:spPr>
          <a:xfrm xmlns:a="http://schemas.openxmlformats.org/drawingml/2006/main">
            <a:off x="2571750" y="5743575"/>
            <a:ext cx="17145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66B3FF"/>
            </a:solidFill>
            <a:prstDash val="solid"/>
          </a:ln>
        </p:spPr>
        <p:txBody>
          <a:bodyPr xmlns:a="http://schemas.openxmlformats.org/drawingml/2006/main"/>
          <a:lstStyle xmlns:a="http://schemas.openxmlformats.org/drawingml/2006/main"/>
          <a:p xmlns:a="http://schemas.openxmlformats.org/drawingml/2006/main">
            <a:pPr>
              <a:defRPr sz="900" b="1">
                <a:solidFill>
                  <a:srgbClr val="66B3FF"/>
                </a:solidFill>
              </a:defRPr>
            </a:pPr>
            <a:r>
              <a:rPr sz="900" b="1">
                <a:solidFill>
                  <a:srgbClr val="66B3FF"/>
                </a:solidFill>
              </a:rPr>
              <a:t>SIMULATED SCENARIO</a:t>
            </a:r>
          </a:p>
        </p:txBody>
      </p:sp>
      <p:sp>
        <p:nvSpPr>
          <p:cNvPr id="26" name="chip">
            <a:extLst xmlns:a="http://schemas.openxmlformats.org/drawingml/2006/main">
              <a:ext uri="{FF2B5EF4-FFF2-40B4-BE49-F238E27FC236}">
                <a16:creationId xmlns:a16="http://schemas.microsoft.com/office/drawing/2014/main" id="{3B3EBB29-2D6C-4FCD-B5C0-ABB8B37BDA3B}"/>
              </a:ext>
            </a:extLst>
          </p:cNvPr>
          <p:cNvSpPr>
            <a:spLocks xmlns:a="http://schemas.openxmlformats.org/drawingml/2006/main" noGrp="1"/>
          </p:cNvSpPr>
          <p:nvPr/>
        </p:nvSpPr>
        <p:spPr>
          <a:xfrm xmlns:a="http://schemas.openxmlformats.org/drawingml/2006/main">
            <a:off x="4457700" y="5743575"/>
            <a:ext cx="17145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86E5B6"/>
            </a:solidFill>
            <a:prstDash val="solid"/>
          </a:ln>
        </p:spPr>
        <p:txBody>
          <a:bodyPr xmlns:a="http://schemas.openxmlformats.org/drawingml/2006/main"/>
          <a:lstStyle xmlns:a="http://schemas.openxmlformats.org/drawingml/2006/main"/>
          <a:p xmlns:a="http://schemas.openxmlformats.org/drawingml/2006/main">
            <a:pPr>
              <a:defRPr sz="900" b="1">
                <a:solidFill>
                  <a:srgbClr val="86E5B6"/>
                </a:solidFill>
              </a:defRPr>
            </a:pPr>
            <a:r>
              <a:rPr sz="900" b="1">
                <a:solidFill>
                  <a:srgbClr val="86E5B6"/>
                </a:solidFill>
              </a:rPr>
              <a:t>LOCAL-ONLY DECISION</a:t>
            </a:r>
          </a:p>
        </p:txBody>
      </p:sp>
      <p:sp>
        <p:nvSpPr>
          <p:cNvPr id="27" name="">
            <a:extLst xmlns:a="http://schemas.openxmlformats.org/drawingml/2006/main">
              <a:ext uri="{FF2B5EF4-FFF2-40B4-BE49-F238E27FC236}">
                <a16:creationId xmlns:a16="http://schemas.microsoft.com/office/drawing/2014/main" id="{79E00B94-7C42-41C7-B8FD-31A5C052FEF0}"/>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8" name="footer">
            <a:extLst xmlns:a="http://schemas.openxmlformats.org/drawingml/2006/main">
              <a:ext uri="{FF2B5EF4-FFF2-40B4-BE49-F238E27FC236}">
                <a16:creationId xmlns:a16="http://schemas.microsoft.com/office/drawing/2014/main" id="{14B9B08F-FF3B-4ED4-BB3A-D487A42A684D}"/>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933960167"/>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4" name="eyebrow">
            <a:extLst xmlns:a="http://schemas.openxmlformats.org/drawingml/2006/main">
              <a:ext uri="{FF2B5EF4-FFF2-40B4-BE49-F238E27FC236}">
                <a16:creationId xmlns:a16="http://schemas.microsoft.com/office/drawing/2014/main" id="{4BFBDE99-52F3-4595-A10E-F2FD5391DCEA}"/>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AI ADVANTAGE</a:t>
            </a:r>
          </a:p>
        </p:txBody>
      </p:sp>
      <p:sp>
        <p:nvSpPr>
          <p:cNvPr id="2" name="slide-number">
            <a:extLst xmlns:a="http://schemas.openxmlformats.org/drawingml/2006/main">
              <a:ext uri="{FF2B5EF4-FFF2-40B4-BE49-F238E27FC236}">
                <a16:creationId xmlns:a16="http://schemas.microsoft.com/office/drawing/2014/main" id="{1E90E323-AF39-4F6A-9EB3-3F2C83898ED6}"/>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05</a:t>
            </a:r>
          </a:p>
        </p:txBody>
      </p:sp>
      <p:sp>
        <p:nvSpPr>
          <p:cNvPr id="3" name="title">
            <a:extLst xmlns:a="http://schemas.openxmlformats.org/drawingml/2006/main">
              <a:ext uri="{FF2B5EF4-FFF2-40B4-BE49-F238E27FC236}">
                <a16:creationId xmlns:a16="http://schemas.microsoft.com/office/drawing/2014/main" id="{AA33299A-FA29-45D7-91AA-AE5B78634DE3}"/>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5F8FC"/>
                </a:solidFill>
              </a:defRPr>
            </a:pPr>
            <a:r>
              <a:rPr sz="3150" b="1">
                <a:solidFill>
                  <a:srgbClr val="F5F8FC"/>
                </a:solidFill>
              </a:rPr>
              <a:t>AI earns its place only when it is constrained.</a:t>
            </a:r>
          </a:p>
        </p:txBody>
      </p:sp>
      <p:sp>
        <p:nvSpPr>
          <p:cNvPr id="4" name="subtitle">
            <a:extLst xmlns:a="http://schemas.openxmlformats.org/drawingml/2006/main">
              <a:ext uri="{FF2B5EF4-FFF2-40B4-BE49-F238E27FC236}">
                <a16:creationId xmlns:a16="http://schemas.microsoft.com/office/drawing/2014/main" id="{F6C0BED2-784C-4104-855D-779BDAE4AE3C}"/>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AABFD2"/>
                </a:solidFill>
              </a:defRPr>
            </a:pPr>
            <a:r>
              <a:rPr sz="1500" b="0">
                <a:solidFill>
                  <a:srgbClr val="AABFD2"/>
                </a:solidFill>
              </a:rPr>
              <a:t>Gemini interprets and explains; deterministic models calculate and choose within explicit limits.</a:t>
            </a:r>
          </a:p>
        </p:txBody>
      </p:sp>
      <p:sp>
        <p:nvSpPr>
          <p:cNvPr id="5" name="ai-column">
            <a:extLst xmlns:a="http://schemas.openxmlformats.org/drawingml/2006/main">
              <a:ext uri="{FF2B5EF4-FFF2-40B4-BE49-F238E27FC236}">
                <a16:creationId xmlns:a16="http://schemas.microsoft.com/office/drawing/2014/main" id="{6D9239A3-620C-4664-99F1-EE7EE3454F7C}"/>
              </a:ext>
            </a:extLst>
          </p:cNvPr>
          <p:cNvSpPr>
            <a:spLocks xmlns:a="http://schemas.openxmlformats.org/drawingml/2006/main" noGrp="1"/>
          </p:cNvSpPr>
          <p:nvPr/>
        </p:nvSpPr>
        <p:spPr>
          <a:xfrm xmlns:a="http://schemas.openxmlformats.org/drawingml/2006/main">
            <a:off x="685800" y="2857500"/>
            <a:ext cx="3276600" cy="2362200"/>
          </a:xfrm>
          <a:prstGeom xmlns:a="http://schemas.openxmlformats.org/drawingml/2006/main" prst="roundRect">
            <a:avLst>
              <a:gd name="adj" fmla="val 4839"/>
            </a:avLst>
          </a:prstGeom>
          <a:solidFill xmlns:a="http://schemas.openxmlformats.org/drawingml/2006/main">
            <a:srgbClr val="0D1D31"/>
          </a:solidFill>
          <a:ln xmlns:a="http://schemas.openxmlformats.org/drawingml/2006/main" w="9525">
            <a:solidFill>
              <a:srgbClr val="244563"/>
            </a:solidFill>
            <a:prstDash val="solid"/>
          </a:ln>
        </p:spPr>
      </p:sp>
      <p:sp>
        <p:nvSpPr>
          <p:cNvPr id="6" name="ai-head">
            <a:extLst xmlns:a="http://schemas.openxmlformats.org/drawingml/2006/main">
              <a:ext uri="{FF2B5EF4-FFF2-40B4-BE49-F238E27FC236}">
                <a16:creationId xmlns:a16="http://schemas.microsoft.com/office/drawing/2014/main" id="{16DEE751-1761-4C12-AD52-8BBEE131D1F8}"/>
              </a:ext>
            </a:extLst>
          </p:cNvPr>
          <p:cNvSpPr>
            <a:spLocks xmlns:a="http://schemas.openxmlformats.org/drawingml/2006/main" noGrp="1"/>
          </p:cNvSpPr>
          <p:nvPr/>
        </p:nvSpPr>
        <p:spPr>
          <a:xfrm xmlns:a="http://schemas.openxmlformats.org/drawingml/2006/main">
            <a:off x="914400" y="3124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51E5D6"/>
                </a:solidFill>
              </a:defRPr>
            </a:pPr>
            <a:r>
              <a:rPr sz="1275" b="1">
                <a:solidFill>
                  <a:srgbClr val="51E5D6"/>
                </a:solidFill>
              </a:rPr>
              <a:t>Gemini</a:t>
            </a:r>
          </a:p>
        </p:txBody>
      </p:sp>
      <p:sp>
        <p:nvSpPr>
          <p:cNvPr id="7" name="ai-verb">
            <a:extLst xmlns:a="http://schemas.openxmlformats.org/drawingml/2006/main">
              <a:ext uri="{FF2B5EF4-FFF2-40B4-BE49-F238E27FC236}">
                <a16:creationId xmlns:a16="http://schemas.microsoft.com/office/drawing/2014/main" id="{0F4DA63C-85A0-4A13-9885-3D183CA0E5C6}"/>
              </a:ext>
            </a:extLst>
          </p:cNvPr>
          <p:cNvSpPr>
            <a:spLocks xmlns:a="http://schemas.openxmlformats.org/drawingml/2006/main" noGrp="1"/>
          </p:cNvSpPr>
          <p:nvPr/>
        </p:nvSpPr>
        <p:spPr>
          <a:xfrm xmlns:a="http://schemas.openxmlformats.org/drawingml/2006/main">
            <a:off x="914400" y="35242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5F8FC"/>
                </a:solidFill>
              </a:defRPr>
            </a:pPr>
            <a:r>
              <a:rPr sz="1725" b="1">
                <a:solidFill>
                  <a:srgbClr val="F5F8FC"/>
                </a:solidFill>
              </a:rPr>
              <a:t>STRUCTURES</a:t>
            </a:r>
          </a:p>
          <a:p xmlns:a="http://schemas.openxmlformats.org/drawingml/2006/main">
            <a:pPr>
              <a:defRPr sz="1725" b="1">
                <a:solidFill>
                  <a:srgbClr val="F5F8FC"/>
                </a:solidFill>
              </a:defRPr>
            </a:pPr>
            <a:r>
              <a:rPr sz="1725" b="1">
                <a:solidFill>
                  <a:srgbClr val="F5F8FC"/>
                </a:solidFill>
              </a:rPr>
              <a:t>A SIGNAL</a:t>
            </a:r>
          </a:p>
        </p:txBody>
      </p:sp>
      <p:sp>
        <p:nvSpPr>
          <p:cNvPr id="8" name="">
            <a:extLst xmlns:a="http://schemas.openxmlformats.org/drawingml/2006/main">
              <a:ext uri="{FF2B5EF4-FFF2-40B4-BE49-F238E27FC236}">
                <a16:creationId xmlns:a16="http://schemas.microsoft.com/office/drawing/2014/main" id="{97FA37C2-611A-4AD6-BCB2-34692C45ECF6}"/>
              </a:ext>
            </a:extLst>
          </p:cNvPr>
          <p:cNvSpPr>
            <a:spLocks xmlns:a="http://schemas.openxmlformats.org/drawingml/2006/main" noGrp="1"/>
          </p:cNvSpPr>
          <p:nvPr/>
        </p:nvSpPr>
        <p:spPr>
          <a:xfrm xmlns:a="http://schemas.openxmlformats.org/drawingml/2006/main">
            <a:off x="914400" y="4248150"/>
            <a:ext cx="2819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9" name="ai-body">
            <a:extLst xmlns:a="http://schemas.openxmlformats.org/drawingml/2006/main">
              <a:ext uri="{FF2B5EF4-FFF2-40B4-BE49-F238E27FC236}">
                <a16:creationId xmlns:a16="http://schemas.microsoft.com/office/drawing/2014/main" id="{DBBB5B36-A8FA-48F5-BF99-35D3BBB61577}"/>
              </a:ext>
            </a:extLst>
          </p:cNvPr>
          <p:cNvSpPr>
            <a:spLocks xmlns:a="http://schemas.openxmlformats.org/drawingml/2006/main" noGrp="1"/>
          </p:cNvSpPr>
          <p:nvPr/>
        </p:nvSpPr>
        <p:spPr>
          <a:xfrm xmlns:a="http://schemas.openxmlformats.org/drawingml/2006/main">
            <a:off x="914400" y="4438650"/>
            <a:ext cx="276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AABFD2"/>
                </a:solidFill>
              </a:defRPr>
            </a:pPr>
            <a:r>
              <a:rPr sz="1200" b="0">
                <a:solidFill>
                  <a:srgbClr val="AABFD2"/>
                </a:solidFill>
              </a:rPr>
              <a:t>Schema-validated proposal</a:t>
            </a:r>
          </a:p>
          <a:p xmlns:a="http://schemas.openxmlformats.org/drawingml/2006/main">
            <a:pPr>
              <a:defRPr sz="1200" b="0">
                <a:solidFill>
                  <a:srgbClr val="AABFD2"/>
                </a:solidFill>
              </a:defRPr>
            </a:pPr>
            <a:r>
              <a:rPr sz="1200" b="0">
                <a:solidFill>
                  <a:srgbClr val="AABFD2"/>
                </a:solidFill>
              </a:rPr>
              <a:t>Confidence and uncertainty disclosed</a:t>
            </a:r>
          </a:p>
        </p:txBody>
      </p:sp>
      <p:sp>
        <p:nvSpPr>
          <p:cNvPr id="10" name="ai-column">
            <a:extLst xmlns:a="http://schemas.openxmlformats.org/drawingml/2006/main">
              <a:ext uri="{FF2B5EF4-FFF2-40B4-BE49-F238E27FC236}">
                <a16:creationId xmlns:a16="http://schemas.microsoft.com/office/drawing/2014/main" id="{D64A6178-B27E-48CE-85BD-D1CD07F04577}"/>
              </a:ext>
            </a:extLst>
          </p:cNvPr>
          <p:cNvSpPr>
            <a:spLocks xmlns:a="http://schemas.openxmlformats.org/drawingml/2006/main" noGrp="1"/>
          </p:cNvSpPr>
          <p:nvPr/>
        </p:nvSpPr>
        <p:spPr>
          <a:xfrm xmlns:a="http://schemas.openxmlformats.org/drawingml/2006/main">
            <a:off x="4305300" y="2857500"/>
            <a:ext cx="3276600" cy="2362200"/>
          </a:xfrm>
          <a:prstGeom xmlns:a="http://schemas.openxmlformats.org/drawingml/2006/main" prst="roundRect">
            <a:avLst>
              <a:gd name="adj" fmla="val 4839"/>
            </a:avLst>
          </a:prstGeom>
          <a:solidFill xmlns:a="http://schemas.openxmlformats.org/drawingml/2006/main">
            <a:srgbClr val="0D1D31"/>
          </a:solidFill>
          <a:ln xmlns:a="http://schemas.openxmlformats.org/drawingml/2006/main" w="9525">
            <a:solidFill>
              <a:srgbClr val="244563"/>
            </a:solidFill>
            <a:prstDash val="solid"/>
          </a:ln>
        </p:spPr>
      </p:sp>
      <p:sp>
        <p:nvSpPr>
          <p:cNvPr id="11" name="ai-head">
            <a:extLst xmlns:a="http://schemas.openxmlformats.org/drawingml/2006/main">
              <a:ext uri="{FF2B5EF4-FFF2-40B4-BE49-F238E27FC236}">
                <a16:creationId xmlns:a16="http://schemas.microsoft.com/office/drawing/2014/main" id="{5835C952-5935-43B4-9156-0AE2030B0C84}"/>
              </a:ext>
            </a:extLst>
          </p:cNvPr>
          <p:cNvSpPr>
            <a:spLocks xmlns:a="http://schemas.openxmlformats.org/drawingml/2006/main" noGrp="1"/>
          </p:cNvSpPr>
          <p:nvPr/>
        </p:nvSpPr>
        <p:spPr>
          <a:xfrm xmlns:a="http://schemas.openxmlformats.org/drawingml/2006/main">
            <a:off x="4533900" y="3124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FC56E"/>
                </a:solidFill>
              </a:defRPr>
            </a:pPr>
            <a:r>
              <a:rPr sz="1275" b="1">
                <a:solidFill>
                  <a:srgbClr val="FFC56E"/>
                </a:solidFill>
              </a:rPr>
              <a:t>Risk + scenario</a:t>
            </a:r>
          </a:p>
        </p:txBody>
      </p:sp>
      <p:sp>
        <p:nvSpPr>
          <p:cNvPr id="12" name="ai-verb">
            <a:extLst xmlns:a="http://schemas.openxmlformats.org/drawingml/2006/main">
              <a:ext uri="{FF2B5EF4-FFF2-40B4-BE49-F238E27FC236}">
                <a16:creationId xmlns:a16="http://schemas.microsoft.com/office/drawing/2014/main" id="{76BB8E5C-675B-40C9-AACD-E87C750C4100}"/>
              </a:ext>
            </a:extLst>
          </p:cNvPr>
          <p:cNvSpPr>
            <a:spLocks xmlns:a="http://schemas.openxmlformats.org/drawingml/2006/main" noGrp="1"/>
          </p:cNvSpPr>
          <p:nvPr/>
        </p:nvSpPr>
        <p:spPr>
          <a:xfrm xmlns:a="http://schemas.openxmlformats.org/drawingml/2006/main">
            <a:off x="4533900" y="35242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5F8FC"/>
                </a:solidFill>
              </a:defRPr>
            </a:pPr>
            <a:r>
              <a:rPr sz="1725" b="1">
                <a:solidFill>
                  <a:srgbClr val="F5F8FC"/>
                </a:solidFill>
              </a:rPr>
              <a:t>QUANTIFIES</a:t>
            </a:r>
          </a:p>
          <a:p xmlns:a="http://schemas.openxmlformats.org/drawingml/2006/main">
            <a:pPr>
              <a:defRPr sz="1725" b="1">
                <a:solidFill>
                  <a:srgbClr val="F5F8FC"/>
                </a:solidFill>
              </a:defRPr>
            </a:pPr>
            <a:r>
              <a:rPr sz="1725" b="1">
                <a:solidFill>
                  <a:srgbClr val="F5F8FC"/>
                </a:solidFill>
              </a:rPr>
              <a:t>EXPOSURE</a:t>
            </a:r>
          </a:p>
        </p:txBody>
      </p:sp>
      <p:sp>
        <p:nvSpPr>
          <p:cNvPr id="13" name="">
            <a:extLst xmlns:a="http://schemas.openxmlformats.org/drawingml/2006/main">
              <a:ext uri="{FF2B5EF4-FFF2-40B4-BE49-F238E27FC236}">
                <a16:creationId xmlns:a16="http://schemas.microsoft.com/office/drawing/2014/main" id="{E68C27F1-93AD-41B4-BDE9-5354CD1D10A3}"/>
              </a:ext>
            </a:extLst>
          </p:cNvPr>
          <p:cNvSpPr>
            <a:spLocks xmlns:a="http://schemas.openxmlformats.org/drawingml/2006/main" noGrp="1"/>
          </p:cNvSpPr>
          <p:nvPr/>
        </p:nvSpPr>
        <p:spPr>
          <a:xfrm xmlns:a="http://schemas.openxmlformats.org/drawingml/2006/main">
            <a:off x="4533900" y="4248150"/>
            <a:ext cx="2819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4" name="ai-body">
            <a:extLst xmlns:a="http://schemas.openxmlformats.org/drawingml/2006/main">
              <a:ext uri="{FF2B5EF4-FFF2-40B4-BE49-F238E27FC236}">
                <a16:creationId xmlns:a16="http://schemas.microsoft.com/office/drawing/2014/main" id="{D801E093-8485-442B-9404-72A14929DE41}"/>
              </a:ext>
            </a:extLst>
          </p:cNvPr>
          <p:cNvSpPr>
            <a:spLocks xmlns:a="http://schemas.openxmlformats.org/drawingml/2006/main" noGrp="1"/>
          </p:cNvSpPr>
          <p:nvPr/>
        </p:nvSpPr>
        <p:spPr>
          <a:xfrm xmlns:a="http://schemas.openxmlformats.org/drawingml/2006/main">
            <a:off x="4533900" y="4438650"/>
            <a:ext cx="276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AABFD2"/>
                </a:solidFill>
              </a:defRPr>
            </a:pPr>
            <a:r>
              <a:rPr sz="1200" b="0">
                <a:solidFill>
                  <a:srgbClr val="AABFD2"/>
                </a:solidFill>
              </a:rPr>
              <a:t>Deterministic corridor score</a:t>
            </a:r>
          </a:p>
          <a:p xmlns:a="http://schemas.openxmlformats.org/drawingml/2006/main">
            <a:pPr>
              <a:defRPr sz="1200" b="0">
                <a:solidFill>
                  <a:srgbClr val="AABFD2"/>
                </a:solidFill>
              </a:defRPr>
            </a:pPr>
            <a:r>
              <a:rPr sz="1200" b="0">
                <a:solidFill>
                  <a:srgbClr val="AABFD2"/>
                </a:solidFill>
              </a:rPr>
              <a:t>Reproducible Monte Carlo ranges</a:t>
            </a:r>
          </a:p>
        </p:txBody>
      </p:sp>
      <p:sp>
        <p:nvSpPr>
          <p:cNvPr id="15" name="ai-column">
            <a:extLst xmlns:a="http://schemas.openxmlformats.org/drawingml/2006/main">
              <a:ext uri="{FF2B5EF4-FFF2-40B4-BE49-F238E27FC236}">
                <a16:creationId xmlns:a16="http://schemas.microsoft.com/office/drawing/2014/main" id="{B0D082B4-4713-474A-AA94-C6DA436895AA}"/>
              </a:ext>
            </a:extLst>
          </p:cNvPr>
          <p:cNvSpPr>
            <a:spLocks xmlns:a="http://schemas.openxmlformats.org/drawingml/2006/main" noGrp="1"/>
          </p:cNvSpPr>
          <p:nvPr/>
        </p:nvSpPr>
        <p:spPr>
          <a:xfrm xmlns:a="http://schemas.openxmlformats.org/drawingml/2006/main">
            <a:off x="7924800" y="2857500"/>
            <a:ext cx="3276600" cy="2362200"/>
          </a:xfrm>
          <a:prstGeom xmlns:a="http://schemas.openxmlformats.org/drawingml/2006/main" prst="roundRect">
            <a:avLst>
              <a:gd name="adj" fmla="val 4839"/>
            </a:avLst>
          </a:prstGeom>
          <a:solidFill xmlns:a="http://schemas.openxmlformats.org/drawingml/2006/main">
            <a:srgbClr val="0D1D31"/>
          </a:solidFill>
          <a:ln xmlns:a="http://schemas.openxmlformats.org/drawingml/2006/main" w="9525">
            <a:solidFill>
              <a:srgbClr val="244563"/>
            </a:solidFill>
            <a:prstDash val="solid"/>
          </a:ln>
        </p:spPr>
      </p:sp>
      <p:sp>
        <p:nvSpPr>
          <p:cNvPr id="16" name="ai-head">
            <a:extLst xmlns:a="http://schemas.openxmlformats.org/drawingml/2006/main">
              <a:ext uri="{FF2B5EF4-FFF2-40B4-BE49-F238E27FC236}">
                <a16:creationId xmlns:a16="http://schemas.microsoft.com/office/drawing/2014/main" id="{667B5A35-12FA-41F6-9768-7EA7F3FEC2B0}"/>
              </a:ext>
            </a:extLst>
          </p:cNvPr>
          <p:cNvSpPr>
            <a:spLocks xmlns:a="http://schemas.openxmlformats.org/drawingml/2006/main" noGrp="1"/>
          </p:cNvSpPr>
          <p:nvPr/>
        </p:nvSpPr>
        <p:spPr>
          <a:xfrm xmlns:a="http://schemas.openxmlformats.org/drawingml/2006/main">
            <a:off x="8153400" y="3124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66B3FF"/>
                </a:solidFill>
              </a:defRPr>
            </a:pPr>
            <a:r>
              <a:rPr sz="1275" b="1">
                <a:solidFill>
                  <a:srgbClr val="66B3FF"/>
                </a:solidFill>
              </a:rPr>
              <a:t>Optimizer</a:t>
            </a:r>
          </a:p>
        </p:txBody>
      </p:sp>
      <p:sp>
        <p:nvSpPr>
          <p:cNvPr id="17" name="ai-verb">
            <a:extLst xmlns:a="http://schemas.openxmlformats.org/drawingml/2006/main">
              <a:ext uri="{FF2B5EF4-FFF2-40B4-BE49-F238E27FC236}">
                <a16:creationId xmlns:a16="http://schemas.microsoft.com/office/drawing/2014/main" id="{63280024-EB19-4B8A-ADB8-ACC9B5380D71}"/>
              </a:ext>
            </a:extLst>
          </p:cNvPr>
          <p:cNvSpPr>
            <a:spLocks xmlns:a="http://schemas.openxmlformats.org/drawingml/2006/main" noGrp="1"/>
          </p:cNvSpPr>
          <p:nvPr/>
        </p:nvSpPr>
        <p:spPr>
          <a:xfrm xmlns:a="http://schemas.openxmlformats.org/drawingml/2006/main">
            <a:off x="8153400" y="35242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5F8FC"/>
                </a:solidFill>
              </a:defRPr>
            </a:pPr>
            <a:r>
              <a:rPr sz="1725" b="1">
                <a:solidFill>
                  <a:srgbClr val="F5F8FC"/>
                </a:solidFill>
              </a:rPr>
              <a:t>FINDS</a:t>
            </a:r>
          </a:p>
          <a:p xmlns:a="http://schemas.openxmlformats.org/drawingml/2006/main">
            <a:pPr>
              <a:defRPr sz="1725" b="1">
                <a:solidFill>
                  <a:srgbClr val="F5F8FC"/>
                </a:solidFill>
              </a:defRPr>
            </a:pPr>
            <a:r>
              <a:rPr sz="1725" b="1">
                <a:solidFill>
                  <a:srgbClr val="F5F8FC"/>
                </a:solidFill>
              </a:rPr>
              <a:t>FEASIBLE OPTIONS</a:t>
            </a:r>
          </a:p>
        </p:txBody>
      </p:sp>
      <p:sp>
        <p:nvSpPr>
          <p:cNvPr id="18" name="">
            <a:extLst xmlns:a="http://schemas.openxmlformats.org/drawingml/2006/main">
              <a:ext uri="{FF2B5EF4-FFF2-40B4-BE49-F238E27FC236}">
                <a16:creationId xmlns:a16="http://schemas.microsoft.com/office/drawing/2014/main" id="{D04A27AF-9F99-4A32-A4C2-F1B0B7ED4121}"/>
              </a:ext>
            </a:extLst>
          </p:cNvPr>
          <p:cNvSpPr>
            <a:spLocks xmlns:a="http://schemas.openxmlformats.org/drawingml/2006/main" noGrp="1"/>
          </p:cNvSpPr>
          <p:nvPr/>
        </p:nvSpPr>
        <p:spPr>
          <a:xfrm xmlns:a="http://schemas.openxmlformats.org/drawingml/2006/main">
            <a:off x="8153400" y="4248150"/>
            <a:ext cx="2819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9" name="ai-body">
            <a:extLst xmlns:a="http://schemas.openxmlformats.org/drawingml/2006/main">
              <a:ext uri="{FF2B5EF4-FFF2-40B4-BE49-F238E27FC236}">
                <a16:creationId xmlns:a16="http://schemas.microsoft.com/office/drawing/2014/main" id="{7CBF65F5-59F8-4C5A-9ED4-472B8D145E61}"/>
              </a:ext>
            </a:extLst>
          </p:cNvPr>
          <p:cNvSpPr>
            <a:spLocks xmlns:a="http://schemas.openxmlformats.org/drawingml/2006/main" noGrp="1"/>
          </p:cNvSpPr>
          <p:nvPr/>
        </p:nvSpPr>
        <p:spPr>
          <a:xfrm xmlns:a="http://schemas.openxmlformats.org/drawingml/2006/main">
            <a:off x="8153400" y="4438650"/>
            <a:ext cx="276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AABFD2"/>
                </a:solidFill>
              </a:defRPr>
            </a:pPr>
            <a:r>
              <a:rPr sz="1200" b="0">
                <a:solidFill>
                  <a:srgbClr val="AABFD2"/>
                </a:solidFill>
              </a:rPr>
              <a:t>OR-Tools allocation with</a:t>
            </a:r>
          </a:p>
          <a:p xmlns:a="http://schemas.openxmlformats.org/drawingml/2006/main">
            <a:pPr>
              <a:defRPr sz="1200" b="0">
                <a:solidFill>
                  <a:srgbClr val="AABFD2"/>
                </a:solidFill>
              </a:defRPr>
            </a:pPr>
            <a:r>
              <a:rPr sz="1200" b="0">
                <a:solidFill>
                  <a:srgbClr val="AABFD2"/>
                </a:solidFill>
              </a:rPr>
              <a:t>compatibility and capacity constraints</a:t>
            </a:r>
          </a:p>
        </p:txBody>
      </p:sp>
      <p:sp>
        <p:nvSpPr>
          <p:cNvPr id="20" name="no-blackbox">
            <a:extLst xmlns:a="http://schemas.openxmlformats.org/drawingml/2006/main">
              <a:ext uri="{FF2B5EF4-FFF2-40B4-BE49-F238E27FC236}">
                <a16:creationId xmlns:a16="http://schemas.microsoft.com/office/drawing/2014/main" id="{86CD651F-A6A8-4F3E-9A35-21EB89EB44A0}"/>
              </a:ext>
            </a:extLst>
          </p:cNvPr>
          <p:cNvSpPr>
            <a:spLocks xmlns:a="http://schemas.openxmlformats.org/drawingml/2006/main" noGrp="1"/>
          </p:cNvSpPr>
          <p:nvPr/>
        </p:nvSpPr>
        <p:spPr>
          <a:xfrm xmlns:a="http://schemas.openxmlformats.org/drawingml/2006/main">
            <a:off x="685800" y="5619750"/>
            <a:ext cx="10820400" cy="514350"/>
          </a:xfrm>
          <a:prstGeom xmlns:a="http://schemas.openxmlformats.org/drawingml/2006/main" prst="roundRect">
            <a:avLst>
              <a:gd name="adj" fmla="val 22222"/>
            </a:avLst>
          </a:prstGeom>
          <a:solidFill xmlns:a="http://schemas.openxmlformats.org/drawingml/2006/main">
            <a:srgbClr val="1A2633"/>
          </a:solidFill>
          <a:ln xmlns:a="http://schemas.openxmlformats.org/drawingml/2006/main" w="9525">
            <a:solidFill>
              <a:srgbClr val="244563"/>
            </a:solidFill>
            <a:prstDash val="solid"/>
          </a:ln>
        </p:spPr>
      </p:sp>
      <p:sp>
        <p:nvSpPr>
          <p:cNvPr id="21" name="no-blackbox-copy">
            <a:extLst xmlns:a="http://schemas.openxmlformats.org/drawingml/2006/main">
              <a:ext uri="{FF2B5EF4-FFF2-40B4-BE49-F238E27FC236}">
                <a16:creationId xmlns:a16="http://schemas.microsoft.com/office/drawing/2014/main" id="{D19BB99B-A148-4EEC-85B9-81D08D5E9FD3}"/>
              </a:ext>
            </a:extLst>
          </p:cNvPr>
          <p:cNvSpPr>
            <a:spLocks xmlns:a="http://schemas.openxmlformats.org/drawingml/2006/main" noGrp="1"/>
          </p:cNvSpPr>
          <p:nvPr/>
        </p:nvSpPr>
        <p:spPr>
          <a:xfrm xmlns:a="http://schemas.openxmlformats.org/drawingml/2006/main">
            <a:off x="914400" y="577215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5F8FC"/>
                </a:solidFill>
              </a:defRPr>
            </a:pPr>
            <a:r>
              <a:rPr sz="1350" b="1">
                <a:solidFill>
                  <a:srgbClr val="F5F8FC"/>
                </a:solidFill>
              </a:rPr>
              <a:t>Never delegated to AI: prices, capacity, legal status, commercial availability, or approval.</a:t>
            </a:r>
          </a:p>
        </p:txBody>
      </p:sp>
      <p:sp>
        <p:nvSpPr>
          <p:cNvPr id="22" name="">
            <a:extLst xmlns:a="http://schemas.openxmlformats.org/drawingml/2006/main">
              <a:ext uri="{FF2B5EF4-FFF2-40B4-BE49-F238E27FC236}">
                <a16:creationId xmlns:a16="http://schemas.microsoft.com/office/drawing/2014/main" id="{F0590152-E05E-4677-8A85-D2D360B51D3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3" name="footer">
            <a:extLst xmlns:a="http://schemas.openxmlformats.org/drawingml/2006/main">
              <a:ext uri="{FF2B5EF4-FFF2-40B4-BE49-F238E27FC236}">
                <a16:creationId xmlns:a16="http://schemas.microsoft.com/office/drawing/2014/main" id="{C43AA311-8702-4F65-A1A5-2661869754D1}"/>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65946312"/>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5" name="eyebrow">
            <a:extLst xmlns:a="http://schemas.openxmlformats.org/drawingml/2006/main">
              <a:ext uri="{FF2B5EF4-FFF2-40B4-BE49-F238E27FC236}">
                <a16:creationId xmlns:a16="http://schemas.microsoft.com/office/drawing/2014/main" id="{8C3978EE-334C-43D4-9C4A-2E3E7955ED06}"/>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DEMO STORY · CANONICAL SIMULATED CASE</a:t>
            </a:r>
          </a:p>
        </p:txBody>
      </p:sp>
      <p:sp>
        <p:nvSpPr>
          <p:cNvPr id="2" name="slide-number">
            <a:extLst xmlns:a="http://schemas.openxmlformats.org/drawingml/2006/main">
              <a:ext uri="{FF2B5EF4-FFF2-40B4-BE49-F238E27FC236}">
                <a16:creationId xmlns:a16="http://schemas.microsoft.com/office/drawing/2014/main" id="{395D830D-1520-4A0A-A9BF-40F8B7958A79}"/>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06</a:t>
            </a:r>
          </a:p>
        </p:txBody>
      </p:sp>
      <p:sp>
        <p:nvSpPr>
          <p:cNvPr id="3" name="title">
            <a:extLst xmlns:a="http://schemas.openxmlformats.org/drawingml/2006/main">
              <a:ext uri="{FF2B5EF4-FFF2-40B4-BE49-F238E27FC236}">
                <a16:creationId xmlns:a16="http://schemas.microsoft.com/office/drawing/2014/main" id="{6860A3BD-E160-4A44-AD96-4C85996A6977}"/>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5F8FC"/>
                </a:solidFill>
              </a:defRPr>
            </a:pPr>
            <a:r>
              <a:rPr sz="3150" b="1">
                <a:solidFill>
                  <a:srgbClr val="F5F8FC"/>
                </a:solidFill>
              </a:rPr>
              <a:t>A Hormuz signal becomes an action path.</a:t>
            </a:r>
          </a:p>
        </p:txBody>
      </p:sp>
      <p:sp>
        <p:nvSpPr>
          <p:cNvPr id="4" name="subtitle">
            <a:extLst xmlns:a="http://schemas.openxmlformats.org/drawingml/2006/main">
              <a:ext uri="{FF2B5EF4-FFF2-40B4-BE49-F238E27FC236}">
                <a16:creationId xmlns:a16="http://schemas.microsoft.com/office/drawing/2014/main" id="{70D1906D-A25A-4D3A-8885-D6F31E43E225}"/>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AABFD2"/>
                </a:solidFill>
              </a:defRPr>
            </a:pPr>
            <a:r>
              <a:rPr sz="1500" b="0">
                <a:solidFill>
                  <a:srgbClr val="AABFD2"/>
                </a:solidFill>
              </a:rPr>
              <a:t>The numbers below are explicitly simulated fixture outputs—not live market claims.</a:t>
            </a:r>
          </a:p>
        </p:txBody>
      </p:sp>
      <p:sp>
        <p:nvSpPr>
          <p:cNvPr id="5" name="demo-ring">
            <a:extLst xmlns:a="http://schemas.openxmlformats.org/drawingml/2006/main">
              <a:ext uri="{FF2B5EF4-FFF2-40B4-BE49-F238E27FC236}">
                <a16:creationId xmlns:a16="http://schemas.microsoft.com/office/drawing/2014/main" id="{41E26AE5-FAA5-46FE-8F09-BBEEB03194BF}"/>
              </a:ext>
            </a:extLst>
          </p:cNvPr>
          <p:cNvSpPr>
            <a:spLocks xmlns:a="http://schemas.openxmlformats.org/drawingml/2006/main" noGrp="1"/>
          </p:cNvSpPr>
          <p:nvPr/>
        </p:nvSpPr>
        <p:spPr>
          <a:xfrm xmlns:a="http://schemas.openxmlformats.org/drawingml/2006/main">
            <a:off x="1409700"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F58D95"/>
            </a:solidFill>
            <a:prstDash val="solid"/>
          </a:ln>
        </p:spPr>
      </p:sp>
      <p:sp>
        <p:nvSpPr>
          <p:cNvPr id="6" name="demo-number">
            <a:extLst xmlns:a="http://schemas.openxmlformats.org/drawingml/2006/main">
              <a:ext uri="{FF2B5EF4-FFF2-40B4-BE49-F238E27FC236}">
                <a16:creationId xmlns:a16="http://schemas.microsoft.com/office/drawing/2014/main" id="{670A77B4-04CC-4609-9CDA-66409C5F5AB2}"/>
              </a:ext>
            </a:extLst>
          </p:cNvPr>
          <p:cNvSpPr>
            <a:spLocks xmlns:a="http://schemas.openxmlformats.org/drawingml/2006/main" noGrp="1"/>
          </p:cNvSpPr>
          <p:nvPr/>
        </p:nvSpPr>
        <p:spPr>
          <a:xfrm xmlns:a="http://schemas.openxmlformats.org/drawingml/2006/main">
            <a:off x="1638300"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58D95"/>
                </a:solidFill>
              </a:defRPr>
            </a:pPr>
            <a:r>
              <a:rPr sz="1425" b="1">
                <a:solidFill>
                  <a:srgbClr val="F58D95"/>
                </a:solidFill>
              </a:rPr>
              <a:t>1</a:t>
            </a:r>
          </a:p>
        </p:txBody>
      </p:sp>
      <p:sp>
        <p:nvSpPr>
          <p:cNvPr id="7" name="">
            <a:extLst xmlns:a="http://schemas.openxmlformats.org/drawingml/2006/main">
              <a:ext uri="{FF2B5EF4-FFF2-40B4-BE49-F238E27FC236}">
                <a16:creationId xmlns:a16="http://schemas.microsoft.com/office/drawing/2014/main" id="{ABFC62FF-9FF1-440A-8471-03337A49EFE6}"/>
              </a:ext>
            </a:extLst>
          </p:cNvPr>
          <p:cNvSpPr>
            <a:spLocks xmlns:a="http://schemas.openxmlformats.org/drawingml/2006/main" noGrp="1"/>
          </p:cNvSpPr>
          <p:nvPr/>
        </p:nvSpPr>
        <p:spPr>
          <a:xfrm xmlns:a="http://schemas.openxmlformats.org/drawingml/2006/main">
            <a:off x="2085975" y="3286125"/>
            <a:ext cx="76200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8" name="demo-head">
            <a:extLst xmlns:a="http://schemas.openxmlformats.org/drawingml/2006/main">
              <a:ext uri="{FF2B5EF4-FFF2-40B4-BE49-F238E27FC236}">
                <a16:creationId xmlns:a16="http://schemas.microsoft.com/office/drawing/2014/main" id="{C1469893-5510-4F45-8A73-49823B2B0FAD}"/>
              </a:ext>
            </a:extLst>
          </p:cNvPr>
          <p:cNvSpPr>
            <a:spLocks xmlns:a="http://schemas.openxmlformats.org/drawingml/2006/main" noGrp="1"/>
          </p:cNvSpPr>
          <p:nvPr/>
        </p:nvSpPr>
        <p:spPr>
          <a:xfrm xmlns:a="http://schemas.openxmlformats.org/drawingml/2006/main">
            <a:off x="704850"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Signal detected</a:t>
            </a:r>
          </a:p>
        </p:txBody>
      </p:sp>
      <p:sp>
        <p:nvSpPr>
          <p:cNvPr id="9" name="demo-body">
            <a:extLst xmlns:a="http://schemas.openxmlformats.org/drawingml/2006/main">
              <a:ext uri="{FF2B5EF4-FFF2-40B4-BE49-F238E27FC236}">
                <a16:creationId xmlns:a16="http://schemas.microsoft.com/office/drawing/2014/main" id="{57F714C5-D1C2-4EDD-81BF-FDE465015E64}"/>
              </a:ext>
            </a:extLst>
          </p:cNvPr>
          <p:cNvSpPr>
            <a:spLocks xmlns:a="http://schemas.openxmlformats.org/drawingml/2006/main" noGrp="1"/>
          </p:cNvSpPr>
          <p:nvPr/>
        </p:nvSpPr>
        <p:spPr>
          <a:xfrm xmlns:a="http://schemas.openxmlformats.org/drawingml/2006/main">
            <a:off x="704850"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Shipping / insurance cues near Hormuz</a:t>
            </a:r>
          </a:p>
        </p:txBody>
      </p:sp>
      <p:sp>
        <p:nvSpPr>
          <p:cNvPr id="10" name="demo-ring">
            <a:extLst xmlns:a="http://schemas.openxmlformats.org/drawingml/2006/main">
              <a:ext uri="{FF2B5EF4-FFF2-40B4-BE49-F238E27FC236}">
                <a16:creationId xmlns:a16="http://schemas.microsoft.com/office/drawing/2014/main" id="{6AE29A73-1FD9-4002-BCFE-94E2E260FE90}"/>
              </a:ext>
            </a:extLst>
          </p:cNvPr>
          <p:cNvSpPr>
            <a:spLocks xmlns:a="http://schemas.openxmlformats.org/drawingml/2006/main" noGrp="1"/>
          </p:cNvSpPr>
          <p:nvPr/>
        </p:nvSpPr>
        <p:spPr>
          <a:xfrm xmlns:a="http://schemas.openxmlformats.org/drawingml/2006/main">
            <a:off x="3571875"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FFC56E"/>
            </a:solidFill>
            <a:prstDash val="solid"/>
          </a:ln>
        </p:spPr>
      </p:sp>
      <p:sp>
        <p:nvSpPr>
          <p:cNvPr id="11" name="demo-number">
            <a:extLst xmlns:a="http://schemas.openxmlformats.org/drawingml/2006/main">
              <a:ext uri="{FF2B5EF4-FFF2-40B4-BE49-F238E27FC236}">
                <a16:creationId xmlns:a16="http://schemas.microsoft.com/office/drawing/2014/main" id="{988DCA29-F3C7-4EEF-9F2B-435071CA6F75}"/>
              </a:ext>
            </a:extLst>
          </p:cNvPr>
          <p:cNvSpPr>
            <a:spLocks xmlns:a="http://schemas.openxmlformats.org/drawingml/2006/main" noGrp="1"/>
          </p:cNvSpPr>
          <p:nvPr/>
        </p:nvSpPr>
        <p:spPr>
          <a:xfrm xmlns:a="http://schemas.openxmlformats.org/drawingml/2006/main">
            <a:off x="3800475"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C56E"/>
                </a:solidFill>
              </a:defRPr>
            </a:pPr>
            <a:r>
              <a:rPr sz="1425" b="1">
                <a:solidFill>
                  <a:srgbClr val="FFC56E"/>
                </a:solidFill>
              </a:rPr>
              <a:t>2</a:t>
            </a:r>
          </a:p>
        </p:txBody>
      </p:sp>
      <p:sp>
        <p:nvSpPr>
          <p:cNvPr id="12" name="">
            <a:extLst xmlns:a="http://schemas.openxmlformats.org/drawingml/2006/main">
              <a:ext uri="{FF2B5EF4-FFF2-40B4-BE49-F238E27FC236}">
                <a16:creationId xmlns:a16="http://schemas.microsoft.com/office/drawing/2014/main" id="{83ECB86C-FB46-48A3-84BC-F17A558824F9}"/>
              </a:ext>
            </a:extLst>
          </p:cNvPr>
          <p:cNvSpPr>
            <a:spLocks xmlns:a="http://schemas.openxmlformats.org/drawingml/2006/main" noGrp="1"/>
          </p:cNvSpPr>
          <p:nvPr/>
        </p:nvSpPr>
        <p:spPr>
          <a:xfrm xmlns:a="http://schemas.openxmlformats.org/drawingml/2006/main">
            <a:off x="4248150" y="3286125"/>
            <a:ext cx="76200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3" name="demo-head">
            <a:extLst xmlns:a="http://schemas.openxmlformats.org/drawingml/2006/main">
              <a:ext uri="{FF2B5EF4-FFF2-40B4-BE49-F238E27FC236}">
                <a16:creationId xmlns:a16="http://schemas.microsoft.com/office/drawing/2014/main" id="{A329C069-FA25-4678-8ADD-D57F4BD88E4D}"/>
              </a:ext>
            </a:extLst>
          </p:cNvPr>
          <p:cNvSpPr>
            <a:spLocks xmlns:a="http://schemas.openxmlformats.org/drawingml/2006/main" noGrp="1"/>
          </p:cNvSpPr>
          <p:nvPr/>
        </p:nvSpPr>
        <p:spPr>
          <a:xfrm xmlns:a="http://schemas.openxmlformats.org/drawingml/2006/main">
            <a:off x="2867025"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Risk identified</a:t>
            </a:r>
          </a:p>
        </p:txBody>
      </p:sp>
      <p:sp>
        <p:nvSpPr>
          <p:cNvPr id="14" name="demo-body">
            <a:extLst xmlns:a="http://schemas.openxmlformats.org/drawingml/2006/main">
              <a:ext uri="{FF2B5EF4-FFF2-40B4-BE49-F238E27FC236}">
                <a16:creationId xmlns:a16="http://schemas.microsoft.com/office/drawing/2014/main" id="{DDE4A97A-752A-44B7-9066-7E971BA5A199}"/>
              </a:ext>
            </a:extLst>
          </p:cNvPr>
          <p:cNvSpPr>
            <a:spLocks xmlns:a="http://schemas.openxmlformats.org/drawingml/2006/main" noGrp="1"/>
          </p:cNvSpPr>
          <p:nvPr/>
        </p:nvSpPr>
        <p:spPr>
          <a:xfrm xmlns:a="http://schemas.openxmlformats.org/drawingml/2006/main">
            <a:off x="2867025"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Persian Gulf → West India · 78/100</a:t>
            </a:r>
          </a:p>
        </p:txBody>
      </p:sp>
      <p:sp>
        <p:nvSpPr>
          <p:cNvPr id="15" name="demo-ring">
            <a:extLst xmlns:a="http://schemas.openxmlformats.org/drawingml/2006/main">
              <a:ext uri="{FF2B5EF4-FFF2-40B4-BE49-F238E27FC236}">
                <a16:creationId xmlns:a16="http://schemas.microsoft.com/office/drawing/2014/main" id="{B1503839-02EB-4A4E-9067-B1963118C7F0}"/>
              </a:ext>
            </a:extLst>
          </p:cNvPr>
          <p:cNvSpPr>
            <a:spLocks xmlns:a="http://schemas.openxmlformats.org/drawingml/2006/main" noGrp="1"/>
          </p:cNvSpPr>
          <p:nvPr/>
        </p:nvSpPr>
        <p:spPr>
          <a:xfrm xmlns:a="http://schemas.openxmlformats.org/drawingml/2006/main">
            <a:off x="5734050"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66B3FF"/>
            </a:solidFill>
            <a:prstDash val="solid"/>
          </a:ln>
        </p:spPr>
      </p:sp>
      <p:sp>
        <p:nvSpPr>
          <p:cNvPr id="16" name="demo-number">
            <a:extLst xmlns:a="http://schemas.openxmlformats.org/drawingml/2006/main">
              <a:ext uri="{FF2B5EF4-FFF2-40B4-BE49-F238E27FC236}">
                <a16:creationId xmlns:a16="http://schemas.microsoft.com/office/drawing/2014/main" id="{D370E9BD-1A88-4E7C-BBF8-E2AE4799F781}"/>
              </a:ext>
            </a:extLst>
          </p:cNvPr>
          <p:cNvSpPr>
            <a:spLocks xmlns:a="http://schemas.openxmlformats.org/drawingml/2006/main" noGrp="1"/>
          </p:cNvSpPr>
          <p:nvPr/>
        </p:nvSpPr>
        <p:spPr>
          <a:xfrm xmlns:a="http://schemas.openxmlformats.org/drawingml/2006/main">
            <a:off x="5962650"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66B3FF"/>
                </a:solidFill>
              </a:defRPr>
            </a:pPr>
            <a:r>
              <a:rPr sz="1425" b="1">
                <a:solidFill>
                  <a:srgbClr val="66B3FF"/>
                </a:solidFill>
              </a:rPr>
              <a:t>3</a:t>
            </a:r>
          </a:p>
        </p:txBody>
      </p:sp>
      <p:sp>
        <p:nvSpPr>
          <p:cNvPr id="17" name="">
            <a:extLst xmlns:a="http://schemas.openxmlformats.org/drawingml/2006/main">
              <a:ext uri="{FF2B5EF4-FFF2-40B4-BE49-F238E27FC236}">
                <a16:creationId xmlns:a16="http://schemas.microsoft.com/office/drawing/2014/main" id="{B772508D-0CB2-45DF-8761-2A4949701C97}"/>
              </a:ext>
            </a:extLst>
          </p:cNvPr>
          <p:cNvSpPr>
            <a:spLocks xmlns:a="http://schemas.openxmlformats.org/drawingml/2006/main" noGrp="1"/>
          </p:cNvSpPr>
          <p:nvPr/>
        </p:nvSpPr>
        <p:spPr>
          <a:xfrm xmlns:a="http://schemas.openxmlformats.org/drawingml/2006/main">
            <a:off x="6410325" y="3286125"/>
            <a:ext cx="76200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8" name="demo-head">
            <a:extLst xmlns:a="http://schemas.openxmlformats.org/drawingml/2006/main">
              <a:ext uri="{FF2B5EF4-FFF2-40B4-BE49-F238E27FC236}">
                <a16:creationId xmlns:a16="http://schemas.microsoft.com/office/drawing/2014/main" id="{6A193FD9-B5DA-44D7-9C18-1A30B1B2347E}"/>
              </a:ext>
            </a:extLst>
          </p:cNvPr>
          <p:cNvSpPr>
            <a:spLocks xmlns:a="http://schemas.openxmlformats.org/drawingml/2006/main" noGrp="1"/>
          </p:cNvSpPr>
          <p:nvPr/>
        </p:nvSpPr>
        <p:spPr>
          <a:xfrm xmlns:a="http://schemas.openxmlformats.org/drawingml/2006/main">
            <a:off x="5029200"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Scenario run</a:t>
            </a:r>
          </a:p>
        </p:txBody>
      </p:sp>
      <p:sp>
        <p:nvSpPr>
          <p:cNvPr id="19" name="demo-body">
            <a:extLst xmlns:a="http://schemas.openxmlformats.org/drawingml/2006/main">
              <a:ext uri="{FF2B5EF4-FFF2-40B4-BE49-F238E27FC236}">
                <a16:creationId xmlns:a16="http://schemas.microsoft.com/office/drawing/2014/main" id="{503C5405-3E60-4E1B-8201-2AC0518D2B13}"/>
              </a:ext>
            </a:extLst>
          </p:cNvPr>
          <p:cNvSpPr>
            <a:spLocks xmlns:a="http://schemas.openxmlformats.org/drawingml/2006/main" noGrp="1"/>
          </p:cNvSpPr>
          <p:nvPr/>
        </p:nvSpPr>
        <p:spPr>
          <a:xfrm xmlns:a="http://schemas.openxmlformats.org/drawingml/2006/main">
            <a:off x="5029200"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P50: 1.2M bpd impact · +$6.5/bbl</a:t>
            </a:r>
          </a:p>
        </p:txBody>
      </p:sp>
      <p:sp>
        <p:nvSpPr>
          <p:cNvPr id="20" name="demo-ring">
            <a:extLst xmlns:a="http://schemas.openxmlformats.org/drawingml/2006/main">
              <a:ext uri="{FF2B5EF4-FFF2-40B4-BE49-F238E27FC236}">
                <a16:creationId xmlns:a16="http://schemas.microsoft.com/office/drawing/2014/main" id="{76A966A4-D0EF-4CFB-8A9E-8F76427AD804}"/>
              </a:ext>
            </a:extLst>
          </p:cNvPr>
          <p:cNvSpPr>
            <a:spLocks xmlns:a="http://schemas.openxmlformats.org/drawingml/2006/main" noGrp="1"/>
          </p:cNvSpPr>
          <p:nvPr/>
        </p:nvSpPr>
        <p:spPr>
          <a:xfrm xmlns:a="http://schemas.openxmlformats.org/drawingml/2006/main">
            <a:off x="7896225"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51E5D6"/>
            </a:solidFill>
            <a:prstDash val="solid"/>
          </a:ln>
        </p:spPr>
      </p:sp>
      <p:sp>
        <p:nvSpPr>
          <p:cNvPr id="21" name="demo-number">
            <a:extLst xmlns:a="http://schemas.openxmlformats.org/drawingml/2006/main">
              <a:ext uri="{FF2B5EF4-FFF2-40B4-BE49-F238E27FC236}">
                <a16:creationId xmlns:a16="http://schemas.microsoft.com/office/drawing/2014/main" id="{CB9481FF-9717-4E28-B305-50F83AB8B4AA}"/>
              </a:ext>
            </a:extLst>
          </p:cNvPr>
          <p:cNvSpPr>
            <a:spLocks xmlns:a="http://schemas.openxmlformats.org/drawingml/2006/main" noGrp="1"/>
          </p:cNvSpPr>
          <p:nvPr/>
        </p:nvSpPr>
        <p:spPr>
          <a:xfrm xmlns:a="http://schemas.openxmlformats.org/drawingml/2006/main">
            <a:off x="8124825"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51E5D6"/>
                </a:solidFill>
              </a:defRPr>
            </a:pPr>
            <a:r>
              <a:rPr sz="1425" b="1">
                <a:solidFill>
                  <a:srgbClr val="51E5D6"/>
                </a:solidFill>
              </a:rPr>
              <a:t>4</a:t>
            </a:r>
          </a:p>
        </p:txBody>
      </p:sp>
      <p:sp>
        <p:nvSpPr>
          <p:cNvPr id="22" name="">
            <a:extLst xmlns:a="http://schemas.openxmlformats.org/drawingml/2006/main">
              <a:ext uri="{FF2B5EF4-FFF2-40B4-BE49-F238E27FC236}">
                <a16:creationId xmlns:a16="http://schemas.microsoft.com/office/drawing/2014/main" id="{D230983B-3325-40B8-BCF5-5C165AE735DD}"/>
              </a:ext>
            </a:extLst>
          </p:cNvPr>
          <p:cNvSpPr>
            <a:spLocks xmlns:a="http://schemas.openxmlformats.org/drawingml/2006/main" noGrp="1"/>
          </p:cNvSpPr>
          <p:nvPr/>
        </p:nvSpPr>
        <p:spPr>
          <a:xfrm xmlns:a="http://schemas.openxmlformats.org/drawingml/2006/main">
            <a:off x="8572500" y="3286125"/>
            <a:ext cx="76200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23" name="demo-head">
            <a:extLst xmlns:a="http://schemas.openxmlformats.org/drawingml/2006/main">
              <a:ext uri="{FF2B5EF4-FFF2-40B4-BE49-F238E27FC236}">
                <a16:creationId xmlns:a16="http://schemas.microsoft.com/office/drawing/2014/main" id="{25E733CA-44C4-4A97-BCBD-AB985A6DD41D}"/>
              </a:ext>
            </a:extLst>
          </p:cNvPr>
          <p:cNvSpPr>
            <a:spLocks xmlns:a="http://schemas.openxmlformats.org/drawingml/2006/main" noGrp="1"/>
          </p:cNvSpPr>
          <p:nvPr/>
        </p:nvSpPr>
        <p:spPr>
          <a:xfrm xmlns:a="http://schemas.openxmlformats.org/drawingml/2006/main">
            <a:off x="7191375"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Recommendation</a:t>
            </a:r>
          </a:p>
        </p:txBody>
      </p:sp>
      <p:sp>
        <p:nvSpPr>
          <p:cNvPr id="24" name="demo-body">
            <a:extLst xmlns:a="http://schemas.openxmlformats.org/drawingml/2006/main">
              <a:ext uri="{FF2B5EF4-FFF2-40B4-BE49-F238E27FC236}">
                <a16:creationId xmlns:a16="http://schemas.microsoft.com/office/drawing/2014/main" id="{5215DADE-B4F0-4267-BB4C-C701C3C7162E}"/>
              </a:ext>
            </a:extLst>
          </p:cNvPr>
          <p:cNvSpPr>
            <a:spLocks xmlns:a="http://schemas.openxmlformats.org/drawingml/2006/main" noGrp="1"/>
          </p:cNvSpPr>
          <p:nvPr/>
        </p:nvSpPr>
        <p:spPr>
          <a:xfrm xmlns:a="http://schemas.openxmlformats.org/drawingml/2006/main">
            <a:off x="7191375"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150k bpd WTI Midland via Cape route</a:t>
            </a:r>
          </a:p>
        </p:txBody>
      </p:sp>
      <p:sp>
        <p:nvSpPr>
          <p:cNvPr id="25" name="demo-ring">
            <a:extLst xmlns:a="http://schemas.openxmlformats.org/drawingml/2006/main">
              <a:ext uri="{FF2B5EF4-FFF2-40B4-BE49-F238E27FC236}">
                <a16:creationId xmlns:a16="http://schemas.microsoft.com/office/drawing/2014/main" id="{D46D67A2-5235-4B02-8D8F-636ED4E431A5}"/>
              </a:ext>
            </a:extLst>
          </p:cNvPr>
          <p:cNvSpPr>
            <a:spLocks xmlns:a="http://schemas.openxmlformats.org/drawingml/2006/main" noGrp="1"/>
          </p:cNvSpPr>
          <p:nvPr/>
        </p:nvSpPr>
        <p:spPr>
          <a:xfrm xmlns:a="http://schemas.openxmlformats.org/drawingml/2006/main">
            <a:off x="10058400"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86E5B6"/>
            </a:solidFill>
            <a:prstDash val="solid"/>
          </a:ln>
        </p:spPr>
      </p:sp>
      <p:sp>
        <p:nvSpPr>
          <p:cNvPr id="26" name="demo-number">
            <a:extLst xmlns:a="http://schemas.openxmlformats.org/drawingml/2006/main">
              <a:ext uri="{FF2B5EF4-FFF2-40B4-BE49-F238E27FC236}">
                <a16:creationId xmlns:a16="http://schemas.microsoft.com/office/drawing/2014/main" id="{1EB0CC97-D03B-4B07-B691-916410991791}"/>
              </a:ext>
            </a:extLst>
          </p:cNvPr>
          <p:cNvSpPr>
            <a:spLocks xmlns:a="http://schemas.openxmlformats.org/drawingml/2006/main" noGrp="1"/>
          </p:cNvSpPr>
          <p:nvPr/>
        </p:nvSpPr>
        <p:spPr>
          <a:xfrm xmlns:a="http://schemas.openxmlformats.org/drawingml/2006/main">
            <a:off x="10287000"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86E5B6"/>
                </a:solidFill>
              </a:defRPr>
            </a:pPr>
            <a:r>
              <a:rPr sz="1425" b="1">
                <a:solidFill>
                  <a:srgbClr val="86E5B6"/>
                </a:solidFill>
              </a:rPr>
              <a:t>5</a:t>
            </a:r>
          </a:p>
        </p:txBody>
      </p:sp>
      <p:sp>
        <p:nvSpPr>
          <p:cNvPr id="27" name="demo-head">
            <a:extLst xmlns:a="http://schemas.openxmlformats.org/drawingml/2006/main">
              <a:ext uri="{FF2B5EF4-FFF2-40B4-BE49-F238E27FC236}">
                <a16:creationId xmlns:a16="http://schemas.microsoft.com/office/drawing/2014/main" id="{FAC6CC56-FA5B-4227-BE8A-CEB6BC94AF9F}"/>
              </a:ext>
            </a:extLst>
          </p:cNvPr>
          <p:cNvSpPr>
            <a:spLocks xmlns:a="http://schemas.openxmlformats.org/drawingml/2006/main" noGrp="1"/>
          </p:cNvSpPr>
          <p:nvPr/>
        </p:nvSpPr>
        <p:spPr>
          <a:xfrm xmlns:a="http://schemas.openxmlformats.org/drawingml/2006/main">
            <a:off x="9353550"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5F8FC"/>
                </a:solidFill>
              </a:defRPr>
            </a:pPr>
            <a:r>
              <a:rPr sz="1275" b="1">
                <a:solidFill>
                  <a:srgbClr val="F5F8FC"/>
                </a:solidFill>
              </a:rPr>
              <a:t>Decision</a:t>
            </a:r>
          </a:p>
        </p:txBody>
      </p:sp>
      <p:sp>
        <p:nvSpPr>
          <p:cNvPr id="28" name="demo-body">
            <a:extLst xmlns:a="http://schemas.openxmlformats.org/drawingml/2006/main">
              <a:ext uri="{FF2B5EF4-FFF2-40B4-BE49-F238E27FC236}">
                <a16:creationId xmlns:a16="http://schemas.microsoft.com/office/drawing/2014/main" id="{12A81B3A-0371-4FD6-BF6B-5FC531F3105E}"/>
              </a:ext>
            </a:extLst>
          </p:cNvPr>
          <p:cNvSpPr>
            <a:spLocks xmlns:a="http://schemas.openxmlformats.org/drawingml/2006/main" noGrp="1"/>
          </p:cNvSpPr>
          <p:nvPr/>
        </p:nvSpPr>
        <p:spPr>
          <a:xfrm xmlns:a="http://schemas.openxmlformats.org/drawingml/2006/main">
            <a:off x="9353550"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AABFD2"/>
                </a:solidFill>
              </a:defRPr>
            </a:pPr>
            <a:r>
              <a:rPr sz="1050" b="0">
                <a:solidFill>
                  <a:srgbClr val="AABFD2"/>
                </a:solidFill>
              </a:rPr>
              <a:t>Human approval recorded locally</a:t>
            </a:r>
          </a:p>
        </p:txBody>
      </p:sp>
      <p:sp>
        <p:nvSpPr>
          <p:cNvPr id="29" name="demo-conclusion">
            <a:extLst xmlns:a="http://schemas.openxmlformats.org/drawingml/2006/main">
              <a:ext uri="{FF2B5EF4-FFF2-40B4-BE49-F238E27FC236}">
                <a16:creationId xmlns:a16="http://schemas.microsoft.com/office/drawing/2014/main" id="{96DD649E-F6F9-483B-9680-D540BA228007}"/>
              </a:ext>
            </a:extLst>
          </p:cNvPr>
          <p:cNvSpPr>
            <a:spLocks xmlns:a="http://schemas.openxmlformats.org/drawingml/2006/main" noGrp="1"/>
          </p:cNvSpPr>
          <p:nvPr/>
        </p:nvSpPr>
        <p:spPr>
          <a:xfrm xmlns:a="http://schemas.openxmlformats.org/drawingml/2006/main">
            <a:off x="685800" y="5381625"/>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5F8FC"/>
                </a:solidFill>
              </a:defRPr>
            </a:pPr>
            <a:r>
              <a:rPr sz="1725" b="1">
                <a:solidFill>
                  <a:srgbClr val="F5F8FC"/>
                </a:solidFill>
              </a:rPr>
              <a:t>Every result carries its evidence, assumptions, alternatives, and unknowns forward.</a:t>
            </a:r>
          </a:p>
        </p:txBody>
      </p:sp>
      <p:sp>
        <p:nvSpPr>
          <p:cNvPr id="30" name="chip">
            <a:extLst xmlns:a="http://schemas.openxmlformats.org/drawingml/2006/main">
              <a:ext uri="{FF2B5EF4-FFF2-40B4-BE49-F238E27FC236}">
                <a16:creationId xmlns:a16="http://schemas.microsoft.com/office/drawing/2014/main" id="{40FAFA4F-B3E9-4CF6-8CA8-E17886CCE3AF}"/>
              </a:ext>
            </a:extLst>
          </p:cNvPr>
          <p:cNvSpPr>
            <a:spLocks xmlns:a="http://schemas.openxmlformats.org/drawingml/2006/main" noGrp="1"/>
          </p:cNvSpPr>
          <p:nvPr/>
        </p:nvSpPr>
        <p:spPr>
          <a:xfrm xmlns:a="http://schemas.openxmlformats.org/drawingml/2006/main">
            <a:off x="685800" y="5886450"/>
            <a:ext cx="108585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FFC56E"/>
            </a:solidFill>
            <a:prstDash val="solid"/>
          </a:ln>
        </p:spPr>
        <p:txBody>
          <a:bodyPr xmlns:a="http://schemas.openxmlformats.org/drawingml/2006/main"/>
          <a:lstStyle xmlns:a="http://schemas.openxmlformats.org/drawingml/2006/main"/>
          <a:p xmlns:a="http://schemas.openxmlformats.org/drawingml/2006/main">
            <a:pPr>
              <a:defRPr sz="900" b="1">
                <a:solidFill>
                  <a:srgbClr val="FFC56E"/>
                </a:solidFill>
              </a:defRPr>
            </a:pPr>
            <a:r>
              <a:rPr sz="900" b="1">
                <a:solidFill>
                  <a:srgbClr val="FFC56E"/>
                </a:solidFill>
              </a:rPr>
              <a:t>SIMULATED</a:t>
            </a:r>
          </a:p>
        </p:txBody>
      </p:sp>
      <p:sp>
        <p:nvSpPr>
          <p:cNvPr id="31" name="chip">
            <a:extLst xmlns:a="http://schemas.openxmlformats.org/drawingml/2006/main">
              <a:ext uri="{FF2B5EF4-FFF2-40B4-BE49-F238E27FC236}">
                <a16:creationId xmlns:a16="http://schemas.microsoft.com/office/drawing/2014/main" id="{E3C14037-BD23-4C52-9A13-C8F446BCA646}"/>
              </a:ext>
            </a:extLst>
          </p:cNvPr>
          <p:cNvSpPr>
            <a:spLocks xmlns:a="http://schemas.openxmlformats.org/drawingml/2006/main" noGrp="1"/>
          </p:cNvSpPr>
          <p:nvPr/>
        </p:nvSpPr>
        <p:spPr>
          <a:xfrm xmlns:a="http://schemas.openxmlformats.org/drawingml/2006/main">
            <a:off x="1914525" y="5886450"/>
            <a:ext cx="12954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51E5D6"/>
            </a:solidFill>
            <a:prstDash val="solid"/>
          </a:ln>
        </p:spPr>
        <p:txBody>
          <a:bodyPr xmlns:a="http://schemas.openxmlformats.org/drawingml/2006/main"/>
          <a:lstStyle xmlns:a="http://schemas.openxmlformats.org/drawingml/2006/main"/>
          <a:p xmlns:a="http://schemas.openxmlformats.org/drawingml/2006/main">
            <a:pPr>
              <a:defRPr sz="900" b="1">
                <a:solidFill>
                  <a:srgbClr val="51E5D6"/>
                </a:solidFill>
              </a:defRPr>
            </a:pPr>
            <a:r>
              <a:rPr sz="900" b="1">
                <a:solidFill>
                  <a:srgbClr val="51E5D6"/>
                </a:solidFill>
              </a:rPr>
              <a:t>REPRODUCIBLE</a:t>
            </a:r>
          </a:p>
        </p:txBody>
      </p:sp>
      <p:sp>
        <p:nvSpPr>
          <p:cNvPr id="32" name="chip">
            <a:extLst xmlns:a="http://schemas.openxmlformats.org/drawingml/2006/main">
              <a:ext uri="{FF2B5EF4-FFF2-40B4-BE49-F238E27FC236}">
                <a16:creationId xmlns:a16="http://schemas.microsoft.com/office/drawing/2014/main" id="{981E5899-D01E-4A55-B07F-A9CA33B7F2C2}"/>
              </a:ext>
            </a:extLst>
          </p:cNvPr>
          <p:cNvSpPr>
            <a:spLocks xmlns:a="http://schemas.openxmlformats.org/drawingml/2006/main" noGrp="1"/>
          </p:cNvSpPr>
          <p:nvPr/>
        </p:nvSpPr>
        <p:spPr>
          <a:xfrm xmlns:a="http://schemas.openxmlformats.org/drawingml/2006/main">
            <a:off x="3352800" y="5886450"/>
            <a:ext cx="184785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86E5B6"/>
            </a:solidFill>
            <a:prstDash val="solid"/>
          </a:ln>
        </p:spPr>
        <p:txBody>
          <a:bodyPr xmlns:a="http://schemas.openxmlformats.org/drawingml/2006/main"/>
          <a:lstStyle xmlns:a="http://schemas.openxmlformats.org/drawingml/2006/main"/>
          <a:p xmlns:a="http://schemas.openxmlformats.org/drawingml/2006/main">
            <a:pPr>
              <a:defRPr sz="900" b="1">
                <a:solidFill>
                  <a:srgbClr val="86E5B6"/>
                </a:solidFill>
              </a:defRPr>
            </a:pPr>
            <a:r>
              <a:rPr sz="900" b="1">
                <a:solidFill>
                  <a:srgbClr val="86E5B6"/>
                </a:solidFill>
              </a:rPr>
              <a:t>NO EXTERNAL EXECUTION</a:t>
            </a:r>
          </a:p>
        </p:txBody>
      </p:sp>
      <p:sp>
        <p:nvSpPr>
          <p:cNvPr id="33" name="">
            <a:extLst xmlns:a="http://schemas.openxmlformats.org/drawingml/2006/main">
              <a:ext uri="{FF2B5EF4-FFF2-40B4-BE49-F238E27FC236}">
                <a16:creationId xmlns:a16="http://schemas.microsoft.com/office/drawing/2014/main" id="{E31C5C94-E9AE-4D96-B575-B29206F6AB03}"/>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34" name="footer">
            <a:extLst xmlns:a="http://schemas.openxmlformats.org/drawingml/2006/main">
              <a:ext uri="{FF2B5EF4-FFF2-40B4-BE49-F238E27FC236}">
                <a16:creationId xmlns:a16="http://schemas.microsoft.com/office/drawing/2014/main" id="{80CAD4D2-922D-45C9-B9A5-5F84A56DA73E}"/>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622628915"/>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19A3A7BA-F896-44CE-BD4F-DD516EBD39D5}"/>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DECISION INTELLIGENCE</a:t>
            </a:r>
          </a:p>
        </p:txBody>
      </p:sp>
      <p:sp>
        <p:nvSpPr>
          <p:cNvPr id="2" name="slide-number">
            <a:extLst xmlns:a="http://schemas.openxmlformats.org/drawingml/2006/main">
              <a:ext uri="{FF2B5EF4-FFF2-40B4-BE49-F238E27FC236}">
                <a16:creationId xmlns:a16="http://schemas.microsoft.com/office/drawing/2014/main" id="{AD535A3D-BC73-416D-8CD1-B07E54DE971E}"/>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07</a:t>
            </a:r>
          </a:p>
        </p:txBody>
      </p:sp>
      <p:sp>
        <p:nvSpPr>
          <p:cNvPr id="3" name="title">
            <a:extLst xmlns:a="http://schemas.openxmlformats.org/drawingml/2006/main">
              <a:ext uri="{FF2B5EF4-FFF2-40B4-BE49-F238E27FC236}">
                <a16:creationId xmlns:a16="http://schemas.microsoft.com/office/drawing/2014/main" id="{19F79C24-82AA-4EEF-BEE0-10BE68771513}"/>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5F8FC"/>
                </a:solidFill>
              </a:defRPr>
            </a:pPr>
            <a:r>
              <a:rPr sz="3150" b="1">
                <a:solidFill>
                  <a:srgbClr val="F5F8FC"/>
                </a:solidFill>
              </a:rPr>
              <a:t>The output is a choice—not a black box.</a:t>
            </a:r>
          </a:p>
        </p:txBody>
      </p:sp>
      <p:sp>
        <p:nvSpPr>
          <p:cNvPr id="4" name="subtitle">
            <a:extLst xmlns:a="http://schemas.openxmlformats.org/drawingml/2006/main">
              <a:ext uri="{FF2B5EF4-FFF2-40B4-BE49-F238E27FC236}">
                <a16:creationId xmlns:a16="http://schemas.microsoft.com/office/drawing/2014/main" id="{41BED27D-A190-4953-85A7-98BEFC89486F}"/>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AABFD2"/>
                </a:solidFill>
              </a:defRPr>
            </a:pPr>
            <a:r>
              <a:rPr sz="1500" b="0">
                <a:solidFill>
                  <a:srgbClr val="AABFD2"/>
                </a:solidFill>
              </a:rPr>
              <a:t>Decision-makers compare risk, cost, and resilience before calling anything “best.”</a:t>
            </a:r>
          </a:p>
        </p:txBody>
      </p:sp>
      <p:sp>
        <p:nvSpPr>
          <p:cNvPr id="5" name="portfolio">
            <a:extLst xmlns:a="http://schemas.openxmlformats.org/drawingml/2006/main">
              <a:ext uri="{FF2B5EF4-FFF2-40B4-BE49-F238E27FC236}">
                <a16:creationId xmlns:a16="http://schemas.microsoft.com/office/drawing/2014/main" id="{8B61F4BA-45DA-4926-AA04-A7A26B6DBB68}"/>
              </a:ext>
            </a:extLst>
          </p:cNvPr>
          <p:cNvSpPr>
            <a:spLocks xmlns:a="http://schemas.openxmlformats.org/drawingml/2006/main" noGrp="1"/>
          </p:cNvSpPr>
          <p:nvPr/>
        </p:nvSpPr>
        <p:spPr>
          <a:xfrm xmlns:a="http://schemas.openxmlformats.org/drawingml/2006/main">
            <a:off x="685800" y="2952750"/>
            <a:ext cx="245745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6" name="portfolio-label">
            <a:extLst xmlns:a="http://schemas.openxmlformats.org/drawingml/2006/main">
              <a:ext uri="{FF2B5EF4-FFF2-40B4-BE49-F238E27FC236}">
                <a16:creationId xmlns:a16="http://schemas.microsoft.com/office/drawing/2014/main" id="{BDE89146-01AB-49DC-BE54-2582AB019175}"/>
              </a:ext>
            </a:extLst>
          </p:cNvPr>
          <p:cNvSpPr>
            <a:spLocks xmlns:a="http://schemas.openxmlformats.org/drawingml/2006/main" noGrp="1"/>
          </p:cNvSpPr>
          <p:nvPr/>
        </p:nvSpPr>
        <p:spPr>
          <a:xfrm xmlns:a="http://schemas.openxmlformats.org/drawingml/2006/main">
            <a:off x="857250" y="3162300"/>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58D95"/>
                </a:solidFill>
              </a:defRPr>
            </a:pPr>
            <a:r>
              <a:rPr sz="1125" b="1">
                <a:solidFill>
                  <a:srgbClr val="F58D95"/>
                </a:solidFill>
              </a:rPr>
              <a:t>DO NOTHING</a:t>
            </a:r>
          </a:p>
        </p:txBody>
      </p:sp>
      <p:sp>
        <p:nvSpPr>
          <p:cNvPr id="7" name="portfolio-value">
            <a:extLst xmlns:a="http://schemas.openxmlformats.org/drawingml/2006/main">
              <a:ext uri="{FF2B5EF4-FFF2-40B4-BE49-F238E27FC236}">
                <a16:creationId xmlns:a16="http://schemas.microsoft.com/office/drawing/2014/main" id="{4CF0C267-35DE-44E7-B491-68C6EA4A393D}"/>
              </a:ext>
            </a:extLst>
          </p:cNvPr>
          <p:cNvSpPr>
            <a:spLocks xmlns:a="http://schemas.openxmlformats.org/drawingml/2006/main" noGrp="1"/>
          </p:cNvSpPr>
          <p:nvPr/>
        </p:nvSpPr>
        <p:spPr>
          <a:xfrm xmlns:a="http://schemas.openxmlformats.org/drawingml/2006/main">
            <a:off x="857250" y="3581400"/>
            <a:ext cx="2114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5F8FC"/>
                </a:solidFill>
              </a:defRPr>
            </a:pPr>
            <a:r>
              <a:rPr sz="1500" b="1">
                <a:solidFill>
                  <a:srgbClr val="F5F8FC"/>
                </a:solidFill>
              </a:rPr>
              <a:t>Exposed</a:t>
            </a:r>
          </a:p>
        </p:txBody>
      </p:sp>
      <p:sp>
        <p:nvSpPr>
          <p:cNvPr id="8" name="portfolio-copy">
            <a:extLst xmlns:a="http://schemas.openxmlformats.org/drawingml/2006/main">
              <a:ext uri="{FF2B5EF4-FFF2-40B4-BE49-F238E27FC236}">
                <a16:creationId xmlns:a16="http://schemas.microsoft.com/office/drawing/2014/main" id="{17C21E68-2C0F-4E77-80B1-204DE25B0716}"/>
              </a:ext>
            </a:extLst>
          </p:cNvPr>
          <p:cNvSpPr>
            <a:spLocks xmlns:a="http://schemas.openxmlformats.org/drawingml/2006/main" noGrp="1"/>
          </p:cNvSpPr>
          <p:nvPr/>
        </p:nvSpPr>
        <p:spPr>
          <a:xfrm xmlns:a="http://schemas.openxmlformats.org/drawingml/2006/main">
            <a:off x="857250" y="400050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a:solidFill>
                  <a:srgbClr val="AABFD2"/>
                </a:solidFill>
              </a:defRPr>
            </a:pPr>
            <a:r>
              <a:rPr sz="975" b="0">
                <a:solidFill>
                  <a:srgbClr val="AABFD2"/>
                </a:solidFill>
              </a:rPr>
              <a:t>Feasible within seeded constraints</a:t>
            </a:r>
          </a:p>
        </p:txBody>
      </p:sp>
      <p:sp>
        <p:nvSpPr>
          <p:cNvPr id="9" name="portfolio">
            <a:extLst xmlns:a="http://schemas.openxmlformats.org/drawingml/2006/main">
              <a:ext uri="{FF2B5EF4-FFF2-40B4-BE49-F238E27FC236}">
                <a16:creationId xmlns:a16="http://schemas.microsoft.com/office/drawing/2014/main" id="{CB70FDAB-5232-4261-AB76-8D7CD967E91C}"/>
              </a:ext>
            </a:extLst>
          </p:cNvPr>
          <p:cNvSpPr>
            <a:spLocks xmlns:a="http://schemas.openxmlformats.org/drawingml/2006/main" noGrp="1"/>
          </p:cNvSpPr>
          <p:nvPr/>
        </p:nvSpPr>
        <p:spPr>
          <a:xfrm xmlns:a="http://schemas.openxmlformats.org/drawingml/2006/main">
            <a:off x="3381375" y="2952750"/>
            <a:ext cx="245745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10" name="portfolio-label">
            <a:extLst xmlns:a="http://schemas.openxmlformats.org/drawingml/2006/main">
              <a:ext uri="{FF2B5EF4-FFF2-40B4-BE49-F238E27FC236}">
                <a16:creationId xmlns:a16="http://schemas.microsoft.com/office/drawing/2014/main" id="{91BE11D0-AF6E-4B59-BABE-AB96A3D59E6E}"/>
              </a:ext>
            </a:extLst>
          </p:cNvPr>
          <p:cNvSpPr>
            <a:spLocks xmlns:a="http://schemas.openxmlformats.org/drawingml/2006/main" noGrp="1"/>
          </p:cNvSpPr>
          <p:nvPr/>
        </p:nvSpPr>
        <p:spPr>
          <a:xfrm xmlns:a="http://schemas.openxmlformats.org/drawingml/2006/main">
            <a:off x="3552825" y="3162300"/>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C56E"/>
                </a:solidFill>
              </a:defRPr>
            </a:pPr>
            <a:r>
              <a:rPr sz="1125" b="1">
                <a:solidFill>
                  <a:srgbClr val="FFC56E"/>
                </a:solidFill>
              </a:rPr>
              <a:t>LOWEST COST</a:t>
            </a:r>
          </a:p>
        </p:txBody>
      </p:sp>
      <p:sp>
        <p:nvSpPr>
          <p:cNvPr id="11" name="portfolio-value">
            <a:extLst xmlns:a="http://schemas.openxmlformats.org/drawingml/2006/main">
              <a:ext uri="{FF2B5EF4-FFF2-40B4-BE49-F238E27FC236}">
                <a16:creationId xmlns:a16="http://schemas.microsoft.com/office/drawing/2014/main" id="{F976E029-E21D-420A-A202-C1BB53544752}"/>
              </a:ext>
            </a:extLst>
          </p:cNvPr>
          <p:cNvSpPr>
            <a:spLocks xmlns:a="http://schemas.openxmlformats.org/drawingml/2006/main" noGrp="1"/>
          </p:cNvSpPr>
          <p:nvPr/>
        </p:nvSpPr>
        <p:spPr>
          <a:xfrm xmlns:a="http://schemas.openxmlformats.org/drawingml/2006/main">
            <a:off x="3552825" y="3581400"/>
            <a:ext cx="2114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5F8FC"/>
                </a:solidFill>
              </a:defRPr>
            </a:pPr>
            <a:r>
              <a:rPr sz="1500" b="1">
                <a:solidFill>
                  <a:srgbClr val="F5F8FC"/>
                </a:solidFill>
              </a:rPr>
              <a:t>Constrained allocation</a:t>
            </a:r>
          </a:p>
        </p:txBody>
      </p:sp>
      <p:sp>
        <p:nvSpPr>
          <p:cNvPr id="12" name="portfolio-copy">
            <a:extLst xmlns:a="http://schemas.openxmlformats.org/drawingml/2006/main">
              <a:ext uri="{FF2B5EF4-FFF2-40B4-BE49-F238E27FC236}">
                <a16:creationId xmlns:a16="http://schemas.microsoft.com/office/drawing/2014/main" id="{9BE7FBDD-0EFC-4802-BA22-A82B754572E7}"/>
              </a:ext>
            </a:extLst>
          </p:cNvPr>
          <p:cNvSpPr>
            <a:spLocks xmlns:a="http://schemas.openxmlformats.org/drawingml/2006/main" noGrp="1"/>
          </p:cNvSpPr>
          <p:nvPr/>
        </p:nvSpPr>
        <p:spPr>
          <a:xfrm xmlns:a="http://schemas.openxmlformats.org/drawingml/2006/main">
            <a:off x="3552825" y="400050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a:solidFill>
                  <a:srgbClr val="AABFD2"/>
                </a:solidFill>
              </a:defRPr>
            </a:pPr>
            <a:r>
              <a:rPr sz="975" b="0">
                <a:solidFill>
                  <a:srgbClr val="AABFD2"/>
                </a:solidFill>
              </a:rPr>
              <a:t>Feasible within seeded constraints</a:t>
            </a:r>
          </a:p>
        </p:txBody>
      </p:sp>
      <p:sp>
        <p:nvSpPr>
          <p:cNvPr id="13" name="portfolio">
            <a:extLst xmlns:a="http://schemas.openxmlformats.org/drawingml/2006/main">
              <a:ext uri="{FF2B5EF4-FFF2-40B4-BE49-F238E27FC236}">
                <a16:creationId xmlns:a16="http://schemas.microsoft.com/office/drawing/2014/main" id="{DC2D0CAD-94C3-47B0-A7A0-4A7BA90569F8}"/>
              </a:ext>
            </a:extLst>
          </p:cNvPr>
          <p:cNvSpPr>
            <a:spLocks xmlns:a="http://schemas.openxmlformats.org/drawingml/2006/main" noGrp="1"/>
          </p:cNvSpPr>
          <p:nvPr/>
        </p:nvSpPr>
        <p:spPr>
          <a:xfrm xmlns:a="http://schemas.openxmlformats.org/drawingml/2006/main">
            <a:off x="6076950" y="2952750"/>
            <a:ext cx="2457450" cy="1352550"/>
          </a:xfrm>
          <a:prstGeom xmlns:a="http://schemas.openxmlformats.org/drawingml/2006/main" prst="roundRect">
            <a:avLst>
              <a:gd name="adj" fmla="val 8451"/>
            </a:avLst>
          </a:prstGeom>
          <a:solidFill xmlns:a="http://schemas.openxmlformats.org/drawingml/2006/main">
            <a:srgbClr val="123B61"/>
          </a:solidFill>
          <a:ln xmlns:a="http://schemas.openxmlformats.org/drawingml/2006/main" w="9525">
            <a:solidFill>
              <a:srgbClr val="51E5D6"/>
            </a:solidFill>
            <a:prstDash val="solid"/>
          </a:ln>
        </p:spPr>
      </p:sp>
      <p:sp>
        <p:nvSpPr>
          <p:cNvPr id="14" name="portfolio-label">
            <a:extLst xmlns:a="http://schemas.openxmlformats.org/drawingml/2006/main">
              <a:ext uri="{FF2B5EF4-FFF2-40B4-BE49-F238E27FC236}">
                <a16:creationId xmlns:a16="http://schemas.microsoft.com/office/drawing/2014/main" id="{A79173D4-3711-48E4-9E08-F06D0AA12B68}"/>
              </a:ext>
            </a:extLst>
          </p:cNvPr>
          <p:cNvSpPr>
            <a:spLocks xmlns:a="http://schemas.openxmlformats.org/drawingml/2006/main" noGrp="1"/>
          </p:cNvSpPr>
          <p:nvPr/>
        </p:nvSpPr>
        <p:spPr>
          <a:xfrm xmlns:a="http://schemas.openxmlformats.org/drawingml/2006/main">
            <a:off x="6248400" y="3162300"/>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51E5D6"/>
                </a:solidFill>
              </a:defRPr>
            </a:pPr>
            <a:r>
              <a:rPr sz="1125" b="1">
                <a:solidFill>
                  <a:srgbClr val="51E5D6"/>
                </a:solidFill>
              </a:rPr>
              <a:t>BALANCED</a:t>
            </a:r>
          </a:p>
        </p:txBody>
      </p:sp>
      <p:sp>
        <p:nvSpPr>
          <p:cNvPr id="15" name="portfolio-value">
            <a:extLst xmlns:a="http://schemas.openxmlformats.org/drawingml/2006/main">
              <a:ext uri="{FF2B5EF4-FFF2-40B4-BE49-F238E27FC236}">
                <a16:creationId xmlns:a16="http://schemas.microsoft.com/office/drawing/2014/main" id="{7B2E2358-B21A-4F8A-AD7E-1EF5F93A8F4A}"/>
              </a:ext>
            </a:extLst>
          </p:cNvPr>
          <p:cNvSpPr>
            <a:spLocks xmlns:a="http://schemas.openxmlformats.org/drawingml/2006/main" noGrp="1"/>
          </p:cNvSpPr>
          <p:nvPr/>
        </p:nvSpPr>
        <p:spPr>
          <a:xfrm xmlns:a="http://schemas.openxmlformats.org/drawingml/2006/main">
            <a:off x="6248400" y="3581400"/>
            <a:ext cx="2114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5F8FC"/>
                </a:solidFill>
              </a:defRPr>
            </a:pPr>
            <a:r>
              <a:rPr sz="1500" b="1">
                <a:solidFill>
                  <a:srgbClr val="F5F8FC"/>
                </a:solidFill>
              </a:rPr>
              <a:t>Diversified allocation</a:t>
            </a:r>
          </a:p>
        </p:txBody>
      </p:sp>
      <p:sp>
        <p:nvSpPr>
          <p:cNvPr id="16" name="portfolio-copy">
            <a:extLst xmlns:a="http://schemas.openxmlformats.org/drawingml/2006/main">
              <a:ext uri="{FF2B5EF4-FFF2-40B4-BE49-F238E27FC236}">
                <a16:creationId xmlns:a16="http://schemas.microsoft.com/office/drawing/2014/main" id="{DD7F8074-DD9A-4EB1-982E-D432FB9A0D8C}"/>
              </a:ext>
            </a:extLst>
          </p:cNvPr>
          <p:cNvSpPr>
            <a:spLocks xmlns:a="http://schemas.openxmlformats.org/drawingml/2006/main" noGrp="1"/>
          </p:cNvSpPr>
          <p:nvPr/>
        </p:nvSpPr>
        <p:spPr>
          <a:xfrm xmlns:a="http://schemas.openxmlformats.org/drawingml/2006/main">
            <a:off x="6248400" y="400050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a:solidFill>
                  <a:srgbClr val="AABFD2"/>
                </a:solidFill>
              </a:defRPr>
            </a:pPr>
            <a:r>
              <a:rPr sz="975" b="0">
                <a:solidFill>
                  <a:srgbClr val="AABFD2"/>
                </a:solidFill>
              </a:rPr>
              <a:t>Example of a visible trade-off</a:t>
            </a:r>
          </a:p>
        </p:txBody>
      </p:sp>
      <p:sp>
        <p:nvSpPr>
          <p:cNvPr id="17" name="portfolio">
            <a:extLst xmlns:a="http://schemas.openxmlformats.org/drawingml/2006/main">
              <a:ext uri="{FF2B5EF4-FFF2-40B4-BE49-F238E27FC236}">
                <a16:creationId xmlns:a16="http://schemas.microsoft.com/office/drawing/2014/main" id="{4CC5509E-E86C-4123-A76B-3514B39E73E6}"/>
              </a:ext>
            </a:extLst>
          </p:cNvPr>
          <p:cNvSpPr>
            <a:spLocks xmlns:a="http://schemas.openxmlformats.org/drawingml/2006/main" noGrp="1"/>
          </p:cNvSpPr>
          <p:nvPr/>
        </p:nvSpPr>
        <p:spPr>
          <a:xfrm xmlns:a="http://schemas.openxmlformats.org/drawingml/2006/main">
            <a:off x="8772525" y="2952750"/>
            <a:ext cx="245745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18" name="portfolio-label">
            <a:extLst xmlns:a="http://schemas.openxmlformats.org/drawingml/2006/main">
              <a:ext uri="{FF2B5EF4-FFF2-40B4-BE49-F238E27FC236}">
                <a16:creationId xmlns:a16="http://schemas.microsoft.com/office/drawing/2014/main" id="{B4B7DB29-5BAB-42FD-8DB2-1A743EE28F20}"/>
              </a:ext>
            </a:extLst>
          </p:cNvPr>
          <p:cNvSpPr>
            <a:spLocks xmlns:a="http://schemas.openxmlformats.org/drawingml/2006/main" noGrp="1"/>
          </p:cNvSpPr>
          <p:nvPr/>
        </p:nvSpPr>
        <p:spPr>
          <a:xfrm xmlns:a="http://schemas.openxmlformats.org/drawingml/2006/main">
            <a:off x="8943975" y="3162300"/>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86E5B6"/>
                </a:solidFill>
              </a:defRPr>
            </a:pPr>
            <a:r>
              <a:rPr sz="1125" b="1">
                <a:solidFill>
                  <a:srgbClr val="86E5B6"/>
                </a:solidFill>
              </a:rPr>
              <a:t>MAX RESILIENCE</a:t>
            </a:r>
          </a:p>
        </p:txBody>
      </p:sp>
      <p:sp>
        <p:nvSpPr>
          <p:cNvPr id="19" name="portfolio-value">
            <a:extLst xmlns:a="http://schemas.openxmlformats.org/drawingml/2006/main">
              <a:ext uri="{FF2B5EF4-FFF2-40B4-BE49-F238E27FC236}">
                <a16:creationId xmlns:a16="http://schemas.microsoft.com/office/drawing/2014/main" id="{C24F68F4-0B0E-46B1-91E3-40FA83C01F42}"/>
              </a:ext>
            </a:extLst>
          </p:cNvPr>
          <p:cNvSpPr>
            <a:spLocks xmlns:a="http://schemas.openxmlformats.org/drawingml/2006/main" noGrp="1"/>
          </p:cNvSpPr>
          <p:nvPr/>
        </p:nvSpPr>
        <p:spPr>
          <a:xfrm xmlns:a="http://schemas.openxmlformats.org/drawingml/2006/main">
            <a:off x="8943975" y="3581400"/>
            <a:ext cx="2114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5F8FC"/>
                </a:solidFill>
              </a:defRPr>
            </a:pPr>
            <a:r>
              <a:rPr sz="1500" b="1">
                <a:solidFill>
                  <a:srgbClr val="F5F8FC"/>
                </a:solidFill>
              </a:rPr>
              <a:t>Lower route risk</a:t>
            </a:r>
          </a:p>
        </p:txBody>
      </p:sp>
      <p:sp>
        <p:nvSpPr>
          <p:cNvPr id="20" name="portfolio-copy">
            <a:extLst xmlns:a="http://schemas.openxmlformats.org/drawingml/2006/main">
              <a:ext uri="{FF2B5EF4-FFF2-40B4-BE49-F238E27FC236}">
                <a16:creationId xmlns:a16="http://schemas.microsoft.com/office/drawing/2014/main" id="{4ABCC113-CA36-4AF3-B4EE-EC782213D7B6}"/>
              </a:ext>
            </a:extLst>
          </p:cNvPr>
          <p:cNvSpPr>
            <a:spLocks xmlns:a="http://schemas.openxmlformats.org/drawingml/2006/main" noGrp="1"/>
          </p:cNvSpPr>
          <p:nvPr/>
        </p:nvSpPr>
        <p:spPr>
          <a:xfrm xmlns:a="http://schemas.openxmlformats.org/drawingml/2006/main">
            <a:off x="8943975" y="400050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a:solidFill>
                  <a:srgbClr val="AABFD2"/>
                </a:solidFill>
              </a:defRPr>
            </a:pPr>
            <a:r>
              <a:rPr sz="975" b="0">
                <a:solidFill>
                  <a:srgbClr val="AABFD2"/>
                </a:solidFill>
              </a:rPr>
              <a:t>Feasible within seeded constraints</a:t>
            </a:r>
          </a:p>
        </p:txBody>
      </p:sp>
      <p:sp>
        <p:nvSpPr>
          <p:cNvPr id="21" name="evidence-box">
            <a:extLst xmlns:a="http://schemas.openxmlformats.org/drawingml/2006/main">
              <a:ext uri="{FF2B5EF4-FFF2-40B4-BE49-F238E27FC236}">
                <a16:creationId xmlns:a16="http://schemas.microsoft.com/office/drawing/2014/main" id="{B394CD7D-55D8-4579-B708-87DBB1C81915}"/>
              </a:ext>
            </a:extLst>
          </p:cNvPr>
          <p:cNvSpPr>
            <a:spLocks xmlns:a="http://schemas.openxmlformats.org/drawingml/2006/main" noGrp="1"/>
          </p:cNvSpPr>
          <p:nvPr/>
        </p:nvSpPr>
        <p:spPr>
          <a:xfrm xmlns:a="http://schemas.openxmlformats.org/drawingml/2006/main">
            <a:off x="685800" y="4762500"/>
            <a:ext cx="10820400" cy="1000125"/>
          </a:xfrm>
          <a:prstGeom xmlns:a="http://schemas.openxmlformats.org/drawingml/2006/main" prst="roundRect">
            <a:avLst>
              <a:gd name="adj" fmla="val 11429"/>
            </a:avLst>
          </a:prstGeom>
          <a:solidFill xmlns:a="http://schemas.openxmlformats.org/drawingml/2006/main">
            <a:srgbClr val="102B47"/>
          </a:solidFill>
          <a:ln xmlns:a="http://schemas.openxmlformats.org/drawingml/2006/main" w="9525">
            <a:solidFill>
              <a:srgbClr val="66B3FF"/>
            </a:solidFill>
            <a:prstDash val="solid"/>
          </a:ln>
        </p:spPr>
      </p:sp>
      <p:sp>
        <p:nvSpPr>
          <p:cNvPr id="22" name="why-label">
            <a:extLst xmlns:a="http://schemas.openxmlformats.org/drawingml/2006/main">
              <a:ext uri="{FF2B5EF4-FFF2-40B4-BE49-F238E27FC236}">
                <a16:creationId xmlns:a16="http://schemas.microsoft.com/office/drawing/2014/main" id="{B3B234E2-1753-438A-89F8-AA883BFD0057}"/>
              </a:ext>
            </a:extLst>
          </p:cNvPr>
          <p:cNvSpPr>
            <a:spLocks xmlns:a="http://schemas.openxmlformats.org/drawingml/2006/main" noGrp="1"/>
          </p:cNvSpPr>
          <p:nvPr/>
        </p:nvSpPr>
        <p:spPr>
          <a:xfrm xmlns:a="http://schemas.openxmlformats.org/drawingml/2006/main">
            <a:off x="914400" y="497205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1E5D6"/>
                </a:solidFill>
              </a:defRPr>
            </a:pPr>
            <a:r>
              <a:rPr sz="1200" b="1">
                <a:solidFill>
                  <a:srgbClr val="51E5D6"/>
                </a:solidFill>
              </a:rPr>
              <a:t>Why this recommendation won</a:t>
            </a:r>
          </a:p>
        </p:txBody>
      </p:sp>
      <p:sp>
        <p:nvSpPr>
          <p:cNvPr id="23" name="why-copy">
            <a:extLst xmlns:a="http://schemas.openxmlformats.org/drawingml/2006/main">
              <a:ext uri="{FF2B5EF4-FFF2-40B4-BE49-F238E27FC236}">
                <a16:creationId xmlns:a16="http://schemas.microsoft.com/office/drawing/2014/main" id="{43BAA1E2-461D-4B1B-82E4-46ED57D8DFC5}"/>
              </a:ext>
            </a:extLst>
          </p:cNvPr>
          <p:cNvSpPr>
            <a:spLocks xmlns:a="http://schemas.openxmlformats.org/drawingml/2006/main" noGrp="1"/>
          </p:cNvSpPr>
          <p:nvPr/>
        </p:nvSpPr>
        <p:spPr>
          <a:xfrm xmlns:a="http://schemas.openxmlformats.org/drawingml/2006/main">
            <a:off x="914400" y="52863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5F8FC"/>
                </a:solidFill>
              </a:defRPr>
            </a:pPr>
            <a:r>
              <a:rPr sz="1500" b="1">
                <a:solidFill>
                  <a:srgbClr val="F5F8FC"/>
                </a:solidFill>
              </a:rPr>
              <a:t>Evidence chain  ·  confirmed assumptions  ·  simulation range  ·  rejected alternatives  ·  unresolved risks</a:t>
            </a:r>
          </a:p>
        </p:txBody>
      </p:sp>
      <p:sp>
        <p:nvSpPr>
          <p:cNvPr id="24" name="decision-note">
            <a:extLst xmlns:a="http://schemas.openxmlformats.org/drawingml/2006/main">
              <a:ext uri="{FF2B5EF4-FFF2-40B4-BE49-F238E27FC236}">
                <a16:creationId xmlns:a16="http://schemas.microsoft.com/office/drawing/2014/main" id="{41AB4C06-9DB6-40E1-9830-45CF16E77AF9}"/>
              </a:ext>
            </a:extLst>
          </p:cNvPr>
          <p:cNvSpPr>
            <a:spLocks xmlns:a="http://schemas.openxmlformats.org/drawingml/2006/main" noGrp="1"/>
          </p:cNvSpPr>
          <p:nvPr/>
        </p:nvSpPr>
        <p:spPr>
          <a:xfrm xmlns:a="http://schemas.openxmlformats.org/drawingml/2006/main">
            <a:off x="685800" y="594360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AABFD2"/>
                </a:solidFill>
              </a:defRPr>
            </a:pPr>
            <a:r>
              <a:rPr sz="1275" b="0">
                <a:solidFill>
                  <a:srgbClr val="AABFD2"/>
                </a:solidFill>
              </a:rPr>
              <a:t>This is how a team can challenge the decision before a crisis makes the choice for them.</a:t>
            </a:r>
          </a:p>
        </p:txBody>
      </p:sp>
      <p:sp>
        <p:nvSpPr>
          <p:cNvPr id="25" name="">
            <a:extLst xmlns:a="http://schemas.openxmlformats.org/drawingml/2006/main">
              <a:ext uri="{FF2B5EF4-FFF2-40B4-BE49-F238E27FC236}">
                <a16:creationId xmlns:a16="http://schemas.microsoft.com/office/drawing/2014/main" id="{78EE188C-F1A7-4DDC-9C8A-2E7EF7216D2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6" name="footer">
            <a:extLst xmlns:a="http://schemas.openxmlformats.org/drawingml/2006/main">
              <a:ext uri="{FF2B5EF4-FFF2-40B4-BE49-F238E27FC236}">
                <a16:creationId xmlns:a16="http://schemas.microsoft.com/office/drawing/2014/main" id="{14A96466-673D-4A69-8A95-832313E7AB2A}"/>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437583481"/>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76B08E2-E06F-43AE-9445-F516DB835886}"/>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WHY THIS CAN DEPLOY</a:t>
            </a:r>
          </a:p>
        </p:txBody>
      </p:sp>
      <p:sp>
        <p:nvSpPr>
          <p:cNvPr id="2" name="slide-number">
            <a:extLst xmlns:a="http://schemas.openxmlformats.org/drawingml/2006/main">
              <a:ext uri="{FF2B5EF4-FFF2-40B4-BE49-F238E27FC236}">
                <a16:creationId xmlns:a16="http://schemas.microsoft.com/office/drawing/2014/main" id="{0E63E070-1237-4D50-BBE9-B50ACCE8B6A6}"/>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08</a:t>
            </a:r>
          </a:p>
        </p:txBody>
      </p:sp>
      <p:sp>
        <p:nvSpPr>
          <p:cNvPr id="3" name="title">
            <a:extLst xmlns:a="http://schemas.openxmlformats.org/drawingml/2006/main">
              <a:ext uri="{FF2B5EF4-FFF2-40B4-BE49-F238E27FC236}">
                <a16:creationId xmlns:a16="http://schemas.microsoft.com/office/drawing/2014/main" id="{C567A640-78A7-4994-B6AF-2FE71F1343F4}"/>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5F8FC"/>
                </a:solidFill>
              </a:defRPr>
            </a:pPr>
            <a:r>
              <a:rPr sz="3150" b="1">
                <a:solidFill>
                  <a:srgbClr val="F5F8FC"/>
                </a:solidFill>
              </a:rPr>
              <a:t>Built for a credible pilot—not a fictional control room.</a:t>
            </a:r>
          </a:p>
        </p:txBody>
      </p:sp>
      <p:sp>
        <p:nvSpPr>
          <p:cNvPr id="4" name="subtitle">
            <a:extLst xmlns:a="http://schemas.openxmlformats.org/drawingml/2006/main">
              <a:ext uri="{FF2B5EF4-FFF2-40B4-BE49-F238E27FC236}">
                <a16:creationId xmlns:a16="http://schemas.microsoft.com/office/drawing/2014/main" id="{7B1C7706-9A80-4A92-92B1-E906F4A1D141}"/>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AABFD2"/>
                </a:solidFill>
              </a:defRPr>
            </a:pPr>
            <a:r>
              <a:rPr sz="1500" b="0">
                <a:solidFill>
                  <a:srgbClr val="AABFD2"/>
                </a:solidFill>
              </a:rPr>
              <a:t>The MVP is complete end-to-end today; live feeds and commercial checks are clearly scoped next.</a:t>
            </a:r>
          </a:p>
        </p:txBody>
      </p:sp>
      <p:sp>
        <p:nvSpPr>
          <p:cNvPr id="5" name="now">
            <a:extLst xmlns:a="http://schemas.openxmlformats.org/drawingml/2006/main">
              <a:ext uri="{FF2B5EF4-FFF2-40B4-BE49-F238E27FC236}">
                <a16:creationId xmlns:a16="http://schemas.microsoft.com/office/drawing/2014/main" id="{24DCE347-721E-4E6F-B4CB-9B94C91B717F}"/>
              </a:ext>
            </a:extLst>
          </p:cNvPr>
          <p:cNvSpPr>
            <a:spLocks xmlns:a="http://schemas.openxmlformats.org/drawingml/2006/main" noGrp="1"/>
          </p:cNvSpPr>
          <p:nvPr/>
        </p:nvSpPr>
        <p:spPr>
          <a:xfrm xmlns:a="http://schemas.openxmlformats.org/drawingml/2006/main">
            <a:off x="685800" y="2781300"/>
            <a:ext cx="4953000" cy="2571750"/>
          </a:xfrm>
          <a:prstGeom xmlns:a="http://schemas.openxmlformats.org/drawingml/2006/main" prst="roundRect">
            <a:avLst>
              <a:gd name="adj" fmla="val 4444"/>
            </a:avLst>
          </a:prstGeom>
          <a:solidFill xmlns:a="http://schemas.openxmlformats.org/drawingml/2006/main">
            <a:srgbClr val="0D1D31"/>
          </a:solidFill>
          <a:ln xmlns:a="http://schemas.openxmlformats.org/drawingml/2006/main" w="9525">
            <a:solidFill>
              <a:srgbClr val="244563"/>
            </a:solidFill>
            <a:prstDash val="solid"/>
          </a:ln>
        </p:spPr>
      </p:sp>
      <p:sp>
        <p:nvSpPr>
          <p:cNvPr id="6" name="now-label">
            <a:extLst xmlns:a="http://schemas.openxmlformats.org/drawingml/2006/main">
              <a:ext uri="{FF2B5EF4-FFF2-40B4-BE49-F238E27FC236}">
                <a16:creationId xmlns:a16="http://schemas.microsoft.com/office/drawing/2014/main" id="{8B60BF07-92DB-4724-9A0A-B7D826C52790}"/>
              </a:ext>
            </a:extLst>
          </p:cNvPr>
          <p:cNvSpPr>
            <a:spLocks xmlns:a="http://schemas.openxmlformats.org/drawingml/2006/main" noGrp="1"/>
          </p:cNvSpPr>
          <p:nvPr/>
        </p:nvSpPr>
        <p:spPr>
          <a:xfrm xmlns:a="http://schemas.openxmlformats.org/drawingml/2006/main">
            <a:off x="933450" y="30480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86E5B6"/>
                </a:solidFill>
              </a:defRPr>
            </a:pPr>
            <a:r>
              <a:rPr sz="1050" b="1">
                <a:solidFill>
                  <a:srgbClr val="86E5B6"/>
                </a:solidFill>
              </a:rPr>
              <a:t>WORKING NOW</a:t>
            </a:r>
          </a:p>
        </p:txBody>
      </p:sp>
      <p:sp>
        <p:nvSpPr>
          <p:cNvPr id="7" name="now-list">
            <a:extLst xmlns:a="http://schemas.openxmlformats.org/drawingml/2006/main">
              <a:ext uri="{FF2B5EF4-FFF2-40B4-BE49-F238E27FC236}">
                <a16:creationId xmlns:a16="http://schemas.microsoft.com/office/drawing/2014/main" id="{1E943F8F-EB8C-4522-AE0F-B8E673E2433C}"/>
              </a:ext>
            </a:extLst>
          </p:cNvPr>
          <p:cNvSpPr>
            <a:spLocks xmlns:a="http://schemas.openxmlformats.org/drawingml/2006/main" noGrp="1"/>
          </p:cNvSpPr>
          <p:nvPr/>
        </p:nvSpPr>
        <p:spPr>
          <a:xfrm xmlns:a="http://schemas.openxmlformats.org/drawingml/2006/main">
            <a:off x="933450" y="3476625"/>
            <a:ext cx="419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F5F8FC"/>
                </a:solidFill>
              </a:defRPr>
            </a:pPr>
            <a:r>
              <a:rPr sz="1350" b="0">
                <a:solidFill>
                  <a:srgbClr val="F5F8FC"/>
                </a:solidFill>
              </a:rPr>
              <a:t>• FastAPI + Next.js decision workspace</a:t>
            </a:r>
          </a:p>
          <a:p xmlns:a="http://schemas.openxmlformats.org/drawingml/2006/main">
            <a:pPr>
              <a:defRPr sz="1350" b="0">
                <a:solidFill>
                  <a:srgbClr val="F5F8FC"/>
                </a:solidFill>
              </a:defRPr>
            </a:pPr>
            <a:r>
              <a:rPr sz="1350" b="0">
                <a:solidFill>
                  <a:srgbClr val="F5F8FC"/>
                </a:solidFill>
              </a:rPr>
              <a:t>• SQLite case and approval records</a:t>
            </a:r>
          </a:p>
          <a:p xmlns:a="http://schemas.openxmlformats.org/drawingml/2006/main">
            <a:pPr>
              <a:defRPr sz="1350" b="0">
                <a:solidFill>
                  <a:srgbClr val="F5F8FC"/>
                </a:solidFill>
              </a:defRPr>
            </a:pPr>
            <a:r>
              <a:rPr sz="1350" b="0">
                <a:solidFill>
                  <a:srgbClr val="F5F8FC"/>
                </a:solidFill>
              </a:rPr>
              <a:t>• Pydantic-validated contracts</a:t>
            </a:r>
          </a:p>
          <a:p xmlns:a="http://schemas.openxmlformats.org/drawingml/2006/main">
            <a:pPr>
              <a:defRPr sz="1350" b="0">
                <a:solidFill>
                  <a:srgbClr val="F5F8FC"/>
                </a:solidFill>
              </a:defRPr>
            </a:pPr>
            <a:r>
              <a:rPr sz="1350" b="0">
                <a:solidFill>
                  <a:srgbClr val="F5F8FC"/>
                </a:solidFill>
              </a:rPr>
              <a:t>• NumPy simulation + OR-Tools optimization</a:t>
            </a:r>
          </a:p>
          <a:p xmlns:a="http://schemas.openxmlformats.org/drawingml/2006/main">
            <a:pPr>
              <a:defRPr sz="1350" b="0">
                <a:solidFill>
                  <a:srgbClr val="F5F8FC"/>
                </a:solidFill>
              </a:defRPr>
            </a:pPr>
            <a:r>
              <a:rPr sz="1350" b="0">
                <a:solidFill>
                  <a:srgbClr val="F5F8FC"/>
                </a:solidFill>
              </a:rPr>
              <a:t>• 22 backend regression tests passing</a:t>
            </a:r>
          </a:p>
        </p:txBody>
      </p:sp>
      <p:sp>
        <p:nvSpPr>
          <p:cNvPr id="8" name="next">
            <a:extLst xmlns:a="http://schemas.openxmlformats.org/drawingml/2006/main">
              <a:ext uri="{FF2B5EF4-FFF2-40B4-BE49-F238E27FC236}">
                <a16:creationId xmlns:a16="http://schemas.microsoft.com/office/drawing/2014/main" id="{08E511B8-62A9-413D-8720-A310F437C087}"/>
              </a:ext>
            </a:extLst>
          </p:cNvPr>
          <p:cNvSpPr>
            <a:spLocks xmlns:a="http://schemas.openxmlformats.org/drawingml/2006/main" noGrp="1"/>
          </p:cNvSpPr>
          <p:nvPr/>
        </p:nvSpPr>
        <p:spPr>
          <a:xfrm xmlns:a="http://schemas.openxmlformats.org/drawingml/2006/main">
            <a:off x="6248400" y="2781300"/>
            <a:ext cx="5257800" cy="2571750"/>
          </a:xfrm>
          <a:prstGeom xmlns:a="http://schemas.openxmlformats.org/drawingml/2006/main" prst="roundRect">
            <a:avLst>
              <a:gd name="adj" fmla="val 4444"/>
            </a:avLst>
          </a:prstGeom>
          <a:solidFill xmlns:a="http://schemas.openxmlformats.org/drawingml/2006/main">
            <a:srgbClr val="102B47"/>
          </a:solidFill>
          <a:ln xmlns:a="http://schemas.openxmlformats.org/drawingml/2006/main" w="9525">
            <a:solidFill>
              <a:srgbClr val="66B3FF"/>
            </a:solidFill>
            <a:prstDash val="solid"/>
          </a:ln>
        </p:spPr>
      </p:sp>
      <p:sp>
        <p:nvSpPr>
          <p:cNvPr id="9" name="next-label">
            <a:extLst xmlns:a="http://schemas.openxmlformats.org/drawingml/2006/main">
              <a:ext uri="{FF2B5EF4-FFF2-40B4-BE49-F238E27FC236}">
                <a16:creationId xmlns:a16="http://schemas.microsoft.com/office/drawing/2014/main" id="{717F7CEA-2007-4A8B-B7C7-AE872CFF181D}"/>
              </a:ext>
            </a:extLst>
          </p:cNvPr>
          <p:cNvSpPr>
            <a:spLocks xmlns:a="http://schemas.openxmlformats.org/drawingml/2006/main" noGrp="1"/>
          </p:cNvSpPr>
          <p:nvPr/>
        </p:nvSpPr>
        <p:spPr>
          <a:xfrm xmlns:a="http://schemas.openxmlformats.org/drawingml/2006/main">
            <a:off x="6496050" y="30480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1E5D6"/>
                </a:solidFill>
              </a:defRPr>
            </a:pPr>
            <a:r>
              <a:rPr sz="1050" b="1">
                <a:solidFill>
                  <a:srgbClr val="51E5D6"/>
                </a:solidFill>
              </a:rPr>
              <a:t>PILOT INTEGRATIONS</a:t>
            </a:r>
          </a:p>
        </p:txBody>
      </p:sp>
      <p:sp>
        <p:nvSpPr>
          <p:cNvPr id="10" name="next-list">
            <a:extLst xmlns:a="http://schemas.openxmlformats.org/drawingml/2006/main">
              <a:ext uri="{FF2B5EF4-FFF2-40B4-BE49-F238E27FC236}">
                <a16:creationId xmlns:a16="http://schemas.microsoft.com/office/drawing/2014/main" id="{1EF0B702-83EF-4B0C-AA7E-DCB2F88702EC}"/>
              </a:ext>
            </a:extLst>
          </p:cNvPr>
          <p:cNvSpPr>
            <a:spLocks xmlns:a="http://schemas.openxmlformats.org/drawingml/2006/main" noGrp="1"/>
          </p:cNvSpPr>
          <p:nvPr/>
        </p:nvSpPr>
        <p:spPr>
          <a:xfrm xmlns:a="http://schemas.openxmlformats.org/drawingml/2006/main">
            <a:off x="6496050" y="3476625"/>
            <a:ext cx="4476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F5F8FC"/>
                </a:solidFill>
              </a:defRPr>
            </a:pPr>
            <a:r>
              <a:rPr sz="1350" b="0">
                <a:solidFill>
                  <a:srgbClr val="F5F8FC"/>
                </a:solidFill>
              </a:rPr>
              <a:t>• Trusted AIS, news, price, and sanctions adapters</a:t>
            </a:r>
          </a:p>
          <a:p xmlns:a="http://schemas.openxmlformats.org/drawingml/2006/main">
            <a:pPr>
              <a:defRPr sz="1350" b="0">
                <a:solidFill>
                  <a:srgbClr val="F5F8FC"/>
                </a:solidFill>
              </a:defRPr>
            </a:pPr>
            <a:r>
              <a:rPr sz="1350" b="0">
                <a:solidFill>
                  <a:srgbClr val="F5F8FC"/>
                </a:solidFill>
              </a:rPr>
              <a:t>• Commercial availability, tanker, port, and legal checks</a:t>
            </a:r>
          </a:p>
          <a:p xmlns:a="http://schemas.openxmlformats.org/drawingml/2006/main">
            <a:pPr>
              <a:defRPr sz="1350" b="0">
                <a:solidFill>
                  <a:srgbClr val="F5F8FC"/>
                </a:solidFill>
              </a:defRPr>
            </a:pPr>
            <a:r>
              <a:rPr sz="1350" b="0">
                <a:solidFill>
                  <a:srgbClr val="F5F8FC"/>
                </a:solidFill>
              </a:rPr>
              <a:t>• Production knowledge graph and governed deployments</a:t>
            </a:r>
          </a:p>
          <a:p xmlns:a="http://schemas.openxmlformats.org/drawingml/2006/main">
            <a:pPr>
              <a:defRPr sz="1350" b="0">
                <a:solidFill>
                  <a:srgbClr val="F5F8FC"/>
                </a:solidFill>
              </a:defRPr>
            </a:pPr>
            <a:r>
              <a:rPr sz="1350" b="0">
                <a:solidFill>
                  <a:srgbClr val="F5F8FC"/>
                </a:solidFill>
              </a:rPr>
              <a:t>• Existing architecture documents define the path</a:t>
            </a:r>
          </a:p>
        </p:txBody>
      </p:sp>
      <p:sp>
        <p:nvSpPr>
          <p:cNvPr id="11" name="">
            <a:extLst xmlns:a="http://schemas.openxmlformats.org/drawingml/2006/main">
              <a:ext uri="{FF2B5EF4-FFF2-40B4-BE49-F238E27FC236}">
                <a16:creationId xmlns:a16="http://schemas.microsoft.com/office/drawing/2014/main" id="{8318BA08-1157-4364-888B-8E669DDC734A}"/>
              </a:ext>
            </a:extLst>
          </p:cNvPr>
          <p:cNvSpPr>
            <a:spLocks xmlns:a="http://schemas.openxmlformats.org/drawingml/2006/main" noGrp="1"/>
          </p:cNvSpPr>
          <p:nvPr/>
        </p:nvSpPr>
        <p:spPr>
          <a:xfrm xmlns:a="http://schemas.openxmlformats.org/drawingml/2006/main">
            <a:off x="5638800" y="4076700"/>
            <a:ext cx="609600" cy="0"/>
          </a:xfrm>
          <a:prstGeom xmlns:a="http://schemas.openxmlformats.org/drawingml/2006/main" prst="line">
            <a:avLst/>
          </a:prstGeom>
          <a:noFill xmlns:a="http://schemas.openxmlformats.org/drawingml/2006/main"/>
          <a:ln xmlns:a="http://schemas.openxmlformats.org/drawingml/2006/main" w="28575">
            <a:solidFill>
              <a:srgbClr val="51E5D6"/>
            </a:solidFill>
            <a:prstDash val="solid"/>
          </a:ln>
        </p:spPr>
      </p:sp>
      <p:sp>
        <p:nvSpPr>
          <p:cNvPr id="12" name="arrow-label">
            <a:extLst xmlns:a="http://schemas.openxmlformats.org/drawingml/2006/main">
              <a:ext uri="{FF2B5EF4-FFF2-40B4-BE49-F238E27FC236}">
                <a16:creationId xmlns:a16="http://schemas.microsoft.com/office/drawing/2014/main" id="{544FC339-A310-4E05-B683-5D7A3A0304F2}"/>
              </a:ext>
            </a:extLst>
          </p:cNvPr>
          <p:cNvSpPr>
            <a:spLocks xmlns:a="http://schemas.openxmlformats.org/drawingml/2006/main" noGrp="1"/>
          </p:cNvSpPr>
          <p:nvPr/>
        </p:nvSpPr>
        <p:spPr>
          <a:xfrm xmlns:a="http://schemas.openxmlformats.org/drawingml/2006/main">
            <a:off x="5133975" y="55435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AABFD2"/>
                </a:solidFill>
              </a:defRPr>
            </a:pPr>
            <a:r>
              <a:rPr sz="1125" b="1">
                <a:solidFill>
                  <a:srgbClr val="AABFD2"/>
                </a:solidFill>
              </a:rPr>
              <a:t>PROTOTYPE → PILOT</a:t>
            </a:r>
          </a:p>
        </p:txBody>
      </p:sp>
      <p:sp>
        <p:nvSpPr>
          <p:cNvPr id="13" name="scale-conclusion">
            <a:extLst xmlns:a="http://schemas.openxmlformats.org/drawingml/2006/main">
              <a:ext uri="{FF2B5EF4-FFF2-40B4-BE49-F238E27FC236}">
                <a16:creationId xmlns:a16="http://schemas.microsoft.com/office/drawing/2014/main" id="{1950C11F-DDB4-43AA-94EF-7D0B57F1A4B0}"/>
              </a:ext>
            </a:extLst>
          </p:cNvPr>
          <p:cNvSpPr>
            <a:spLocks xmlns:a="http://schemas.openxmlformats.org/drawingml/2006/main" noGrp="1"/>
          </p:cNvSpPr>
          <p:nvPr/>
        </p:nvSpPr>
        <p:spPr>
          <a:xfrm xmlns:a="http://schemas.openxmlformats.org/drawingml/2006/main">
            <a:off x="685800" y="5905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5F8FC"/>
                </a:solidFill>
              </a:defRPr>
            </a:pPr>
            <a:r>
              <a:rPr sz="1725" b="1">
                <a:solidFill>
                  <a:srgbClr val="F5F8FC"/>
                </a:solidFill>
              </a:rPr>
              <a:t>Trust comes from making the boundary visible.</a:t>
            </a:r>
          </a:p>
        </p:txBody>
      </p:sp>
      <p:sp>
        <p:nvSpPr>
          <p:cNvPr id="14" name="">
            <a:extLst xmlns:a="http://schemas.openxmlformats.org/drawingml/2006/main">
              <a:ext uri="{FF2B5EF4-FFF2-40B4-BE49-F238E27FC236}">
                <a16:creationId xmlns:a16="http://schemas.microsoft.com/office/drawing/2014/main" id="{D8A2B680-471F-4FA8-B739-C3EC1FCA726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5" name="footer">
            <a:extLst xmlns:a="http://schemas.openxmlformats.org/drawingml/2006/main">
              <a:ext uri="{FF2B5EF4-FFF2-40B4-BE49-F238E27FC236}">
                <a16:creationId xmlns:a16="http://schemas.microsoft.com/office/drawing/2014/main" id="{0204C854-1165-49B7-A603-B07D3BDB7AFA}"/>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2030159511"/>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0" name="eyebrow">
            <a:extLst xmlns:a="http://schemas.openxmlformats.org/drawingml/2006/main">
              <a:ext uri="{FF2B5EF4-FFF2-40B4-BE49-F238E27FC236}">
                <a16:creationId xmlns:a16="http://schemas.microsoft.com/office/drawing/2014/main" id="{5253AFCF-937A-4BB0-B8C1-7FEBD387A46A}"/>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1E5D6"/>
                </a:solidFill>
              </a:defRPr>
            </a:pPr>
            <a:r>
              <a:rPr sz="975" b="1">
                <a:solidFill>
                  <a:srgbClr val="51E5D6"/>
                </a:solidFill>
              </a:rPr>
              <a:t>WHY WE WIN</a:t>
            </a:r>
          </a:p>
        </p:txBody>
      </p:sp>
      <p:sp>
        <p:nvSpPr>
          <p:cNvPr id="2" name="slide-number">
            <a:extLst xmlns:a="http://schemas.openxmlformats.org/drawingml/2006/main">
              <a:ext uri="{FF2B5EF4-FFF2-40B4-BE49-F238E27FC236}">
                <a16:creationId xmlns:a16="http://schemas.microsoft.com/office/drawing/2014/main" id="{21BC602F-0CD3-429A-84AB-139106A0467A}"/>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ABFD2"/>
                </a:solidFill>
              </a:defRPr>
            </a:pPr>
            <a:r>
              <a:rPr sz="975" b="1">
                <a:solidFill>
                  <a:srgbClr val="AABFD2"/>
                </a:solidFill>
              </a:rPr>
              <a:t>09</a:t>
            </a:r>
          </a:p>
        </p:txBody>
      </p:sp>
      <p:sp>
        <p:nvSpPr>
          <p:cNvPr id="3" name="title">
            <a:extLst xmlns:a="http://schemas.openxmlformats.org/drawingml/2006/main">
              <a:ext uri="{FF2B5EF4-FFF2-40B4-BE49-F238E27FC236}">
                <a16:creationId xmlns:a16="http://schemas.microsoft.com/office/drawing/2014/main" id="{74DB1A05-77BA-4700-8C55-8616BAAAAA5A}"/>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5F8FC"/>
                </a:solidFill>
              </a:defRPr>
            </a:pPr>
            <a:r>
              <a:rPr sz="3150" b="1">
                <a:solidFill>
                  <a:srgbClr val="F5F8FC"/>
                </a:solidFill>
              </a:rPr>
              <a:t>A practical system for the decisions that cannot wait.</a:t>
            </a:r>
          </a:p>
        </p:txBody>
      </p:sp>
      <p:sp>
        <p:nvSpPr>
          <p:cNvPr id="4" name="subtitle">
            <a:extLst xmlns:a="http://schemas.openxmlformats.org/drawingml/2006/main">
              <a:ext uri="{FF2B5EF4-FFF2-40B4-BE49-F238E27FC236}">
                <a16:creationId xmlns:a16="http://schemas.microsoft.com/office/drawing/2014/main" id="{DAF9F9B8-932E-4004-B67E-003DD128C7CE}"/>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AABFD2"/>
                </a:solidFill>
              </a:defRPr>
            </a:pPr>
            <a:r>
              <a:rPr sz="1500" b="0">
                <a:solidFill>
                  <a:srgbClr val="AABFD2"/>
                </a:solidFill>
              </a:rPr>
              <a:t>PetraVigil is designed around the real failure mode: late, unexplainable action in a moving crisis.</a:t>
            </a:r>
          </a:p>
        </p:txBody>
      </p:sp>
      <p:sp>
        <p:nvSpPr>
          <p:cNvPr id="5" name="win-point">
            <a:extLst xmlns:a="http://schemas.openxmlformats.org/drawingml/2006/main">
              <a:ext uri="{FF2B5EF4-FFF2-40B4-BE49-F238E27FC236}">
                <a16:creationId xmlns:a16="http://schemas.microsoft.com/office/drawing/2014/main" id="{D1B971AB-7893-4950-90BF-1131C9E1B8EE}"/>
              </a:ext>
            </a:extLst>
          </p:cNvPr>
          <p:cNvSpPr>
            <a:spLocks xmlns:a="http://schemas.openxmlformats.org/drawingml/2006/main" noGrp="1"/>
          </p:cNvSpPr>
          <p:nvPr/>
        </p:nvSpPr>
        <p:spPr>
          <a:xfrm xmlns:a="http://schemas.openxmlformats.org/drawingml/2006/main">
            <a:off x="685800" y="2800350"/>
            <a:ext cx="5143500" cy="876300"/>
          </a:xfrm>
          <a:prstGeom xmlns:a="http://schemas.openxmlformats.org/drawingml/2006/main" prst="roundRect">
            <a:avLst>
              <a:gd name="adj" fmla="val 13043"/>
            </a:avLst>
          </a:prstGeom>
          <a:solidFill xmlns:a="http://schemas.openxmlformats.org/drawingml/2006/main">
            <a:srgbClr val="0D1D31"/>
          </a:solidFill>
          <a:ln xmlns:a="http://schemas.openxmlformats.org/drawingml/2006/main" w="9525">
            <a:solidFill>
              <a:srgbClr val="244563"/>
            </a:solidFill>
            <a:prstDash val="solid"/>
          </a:ln>
        </p:spPr>
      </p:sp>
      <p:sp>
        <p:nvSpPr>
          <p:cNvPr id="6" name="win-dot">
            <a:extLst xmlns:a="http://schemas.openxmlformats.org/drawingml/2006/main">
              <a:ext uri="{FF2B5EF4-FFF2-40B4-BE49-F238E27FC236}">
                <a16:creationId xmlns:a16="http://schemas.microsoft.com/office/drawing/2014/main" id="{43F7111D-7B7F-498C-BFB0-E152A508D225}"/>
              </a:ext>
            </a:extLst>
          </p:cNvPr>
          <p:cNvSpPr>
            <a:spLocks xmlns:a="http://schemas.openxmlformats.org/drawingml/2006/main" noGrp="1"/>
          </p:cNvSpPr>
          <p:nvPr/>
        </p:nvSpPr>
        <p:spPr>
          <a:xfrm xmlns:a="http://schemas.openxmlformats.org/drawingml/2006/main">
            <a:off x="895350" y="3028950"/>
            <a:ext cx="419100" cy="419100"/>
          </a:xfrm>
          <a:prstGeom xmlns:a="http://schemas.openxmlformats.org/drawingml/2006/main" prst="ellipse">
            <a:avLst/>
          </a:prstGeom>
          <a:solidFill xmlns:a="http://schemas.openxmlformats.org/drawingml/2006/main">
            <a:srgbClr val="F58D95"/>
          </a:solidFill>
          <a:ln xmlns:a="http://schemas.openxmlformats.org/drawingml/2006/main" w="9525">
            <a:solidFill>
              <a:srgbClr val="F58D95"/>
            </a:solidFill>
            <a:prstDash val="solid"/>
          </a:ln>
        </p:spPr>
      </p:sp>
      <p:sp>
        <p:nvSpPr>
          <p:cNvPr id="7" name="win-num">
            <a:extLst xmlns:a="http://schemas.openxmlformats.org/drawingml/2006/main">
              <a:ext uri="{FF2B5EF4-FFF2-40B4-BE49-F238E27FC236}">
                <a16:creationId xmlns:a16="http://schemas.microsoft.com/office/drawing/2014/main" id="{EB623114-1A4E-46D3-89CA-0403E495D0D1}"/>
              </a:ext>
            </a:extLst>
          </p:cNvPr>
          <p:cNvSpPr>
            <a:spLocks xmlns:a="http://schemas.openxmlformats.org/drawingml/2006/main" noGrp="1"/>
          </p:cNvSpPr>
          <p:nvPr/>
        </p:nvSpPr>
        <p:spPr>
          <a:xfrm xmlns:a="http://schemas.openxmlformats.org/drawingml/2006/main">
            <a:off x="1047750" y="31527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7111F"/>
                </a:solidFill>
              </a:defRPr>
            </a:pPr>
            <a:r>
              <a:rPr sz="1125" b="1">
                <a:solidFill>
                  <a:srgbClr val="07111F"/>
                </a:solidFill>
              </a:rPr>
              <a:t>1</a:t>
            </a:r>
          </a:p>
        </p:txBody>
      </p:sp>
      <p:sp>
        <p:nvSpPr>
          <p:cNvPr id="8" name="win-head">
            <a:extLst xmlns:a="http://schemas.openxmlformats.org/drawingml/2006/main">
              <a:ext uri="{FF2B5EF4-FFF2-40B4-BE49-F238E27FC236}">
                <a16:creationId xmlns:a16="http://schemas.microsoft.com/office/drawing/2014/main" id="{59FF3747-2E6F-4AD4-8E5C-452516E3E313}"/>
              </a:ext>
            </a:extLst>
          </p:cNvPr>
          <p:cNvSpPr>
            <a:spLocks xmlns:a="http://schemas.openxmlformats.org/drawingml/2006/main" noGrp="1"/>
          </p:cNvSpPr>
          <p:nvPr/>
        </p:nvSpPr>
        <p:spPr>
          <a:xfrm xmlns:a="http://schemas.openxmlformats.org/drawingml/2006/main">
            <a:off x="1524000" y="30099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58D95"/>
                </a:solidFill>
              </a:defRPr>
            </a:pPr>
            <a:r>
              <a:rPr sz="1350" b="1">
                <a:solidFill>
                  <a:srgbClr val="F58D95"/>
                </a:solidFill>
              </a:rPr>
              <a:t>Problem fit</a:t>
            </a:r>
          </a:p>
        </p:txBody>
      </p:sp>
      <p:sp>
        <p:nvSpPr>
          <p:cNvPr id="9" name="win-copy">
            <a:extLst xmlns:a="http://schemas.openxmlformats.org/drawingml/2006/main">
              <a:ext uri="{FF2B5EF4-FFF2-40B4-BE49-F238E27FC236}">
                <a16:creationId xmlns:a16="http://schemas.microsoft.com/office/drawing/2014/main" id="{1D693D74-1C7B-49A6-861D-74B083FA5153}"/>
              </a:ext>
            </a:extLst>
          </p:cNvPr>
          <p:cNvSpPr>
            <a:spLocks xmlns:a="http://schemas.openxmlformats.org/drawingml/2006/main" noGrp="1"/>
          </p:cNvSpPr>
          <p:nvPr/>
        </p:nvSpPr>
        <p:spPr>
          <a:xfrm xmlns:a="http://schemas.openxmlformats.org/drawingml/2006/main">
            <a:off x="1524000" y="32766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F5F8FC"/>
                </a:solidFill>
              </a:defRPr>
            </a:pPr>
            <a:r>
              <a:rPr sz="1125" b="0">
                <a:solidFill>
                  <a:srgbClr val="F5F8FC"/>
                </a:solidFill>
              </a:rPr>
              <a:t>India’s import exposure meets chokepoint risk</a:t>
            </a:r>
          </a:p>
        </p:txBody>
      </p:sp>
      <p:sp>
        <p:nvSpPr>
          <p:cNvPr id="10" name="win-point">
            <a:extLst xmlns:a="http://schemas.openxmlformats.org/drawingml/2006/main">
              <a:ext uri="{FF2B5EF4-FFF2-40B4-BE49-F238E27FC236}">
                <a16:creationId xmlns:a16="http://schemas.microsoft.com/office/drawing/2014/main" id="{DE7DE555-4B84-495A-A021-AE86C55CF188}"/>
              </a:ext>
            </a:extLst>
          </p:cNvPr>
          <p:cNvSpPr>
            <a:spLocks xmlns:a="http://schemas.openxmlformats.org/drawingml/2006/main" noGrp="1"/>
          </p:cNvSpPr>
          <p:nvPr/>
        </p:nvSpPr>
        <p:spPr>
          <a:xfrm xmlns:a="http://schemas.openxmlformats.org/drawingml/2006/main">
            <a:off x="6096000" y="2800350"/>
            <a:ext cx="5143500" cy="876300"/>
          </a:xfrm>
          <a:prstGeom xmlns:a="http://schemas.openxmlformats.org/drawingml/2006/main" prst="roundRect">
            <a:avLst>
              <a:gd name="adj" fmla="val 13043"/>
            </a:avLst>
          </a:prstGeom>
          <a:solidFill xmlns:a="http://schemas.openxmlformats.org/drawingml/2006/main">
            <a:srgbClr val="0D1D31"/>
          </a:solidFill>
          <a:ln xmlns:a="http://schemas.openxmlformats.org/drawingml/2006/main" w="9525">
            <a:solidFill>
              <a:srgbClr val="244563"/>
            </a:solidFill>
            <a:prstDash val="solid"/>
          </a:ln>
        </p:spPr>
      </p:sp>
      <p:sp>
        <p:nvSpPr>
          <p:cNvPr id="11" name="win-dot">
            <a:extLst xmlns:a="http://schemas.openxmlformats.org/drawingml/2006/main">
              <a:ext uri="{FF2B5EF4-FFF2-40B4-BE49-F238E27FC236}">
                <a16:creationId xmlns:a16="http://schemas.microsoft.com/office/drawing/2014/main" id="{1622CE48-8E74-4B5C-830E-BF0EC70725A2}"/>
              </a:ext>
            </a:extLst>
          </p:cNvPr>
          <p:cNvSpPr>
            <a:spLocks xmlns:a="http://schemas.openxmlformats.org/drawingml/2006/main" noGrp="1"/>
          </p:cNvSpPr>
          <p:nvPr/>
        </p:nvSpPr>
        <p:spPr>
          <a:xfrm xmlns:a="http://schemas.openxmlformats.org/drawingml/2006/main">
            <a:off x="6305550" y="3028950"/>
            <a:ext cx="419100" cy="419100"/>
          </a:xfrm>
          <a:prstGeom xmlns:a="http://schemas.openxmlformats.org/drawingml/2006/main" prst="ellipse">
            <a:avLst/>
          </a:prstGeom>
          <a:solidFill xmlns:a="http://schemas.openxmlformats.org/drawingml/2006/main">
            <a:srgbClr val="51E5D6"/>
          </a:solidFill>
          <a:ln xmlns:a="http://schemas.openxmlformats.org/drawingml/2006/main" w="9525">
            <a:solidFill>
              <a:srgbClr val="51E5D6"/>
            </a:solidFill>
            <a:prstDash val="solid"/>
          </a:ln>
        </p:spPr>
      </p:sp>
      <p:sp>
        <p:nvSpPr>
          <p:cNvPr id="12" name="win-num">
            <a:extLst xmlns:a="http://schemas.openxmlformats.org/drawingml/2006/main">
              <a:ext uri="{FF2B5EF4-FFF2-40B4-BE49-F238E27FC236}">
                <a16:creationId xmlns:a16="http://schemas.microsoft.com/office/drawing/2014/main" id="{33288F85-28A0-48B1-88AC-10D224AF802E}"/>
              </a:ext>
            </a:extLst>
          </p:cNvPr>
          <p:cNvSpPr>
            <a:spLocks xmlns:a="http://schemas.openxmlformats.org/drawingml/2006/main" noGrp="1"/>
          </p:cNvSpPr>
          <p:nvPr/>
        </p:nvSpPr>
        <p:spPr>
          <a:xfrm xmlns:a="http://schemas.openxmlformats.org/drawingml/2006/main">
            <a:off x="6457950" y="31527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7111F"/>
                </a:solidFill>
              </a:defRPr>
            </a:pPr>
            <a:r>
              <a:rPr sz="1125" b="1">
                <a:solidFill>
                  <a:srgbClr val="07111F"/>
                </a:solidFill>
              </a:rPr>
              <a:t>2</a:t>
            </a:r>
          </a:p>
        </p:txBody>
      </p:sp>
      <p:sp>
        <p:nvSpPr>
          <p:cNvPr id="13" name="win-head">
            <a:extLst xmlns:a="http://schemas.openxmlformats.org/drawingml/2006/main">
              <a:ext uri="{FF2B5EF4-FFF2-40B4-BE49-F238E27FC236}">
                <a16:creationId xmlns:a16="http://schemas.microsoft.com/office/drawing/2014/main" id="{0C580900-E510-492D-99B4-1BDB1B88D32F}"/>
              </a:ext>
            </a:extLst>
          </p:cNvPr>
          <p:cNvSpPr>
            <a:spLocks xmlns:a="http://schemas.openxmlformats.org/drawingml/2006/main" noGrp="1"/>
          </p:cNvSpPr>
          <p:nvPr/>
        </p:nvSpPr>
        <p:spPr>
          <a:xfrm xmlns:a="http://schemas.openxmlformats.org/drawingml/2006/main">
            <a:off x="6934200" y="30099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51E5D6"/>
                </a:solidFill>
              </a:defRPr>
            </a:pPr>
            <a:r>
              <a:rPr sz="1350" b="1">
                <a:solidFill>
                  <a:srgbClr val="51E5D6"/>
                </a:solidFill>
              </a:rPr>
              <a:t>Innovation</a:t>
            </a:r>
          </a:p>
        </p:txBody>
      </p:sp>
      <p:sp>
        <p:nvSpPr>
          <p:cNvPr id="14" name="win-copy">
            <a:extLst xmlns:a="http://schemas.openxmlformats.org/drawingml/2006/main">
              <a:ext uri="{FF2B5EF4-FFF2-40B4-BE49-F238E27FC236}">
                <a16:creationId xmlns:a16="http://schemas.microsoft.com/office/drawing/2014/main" id="{A5FC7B3B-A6B1-4165-A5D5-22FFD68A940C}"/>
              </a:ext>
            </a:extLst>
          </p:cNvPr>
          <p:cNvSpPr>
            <a:spLocks xmlns:a="http://schemas.openxmlformats.org/drawingml/2006/main" noGrp="1"/>
          </p:cNvSpPr>
          <p:nvPr/>
        </p:nvSpPr>
        <p:spPr>
          <a:xfrm xmlns:a="http://schemas.openxmlformats.org/drawingml/2006/main">
            <a:off x="6934200" y="32766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F5F8FC"/>
                </a:solidFill>
              </a:defRPr>
            </a:pPr>
            <a:r>
              <a:rPr sz="1125" b="0">
                <a:solidFill>
                  <a:srgbClr val="F5F8FC"/>
                </a:solidFill>
              </a:rPr>
              <a:t>AI + simulation + constraints + human gate</a:t>
            </a:r>
          </a:p>
        </p:txBody>
      </p:sp>
      <p:sp>
        <p:nvSpPr>
          <p:cNvPr id="15" name="win-point">
            <a:extLst xmlns:a="http://schemas.openxmlformats.org/drawingml/2006/main">
              <a:ext uri="{FF2B5EF4-FFF2-40B4-BE49-F238E27FC236}">
                <a16:creationId xmlns:a16="http://schemas.microsoft.com/office/drawing/2014/main" id="{A76C8054-532C-4962-97F1-F058BA9BA804}"/>
              </a:ext>
            </a:extLst>
          </p:cNvPr>
          <p:cNvSpPr>
            <a:spLocks xmlns:a="http://schemas.openxmlformats.org/drawingml/2006/main" noGrp="1"/>
          </p:cNvSpPr>
          <p:nvPr/>
        </p:nvSpPr>
        <p:spPr>
          <a:xfrm xmlns:a="http://schemas.openxmlformats.org/drawingml/2006/main">
            <a:off x="685800" y="3924300"/>
            <a:ext cx="5143500" cy="876300"/>
          </a:xfrm>
          <a:prstGeom xmlns:a="http://schemas.openxmlformats.org/drawingml/2006/main" prst="roundRect">
            <a:avLst>
              <a:gd name="adj" fmla="val 13043"/>
            </a:avLst>
          </a:prstGeom>
          <a:solidFill xmlns:a="http://schemas.openxmlformats.org/drawingml/2006/main">
            <a:srgbClr val="0D1D31"/>
          </a:solidFill>
          <a:ln xmlns:a="http://schemas.openxmlformats.org/drawingml/2006/main" w="9525">
            <a:solidFill>
              <a:srgbClr val="244563"/>
            </a:solidFill>
            <a:prstDash val="solid"/>
          </a:ln>
        </p:spPr>
      </p:sp>
      <p:sp>
        <p:nvSpPr>
          <p:cNvPr id="16" name="win-dot">
            <a:extLst xmlns:a="http://schemas.openxmlformats.org/drawingml/2006/main">
              <a:ext uri="{FF2B5EF4-FFF2-40B4-BE49-F238E27FC236}">
                <a16:creationId xmlns:a16="http://schemas.microsoft.com/office/drawing/2014/main" id="{B1C8E024-C739-428A-87CF-7B75F2AD3D90}"/>
              </a:ext>
            </a:extLst>
          </p:cNvPr>
          <p:cNvSpPr>
            <a:spLocks xmlns:a="http://schemas.openxmlformats.org/drawingml/2006/main" noGrp="1"/>
          </p:cNvSpPr>
          <p:nvPr/>
        </p:nvSpPr>
        <p:spPr>
          <a:xfrm xmlns:a="http://schemas.openxmlformats.org/drawingml/2006/main">
            <a:off x="895350" y="4152900"/>
            <a:ext cx="419100" cy="419100"/>
          </a:xfrm>
          <a:prstGeom xmlns:a="http://schemas.openxmlformats.org/drawingml/2006/main" prst="ellipse">
            <a:avLst/>
          </a:prstGeom>
          <a:solidFill xmlns:a="http://schemas.openxmlformats.org/drawingml/2006/main">
            <a:srgbClr val="66B3FF"/>
          </a:solidFill>
          <a:ln xmlns:a="http://schemas.openxmlformats.org/drawingml/2006/main" w="9525">
            <a:solidFill>
              <a:srgbClr val="66B3FF"/>
            </a:solidFill>
            <a:prstDash val="solid"/>
          </a:ln>
        </p:spPr>
      </p:sp>
      <p:sp>
        <p:nvSpPr>
          <p:cNvPr id="17" name="win-num">
            <a:extLst xmlns:a="http://schemas.openxmlformats.org/drawingml/2006/main">
              <a:ext uri="{FF2B5EF4-FFF2-40B4-BE49-F238E27FC236}">
                <a16:creationId xmlns:a16="http://schemas.microsoft.com/office/drawing/2014/main" id="{AD0ED9A1-A14C-497D-8002-F08D846AF3A9}"/>
              </a:ext>
            </a:extLst>
          </p:cNvPr>
          <p:cNvSpPr>
            <a:spLocks xmlns:a="http://schemas.openxmlformats.org/drawingml/2006/main" noGrp="1"/>
          </p:cNvSpPr>
          <p:nvPr/>
        </p:nvSpPr>
        <p:spPr>
          <a:xfrm xmlns:a="http://schemas.openxmlformats.org/drawingml/2006/main">
            <a:off x="1047750" y="427672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7111F"/>
                </a:solidFill>
              </a:defRPr>
            </a:pPr>
            <a:r>
              <a:rPr sz="1125" b="1">
                <a:solidFill>
                  <a:srgbClr val="07111F"/>
                </a:solidFill>
              </a:rPr>
              <a:t>3</a:t>
            </a:r>
          </a:p>
        </p:txBody>
      </p:sp>
      <p:sp>
        <p:nvSpPr>
          <p:cNvPr id="18" name="win-head">
            <a:extLst xmlns:a="http://schemas.openxmlformats.org/drawingml/2006/main">
              <a:ext uri="{FF2B5EF4-FFF2-40B4-BE49-F238E27FC236}">
                <a16:creationId xmlns:a16="http://schemas.microsoft.com/office/drawing/2014/main" id="{0F91A99A-FC78-4E4D-B198-FE57BDF25140}"/>
              </a:ext>
            </a:extLst>
          </p:cNvPr>
          <p:cNvSpPr>
            <a:spLocks xmlns:a="http://schemas.openxmlformats.org/drawingml/2006/main" noGrp="1"/>
          </p:cNvSpPr>
          <p:nvPr/>
        </p:nvSpPr>
        <p:spPr>
          <a:xfrm xmlns:a="http://schemas.openxmlformats.org/drawingml/2006/main">
            <a:off x="1524000" y="41338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66B3FF"/>
                </a:solidFill>
              </a:defRPr>
            </a:pPr>
            <a:r>
              <a:rPr sz="1350" b="1">
                <a:solidFill>
                  <a:srgbClr val="66B3FF"/>
                </a:solidFill>
              </a:rPr>
              <a:t>Engineering</a:t>
            </a:r>
          </a:p>
        </p:txBody>
      </p:sp>
      <p:sp>
        <p:nvSpPr>
          <p:cNvPr id="19" name="win-copy">
            <a:extLst xmlns:a="http://schemas.openxmlformats.org/drawingml/2006/main">
              <a:ext uri="{FF2B5EF4-FFF2-40B4-BE49-F238E27FC236}">
                <a16:creationId xmlns:a16="http://schemas.microsoft.com/office/drawing/2014/main" id="{250A9F66-7C97-423C-9193-A66538C32657}"/>
              </a:ext>
            </a:extLst>
          </p:cNvPr>
          <p:cNvSpPr>
            <a:spLocks xmlns:a="http://schemas.openxmlformats.org/drawingml/2006/main" noGrp="1"/>
          </p:cNvSpPr>
          <p:nvPr/>
        </p:nvSpPr>
        <p:spPr>
          <a:xfrm xmlns:a="http://schemas.openxmlformats.org/drawingml/2006/main">
            <a:off x="1524000" y="44005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F5F8FC"/>
                </a:solidFill>
              </a:defRPr>
            </a:pPr>
            <a:r>
              <a:rPr sz="1125" b="0">
                <a:solidFill>
                  <a:srgbClr val="F5F8FC"/>
                </a:solidFill>
              </a:rPr>
              <a:t>Linked workflow, reproducible runs, tested safeguards</a:t>
            </a:r>
          </a:p>
        </p:txBody>
      </p:sp>
      <p:sp>
        <p:nvSpPr>
          <p:cNvPr id="20" name="win-point">
            <a:extLst xmlns:a="http://schemas.openxmlformats.org/drawingml/2006/main">
              <a:ext uri="{FF2B5EF4-FFF2-40B4-BE49-F238E27FC236}">
                <a16:creationId xmlns:a16="http://schemas.microsoft.com/office/drawing/2014/main" id="{37CA35F2-6586-4AE4-9FE8-96E35315A063}"/>
              </a:ext>
            </a:extLst>
          </p:cNvPr>
          <p:cNvSpPr>
            <a:spLocks xmlns:a="http://schemas.openxmlformats.org/drawingml/2006/main" noGrp="1"/>
          </p:cNvSpPr>
          <p:nvPr/>
        </p:nvSpPr>
        <p:spPr>
          <a:xfrm xmlns:a="http://schemas.openxmlformats.org/drawingml/2006/main">
            <a:off x="6096000" y="3924300"/>
            <a:ext cx="5143500" cy="876300"/>
          </a:xfrm>
          <a:prstGeom xmlns:a="http://schemas.openxmlformats.org/drawingml/2006/main" prst="roundRect">
            <a:avLst>
              <a:gd name="adj" fmla="val 13043"/>
            </a:avLst>
          </a:prstGeom>
          <a:solidFill xmlns:a="http://schemas.openxmlformats.org/drawingml/2006/main">
            <a:srgbClr val="0D1D31"/>
          </a:solidFill>
          <a:ln xmlns:a="http://schemas.openxmlformats.org/drawingml/2006/main" w="9525">
            <a:solidFill>
              <a:srgbClr val="244563"/>
            </a:solidFill>
            <a:prstDash val="solid"/>
          </a:ln>
        </p:spPr>
      </p:sp>
      <p:sp>
        <p:nvSpPr>
          <p:cNvPr id="21" name="win-dot">
            <a:extLst xmlns:a="http://schemas.openxmlformats.org/drawingml/2006/main">
              <a:ext uri="{FF2B5EF4-FFF2-40B4-BE49-F238E27FC236}">
                <a16:creationId xmlns:a16="http://schemas.microsoft.com/office/drawing/2014/main" id="{61C79F45-7169-4A25-B50A-FFEB2769509C}"/>
              </a:ext>
            </a:extLst>
          </p:cNvPr>
          <p:cNvSpPr>
            <a:spLocks xmlns:a="http://schemas.openxmlformats.org/drawingml/2006/main" noGrp="1"/>
          </p:cNvSpPr>
          <p:nvPr/>
        </p:nvSpPr>
        <p:spPr>
          <a:xfrm xmlns:a="http://schemas.openxmlformats.org/drawingml/2006/main">
            <a:off x="6305550" y="4152900"/>
            <a:ext cx="419100" cy="419100"/>
          </a:xfrm>
          <a:prstGeom xmlns:a="http://schemas.openxmlformats.org/drawingml/2006/main" prst="ellipse">
            <a:avLst/>
          </a:prstGeom>
          <a:solidFill xmlns:a="http://schemas.openxmlformats.org/drawingml/2006/main">
            <a:srgbClr val="86E5B6"/>
          </a:solidFill>
          <a:ln xmlns:a="http://schemas.openxmlformats.org/drawingml/2006/main" w="9525">
            <a:solidFill>
              <a:srgbClr val="86E5B6"/>
            </a:solidFill>
            <a:prstDash val="solid"/>
          </a:ln>
        </p:spPr>
      </p:sp>
      <p:sp>
        <p:nvSpPr>
          <p:cNvPr id="22" name="win-num">
            <a:extLst xmlns:a="http://schemas.openxmlformats.org/drawingml/2006/main">
              <a:ext uri="{FF2B5EF4-FFF2-40B4-BE49-F238E27FC236}">
                <a16:creationId xmlns:a16="http://schemas.microsoft.com/office/drawing/2014/main" id="{33FDF606-C000-4EA7-90B1-1749545A6BEF}"/>
              </a:ext>
            </a:extLst>
          </p:cNvPr>
          <p:cNvSpPr>
            <a:spLocks xmlns:a="http://schemas.openxmlformats.org/drawingml/2006/main" noGrp="1"/>
          </p:cNvSpPr>
          <p:nvPr/>
        </p:nvSpPr>
        <p:spPr>
          <a:xfrm xmlns:a="http://schemas.openxmlformats.org/drawingml/2006/main">
            <a:off x="6457950" y="427672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7111F"/>
                </a:solidFill>
              </a:defRPr>
            </a:pPr>
            <a:r>
              <a:rPr sz="1125" b="1">
                <a:solidFill>
                  <a:srgbClr val="07111F"/>
                </a:solidFill>
              </a:rPr>
              <a:t>4</a:t>
            </a:r>
          </a:p>
        </p:txBody>
      </p:sp>
      <p:sp>
        <p:nvSpPr>
          <p:cNvPr id="23" name="win-head">
            <a:extLst xmlns:a="http://schemas.openxmlformats.org/drawingml/2006/main">
              <a:ext uri="{FF2B5EF4-FFF2-40B4-BE49-F238E27FC236}">
                <a16:creationId xmlns:a16="http://schemas.microsoft.com/office/drawing/2014/main" id="{B37F2D58-C46F-43AE-A9B6-5A98F0A2F9EF}"/>
              </a:ext>
            </a:extLst>
          </p:cNvPr>
          <p:cNvSpPr>
            <a:spLocks xmlns:a="http://schemas.openxmlformats.org/drawingml/2006/main" noGrp="1"/>
          </p:cNvSpPr>
          <p:nvPr/>
        </p:nvSpPr>
        <p:spPr>
          <a:xfrm xmlns:a="http://schemas.openxmlformats.org/drawingml/2006/main">
            <a:off x="6934200" y="41338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6E5B6"/>
                </a:solidFill>
              </a:defRPr>
            </a:pPr>
            <a:r>
              <a:rPr sz="1350" b="1">
                <a:solidFill>
                  <a:srgbClr val="86E5B6"/>
                </a:solidFill>
              </a:rPr>
              <a:t>Readiness</a:t>
            </a:r>
          </a:p>
        </p:txBody>
      </p:sp>
      <p:sp>
        <p:nvSpPr>
          <p:cNvPr id="24" name="win-copy">
            <a:extLst xmlns:a="http://schemas.openxmlformats.org/drawingml/2006/main">
              <a:ext uri="{FF2B5EF4-FFF2-40B4-BE49-F238E27FC236}">
                <a16:creationId xmlns:a16="http://schemas.microsoft.com/office/drawing/2014/main" id="{5E081615-251F-48E5-B7FE-36E9B0D7E172}"/>
              </a:ext>
            </a:extLst>
          </p:cNvPr>
          <p:cNvSpPr>
            <a:spLocks xmlns:a="http://schemas.openxmlformats.org/drawingml/2006/main" noGrp="1"/>
          </p:cNvSpPr>
          <p:nvPr/>
        </p:nvSpPr>
        <p:spPr>
          <a:xfrm xmlns:a="http://schemas.openxmlformats.org/drawingml/2006/main">
            <a:off x="6934200" y="44005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F5F8FC"/>
                </a:solidFill>
              </a:defRPr>
            </a:pPr>
            <a:r>
              <a:rPr sz="1125" b="0">
                <a:solidFill>
                  <a:srgbClr val="F5F8FC"/>
                </a:solidFill>
              </a:rPr>
              <a:t>Clear prototype limits and pilot path</a:t>
            </a:r>
          </a:p>
        </p:txBody>
      </p:sp>
      <p:sp>
        <p:nvSpPr>
          <p:cNvPr id="25" name="closing-line">
            <a:extLst xmlns:a="http://schemas.openxmlformats.org/drawingml/2006/main">
              <a:ext uri="{FF2B5EF4-FFF2-40B4-BE49-F238E27FC236}">
                <a16:creationId xmlns:a16="http://schemas.microsoft.com/office/drawing/2014/main" id="{B1F0B211-1B1B-460F-82D3-58D30D2EE48B}"/>
              </a:ext>
            </a:extLst>
          </p:cNvPr>
          <p:cNvSpPr>
            <a:spLocks xmlns:a="http://schemas.openxmlformats.org/drawingml/2006/main" noGrp="1"/>
          </p:cNvSpPr>
          <p:nvPr/>
        </p:nvSpPr>
        <p:spPr>
          <a:xfrm xmlns:a="http://schemas.openxmlformats.org/drawingml/2006/main">
            <a:off x="685800" y="5429250"/>
            <a:ext cx="971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5F8FC"/>
                </a:solidFill>
              </a:defRPr>
            </a:pPr>
            <a:r>
              <a:rPr sz="2550" b="1">
                <a:solidFill>
                  <a:srgbClr val="F5F8FC"/>
                </a:solidFill>
              </a:rPr>
              <a:t>The winning product doesn’t decide for India.</a:t>
            </a:r>
          </a:p>
          <a:p xmlns:a="http://schemas.openxmlformats.org/drawingml/2006/main">
            <a:pPr>
              <a:defRPr sz="2550" b="1">
                <a:solidFill>
                  <a:srgbClr val="F5F8FC"/>
                </a:solidFill>
              </a:defRPr>
            </a:pPr>
            <a:r>
              <a:rPr sz="2550" b="1">
                <a:solidFill>
                  <a:srgbClr val="F5F8FC"/>
                </a:solidFill>
              </a:rPr>
              <a:t>It helps India decide before the market does.</a:t>
            </a:r>
          </a:p>
        </p:txBody>
      </p:sp>
      <p:sp>
        <p:nvSpPr>
          <p:cNvPr id="26" name="chip">
            <a:extLst xmlns:a="http://schemas.openxmlformats.org/drawingml/2006/main">
              <a:ext uri="{FF2B5EF4-FFF2-40B4-BE49-F238E27FC236}">
                <a16:creationId xmlns:a16="http://schemas.microsoft.com/office/drawing/2014/main" id="{4100ACDB-346C-4163-B2AF-6A3D0B6F9DB1}"/>
              </a:ext>
            </a:extLst>
          </p:cNvPr>
          <p:cNvSpPr>
            <a:spLocks xmlns:a="http://schemas.openxmlformats.org/drawingml/2006/main" noGrp="1"/>
          </p:cNvSpPr>
          <p:nvPr/>
        </p:nvSpPr>
        <p:spPr>
          <a:xfrm xmlns:a="http://schemas.openxmlformats.org/drawingml/2006/main">
            <a:off x="685800" y="6191250"/>
            <a:ext cx="13716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51E5D6"/>
            </a:solidFill>
            <a:prstDash val="solid"/>
          </a:ln>
        </p:spPr>
        <p:txBody>
          <a:bodyPr xmlns:a="http://schemas.openxmlformats.org/drawingml/2006/main"/>
          <a:lstStyle xmlns:a="http://schemas.openxmlformats.org/drawingml/2006/main"/>
          <a:p xmlns:a="http://schemas.openxmlformats.org/drawingml/2006/main">
            <a:pPr>
              <a:defRPr sz="900" b="1">
                <a:solidFill>
                  <a:srgbClr val="51E5D6"/>
                </a:solidFill>
              </a:defRPr>
            </a:pPr>
            <a:r>
              <a:rPr sz="900" b="1">
                <a:solidFill>
                  <a:srgbClr val="51E5D6"/>
                </a:solidFill>
              </a:rPr>
              <a:t>EVIDENCE-FIRST</a:t>
            </a:r>
          </a:p>
        </p:txBody>
      </p:sp>
      <p:sp>
        <p:nvSpPr>
          <p:cNvPr id="27" name="chip">
            <a:extLst xmlns:a="http://schemas.openxmlformats.org/drawingml/2006/main">
              <a:ext uri="{FF2B5EF4-FFF2-40B4-BE49-F238E27FC236}">
                <a16:creationId xmlns:a16="http://schemas.microsoft.com/office/drawing/2014/main" id="{6B7D7E19-73C3-4174-A4A8-730D41E6431F}"/>
              </a:ext>
            </a:extLst>
          </p:cNvPr>
          <p:cNvSpPr>
            <a:spLocks xmlns:a="http://schemas.openxmlformats.org/drawingml/2006/main" noGrp="1"/>
          </p:cNvSpPr>
          <p:nvPr/>
        </p:nvSpPr>
        <p:spPr>
          <a:xfrm xmlns:a="http://schemas.openxmlformats.org/drawingml/2006/main">
            <a:off x="2209800" y="6191250"/>
            <a:ext cx="16383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86E5B6"/>
            </a:solidFill>
            <a:prstDash val="solid"/>
          </a:ln>
        </p:spPr>
        <p:txBody>
          <a:bodyPr xmlns:a="http://schemas.openxmlformats.org/drawingml/2006/main"/>
          <a:lstStyle xmlns:a="http://schemas.openxmlformats.org/drawingml/2006/main"/>
          <a:p xmlns:a="http://schemas.openxmlformats.org/drawingml/2006/main">
            <a:pPr>
              <a:defRPr sz="900" b="1">
                <a:solidFill>
                  <a:srgbClr val="86E5B6"/>
                </a:solidFill>
              </a:defRPr>
            </a:pPr>
            <a:r>
              <a:rPr sz="900" b="1">
                <a:solidFill>
                  <a:srgbClr val="86E5B6"/>
                </a:solidFill>
              </a:rPr>
              <a:t>HUMAN-CONTROLLED</a:t>
            </a:r>
          </a:p>
        </p:txBody>
      </p:sp>
      <p:sp>
        <p:nvSpPr>
          <p:cNvPr id="28" name="">
            <a:extLst xmlns:a="http://schemas.openxmlformats.org/drawingml/2006/main">
              <a:ext uri="{FF2B5EF4-FFF2-40B4-BE49-F238E27FC236}">
                <a16:creationId xmlns:a16="http://schemas.microsoft.com/office/drawing/2014/main" id="{415CED3B-32B9-47A6-A156-CC7637852B3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9" name="footer">
            <a:extLst xmlns:a="http://schemas.openxmlformats.org/drawingml/2006/main">
              <a:ext uri="{FF2B5EF4-FFF2-40B4-BE49-F238E27FC236}">
                <a16:creationId xmlns:a16="http://schemas.microsoft.com/office/drawing/2014/main" id="{4ED29261-3F13-46BE-8D47-B9F1818DCA5B}"/>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ABFD2"/>
                </a:solidFill>
              </a:defRPr>
            </a:pPr>
            <a:r>
              <a:rPr sz="825" b="1">
                <a:solidFill>
                  <a:srgbClr val="AABFD2"/>
                </a:solidFill>
              </a:rPr>
              <a:t>PETRAVIGIL · DECISION INTELLIGENCE FOR ENERGY RESILIENCE</a:t>
            </a:r>
          </a:p>
        </p:txBody>
      </p:sp>
    </p:spTree>
    <p:extLst>
      <p:ext uri="{BB962C8B-B14F-4D97-AF65-F5344CB8AC3E}">
        <p14:creationId xmlns:p14="http://schemas.microsoft.com/office/powerpoint/2010/main" val="1039352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2026-07-21T17:59:03.5280000Z</dcterms:created>
  <dcterms:modified xsi:type="dcterms:W3CDTF">2026-07-21T17:59:03.5280000Z</dcterms:modified>
</coreProperties>
</file>